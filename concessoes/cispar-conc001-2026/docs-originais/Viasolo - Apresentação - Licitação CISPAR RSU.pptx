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6"/>
    <p:sldMasterId id="2147483689" r:id="rId7"/>
    <p:sldMasterId id="2147483710" r:id="rId8"/>
  </p:sldMasterIdLst>
  <p:notesMasterIdLst>
    <p:notesMasterId r:id="rId28"/>
  </p:notesMasterIdLst>
  <p:sldIdLst>
    <p:sldId id="1078" r:id="rId9"/>
    <p:sldId id="2036" r:id="rId10"/>
    <p:sldId id="1780" r:id="rId11"/>
    <p:sldId id="2058" r:id="rId12"/>
    <p:sldId id="2147376821" r:id="rId13"/>
    <p:sldId id="2147376787" r:id="rId14"/>
    <p:sldId id="2147376808" r:id="rId15"/>
    <p:sldId id="2147376792" r:id="rId16"/>
    <p:sldId id="2147376824" r:id="rId17"/>
    <p:sldId id="2147376825" r:id="rId18"/>
    <p:sldId id="2147376812" r:id="rId19"/>
    <p:sldId id="2147376822" r:id="rId20"/>
    <p:sldId id="2147376807" r:id="rId21"/>
    <p:sldId id="2147376811" r:id="rId22"/>
    <p:sldId id="2147376816" r:id="rId23"/>
    <p:sldId id="2147376800" r:id="rId24"/>
    <p:sldId id="2147376818" r:id="rId25"/>
    <p:sldId id="2147376826" r:id="rId26"/>
    <p:sldId id="621" r:id="rId2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17" userDrawn="1">
          <p15:clr>
            <a:srgbClr val="A4A3A4"/>
          </p15:clr>
        </p15:guide>
        <p15:guide id="3" pos="393" userDrawn="1">
          <p15:clr>
            <a:srgbClr val="A4A3A4"/>
          </p15:clr>
        </p15:guide>
        <p15:guide id="4" pos="7333" userDrawn="1">
          <p15:clr>
            <a:srgbClr val="A4A3A4"/>
          </p15:clr>
        </p15:guide>
        <p15:guide id="5" orient="horz" pos="504" userDrawn="1">
          <p15:clr>
            <a:srgbClr val="A4A3A4"/>
          </p15:clr>
        </p15:guide>
        <p15:guide id="6" orient="horz" pos="4020" userDrawn="1">
          <p15:clr>
            <a:srgbClr val="A4A3A4"/>
          </p15:clr>
        </p15:guide>
        <p15:guide id="8" orient="horz" pos="1071" userDrawn="1">
          <p15:clr>
            <a:srgbClr val="A4A3A4"/>
          </p15:clr>
        </p15:guide>
        <p15:guide id="10" pos="2661" userDrawn="1">
          <p15:clr>
            <a:srgbClr val="A4A3A4"/>
          </p15:clr>
        </p15:guide>
        <p15:guide id="11" pos="3568" userDrawn="1">
          <p15:clr>
            <a:srgbClr val="A4A3A4"/>
          </p15:clr>
        </p15:guide>
        <p15:guide id="12" pos="4021" userDrawn="1">
          <p15:clr>
            <a:srgbClr val="A4A3A4"/>
          </p15:clr>
        </p15:guide>
        <p15:guide id="13" orient="horz" pos="2659" userDrawn="1">
          <p15:clr>
            <a:srgbClr val="A4A3A4"/>
          </p15:clr>
        </p15:guide>
        <p15:guide id="14" orient="horz" pos="1911" userDrawn="1">
          <p15:clr>
            <a:srgbClr val="A4A3A4"/>
          </p15:clr>
        </p15:guide>
        <p15:guide id="15" pos="4679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FD30808-1E2D-99B2-D7DB-6CC746F33040}" name="Maycon Thayson Fernandes Nunes" initials="MTFN" userId="S::maycon.nunes@madronaadvogados.com.br::dd1e314d-b74e-4ea5-953f-a94107aeaed6" providerId="AD"/>
  <p188:author id="{D3E8BA68-D93A-15E4-4B35-81E47CF7016C}" name="Luciane Satie Haguihara De Falchi" initials="LF" userId="692207b6d159352e" providerId="Windows Live"/>
  <p188:author id="{94225A6E-2C1A-28F4-C0F0-FB9CD836488E}" name="Julieth Tatiana Olaya Velasquez" initials="JTOV" userId="S::tatiana.olaya@madronafialho.com.br::63bbf51a-9be0-469f-b952-7d98c82e8585" providerId="AD"/>
  <p188:author id="{855868B1-22C5-0FB2-5288-268703A4DC19}" name="Madrona Advogados" initials="MA" userId="Madrona Advogados" providerId="None"/>
  <p188:author id="{57FC60CB-DD94-C5F6-0185-6B0BBCE2B5B4}" name="Emanoela Almeida" initials="ES" userId="S::emanoela.almeida@madronafialho.com.br::9fd65c9b-6210-429b-b37a-59ad7f031ea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4444"/>
    <a:srgbClr val="04B0FF"/>
    <a:srgbClr val="0C538F"/>
    <a:srgbClr val="04325B"/>
    <a:srgbClr val="2BB3C0"/>
    <a:srgbClr val="0E7490"/>
    <a:srgbClr val="0C4C6F"/>
    <a:srgbClr val="146C78"/>
    <a:srgbClr val="00B2FF"/>
    <a:srgbClr val="00AE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42A424-A365-4385-9C55-AB1BFE94823D}" v="503" dt="2026-05-07T10:58:10.5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F1AB2-1976-4502-BF36-3FF5EA218861}" styleName="Estilo Médio 4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26" autoAdjust="0"/>
    <p:restoredTop sz="93969" autoAdjust="0"/>
  </p:normalViewPr>
  <p:slideViewPr>
    <p:cSldViewPr snapToGrid="0">
      <p:cViewPr varScale="1">
        <p:scale>
          <a:sx n="86" d="100"/>
          <a:sy n="86" d="100"/>
        </p:scale>
        <p:origin x="702" y="96"/>
      </p:cViewPr>
      <p:guideLst>
        <p:guide pos="3817"/>
        <p:guide pos="393"/>
        <p:guide pos="7333"/>
        <p:guide orient="horz" pos="504"/>
        <p:guide orient="horz" pos="4020"/>
        <p:guide orient="horz" pos="1071"/>
        <p:guide pos="2661"/>
        <p:guide pos="3568"/>
        <p:guide pos="4021"/>
        <p:guide orient="horz" pos="2659"/>
        <p:guide orient="horz" pos="1911"/>
        <p:guide pos="4679"/>
      </p:guideLst>
    </p:cSldViewPr>
  </p:slideViewPr>
  <p:outlineViewPr>
    <p:cViewPr>
      <p:scale>
        <a:sx n="33" d="100"/>
        <a:sy n="33" d="100"/>
      </p:scale>
      <p:origin x="0" y="-3500"/>
    </p:cViewPr>
  </p:outlin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5.xml" Id="rId13" /><Relationship Type="http://schemas.openxmlformats.org/officeDocument/2006/relationships/slide" Target="slides/slide10.xml" Id="rId18" /><Relationship Type="http://schemas.openxmlformats.org/officeDocument/2006/relationships/slide" Target="slides/slide18.xml" Id="rId26" /><Relationship Type="http://schemas.openxmlformats.org/officeDocument/2006/relationships/customXml" Target="../customXml/item3.xml" Id="rId3" /><Relationship Type="http://schemas.openxmlformats.org/officeDocument/2006/relationships/slide" Target="slides/slide13.xml" Id="rId21" /><Relationship Type="http://schemas.microsoft.com/office/2018/10/relationships/authors" Target="authors.xml" Id="rId34" /><Relationship Type="http://schemas.openxmlformats.org/officeDocument/2006/relationships/slideMaster" Target="slideMasters/slideMaster2.xml" Id="rId7" /><Relationship Type="http://schemas.openxmlformats.org/officeDocument/2006/relationships/slide" Target="slides/slide4.xml" Id="rId12" /><Relationship Type="http://schemas.openxmlformats.org/officeDocument/2006/relationships/slide" Target="slides/slide9.xml" Id="rId17" /><Relationship Type="http://schemas.openxmlformats.org/officeDocument/2006/relationships/slide" Target="slides/slide17.xml" Id="rId25" /><Relationship Type="http://schemas.microsoft.com/office/2015/10/relationships/revisionInfo" Target="revisionInfo.xml" Id="rId33" /><Relationship Type="http://schemas.openxmlformats.org/officeDocument/2006/relationships/customXml" Target="../customXml/item2.xml" Id="rId2" /><Relationship Type="http://schemas.openxmlformats.org/officeDocument/2006/relationships/slide" Target="slides/slide8.xml" Id="rId16" /><Relationship Type="http://schemas.openxmlformats.org/officeDocument/2006/relationships/slide" Target="slides/slide12.xml" Id="rId20" /><Relationship Type="http://schemas.openxmlformats.org/officeDocument/2006/relationships/presProps" Target="presProps.xml" Id="rId29" /><Relationship Type="http://schemas.openxmlformats.org/officeDocument/2006/relationships/slideMaster" Target="slideMasters/slideMaster1.xml" Id="rId6" /><Relationship Type="http://schemas.openxmlformats.org/officeDocument/2006/relationships/slide" Target="slides/slide3.xml" Id="rId11" /><Relationship Type="http://schemas.openxmlformats.org/officeDocument/2006/relationships/slide" Target="slides/slide16.xml" Id="rId24" /><Relationship Type="http://schemas.openxmlformats.org/officeDocument/2006/relationships/tableStyles" Target="tableStyles.xml" Id="rId32" /><Relationship Type="http://schemas.openxmlformats.org/officeDocument/2006/relationships/customXml" Target="../customXml/item5.xml" Id="rId5" /><Relationship Type="http://schemas.openxmlformats.org/officeDocument/2006/relationships/slide" Target="slides/slide7.xml" Id="rId15" /><Relationship Type="http://schemas.openxmlformats.org/officeDocument/2006/relationships/slide" Target="slides/slide15.xml" Id="rId23" /><Relationship Type="http://schemas.openxmlformats.org/officeDocument/2006/relationships/notesMaster" Target="notesMasters/notesMaster1.xml" Id="rId28" /><Relationship Type="http://schemas.openxmlformats.org/officeDocument/2006/relationships/slide" Target="slides/slide2.xml" Id="rId10" /><Relationship Type="http://schemas.openxmlformats.org/officeDocument/2006/relationships/slide" Target="slides/slide11.xml" Id="rId19" /><Relationship Type="http://schemas.openxmlformats.org/officeDocument/2006/relationships/theme" Target="theme/theme1.xml" Id="rId31" /><Relationship Type="http://schemas.openxmlformats.org/officeDocument/2006/relationships/customXml" Target="../customXml/item4.xml" Id="rId4" /><Relationship Type="http://schemas.openxmlformats.org/officeDocument/2006/relationships/slide" Target="slides/slide1.xml" Id="rId9" /><Relationship Type="http://schemas.openxmlformats.org/officeDocument/2006/relationships/slide" Target="slides/slide6.xml" Id="rId14" /><Relationship Type="http://schemas.openxmlformats.org/officeDocument/2006/relationships/slide" Target="slides/slide14.xml" Id="rId22" /><Relationship Type="http://schemas.openxmlformats.org/officeDocument/2006/relationships/slide" Target="slides/slide19.xml" Id="rId27" /><Relationship Type="http://schemas.openxmlformats.org/officeDocument/2006/relationships/viewProps" Target="viewProps.xml" Id="rId30" /><Relationship Type="http://schemas.openxmlformats.org/officeDocument/2006/relationships/slideMaster" Target="slideMasters/slideMaster3.xml" Id="rId8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313D41-21C0-462F-9C6D-B5AFD9142333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C585A-EF85-487A-ABB2-F1843B1022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394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PARA TROCAR A FOTO É SÓ CLICAR EM CIMA 2X DA IMAGEM, DEPOIS CLICAR NO LADO DIREITO DO MOUSE VAI APARECER A OPÇÃO ALTERAR IMAGEM. AI É SÓ IR NO DIRRTÓRIO AONDE ESTÁ A IMAGEM E SUBSTITUIR.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EC585A-EF85-487A-ABB2-F1843B1022FC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7341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6DC5A-B874-1250-FE41-BDFC915CF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142454F-48FD-6ACA-E52B-25D9692ADF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9F7FFA7-EC05-15AE-5875-5E23E3F743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A26755B-59B6-B80E-B23E-D20B31FBD1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524F5-33A8-49E6-9AEA-14E08BF640AA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04176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A1AF1-69FB-12E7-FA1E-71D6D1F3D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33525E5-C176-B349-5CCC-010F172E53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D2BA232-7A8D-ABB7-036A-B0969FF782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9E70B8B-3BC4-7D17-B815-012B9D4423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F524F5-33A8-49E6-9AEA-14E08BF640AA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5665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áfico 67">
            <a:extLst>
              <a:ext uri="{FF2B5EF4-FFF2-40B4-BE49-F238E27FC236}">
                <a16:creationId xmlns:a16="http://schemas.microsoft.com/office/drawing/2014/main" id="{4BB66236-03E4-0F9D-F4C1-D95A3DD47A0C}"/>
              </a:ext>
            </a:extLst>
          </p:cNvPr>
          <p:cNvSpPr/>
          <p:nvPr userDrawn="1"/>
        </p:nvSpPr>
        <p:spPr>
          <a:xfrm>
            <a:off x="11043776" y="214085"/>
            <a:ext cx="524337" cy="262165"/>
          </a:xfrm>
          <a:custGeom>
            <a:avLst/>
            <a:gdLst>
              <a:gd name="connsiteX0" fmla="*/ 1639062 w 6556152"/>
              <a:gd name="connsiteY0" fmla="*/ 0 h 3278028"/>
              <a:gd name="connsiteX1" fmla="*/ 3278029 w 6556152"/>
              <a:gd name="connsiteY1" fmla="*/ 1639062 h 3278028"/>
              <a:gd name="connsiteX2" fmla="*/ 4917091 w 6556152"/>
              <a:gd name="connsiteY2" fmla="*/ 0 h 3278028"/>
              <a:gd name="connsiteX3" fmla="*/ 6556153 w 6556152"/>
              <a:gd name="connsiteY3" fmla="*/ 0 h 3278028"/>
              <a:gd name="connsiteX4" fmla="*/ 6556153 w 6556152"/>
              <a:gd name="connsiteY4" fmla="*/ 3278029 h 3278028"/>
              <a:gd name="connsiteX5" fmla="*/ 0 w 6556152"/>
              <a:gd name="connsiteY5" fmla="*/ 3278029 h 3278028"/>
              <a:gd name="connsiteX6" fmla="*/ 0 w 6556152"/>
              <a:gd name="connsiteY6" fmla="*/ 0 h 3278028"/>
              <a:gd name="connsiteX7" fmla="*/ 1639062 w 6556152"/>
              <a:gd name="connsiteY7" fmla="*/ 0 h 3278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6152" h="3278028">
                <a:moveTo>
                  <a:pt x="1639062" y="0"/>
                </a:moveTo>
                <a:cubicBezTo>
                  <a:pt x="2544223" y="0"/>
                  <a:pt x="3278029" y="733806"/>
                  <a:pt x="3278029" y="1639062"/>
                </a:cubicBezTo>
                <a:cubicBezTo>
                  <a:pt x="3278029" y="733806"/>
                  <a:pt x="4011835" y="0"/>
                  <a:pt x="4917091" y="0"/>
                </a:cubicBezTo>
                <a:lnTo>
                  <a:pt x="6556153" y="0"/>
                </a:lnTo>
                <a:lnTo>
                  <a:pt x="6556153" y="3278029"/>
                </a:lnTo>
                <a:lnTo>
                  <a:pt x="0" y="3278029"/>
                </a:lnTo>
                <a:lnTo>
                  <a:pt x="0" y="0"/>
                </a:lnTo>
                <a:lnTo>
                  <a:pt x="1639062" y="0"/>
                </a:lnTo>
                <a:close/>
              </a:path>
            </a:pathLst>
          </a:custGeom>
          <a:solidFill>
            <a:srgbClr val="00B2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F73EFE87-6361-084B-1934-5D89BBB48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657225"/>
            <a:ext cx="10944225" cy="1010937"/>
          </a:xfrm>
        </p:spPr>
        <p:txBody>
          <a:bodyPr lIns="0" tIns="0" rIns="0" bIns="0" anchor="t">
            <a:normAutofit/>
          </a:bodyPr>
          <a:lstStyle>
            <a:lvl1pPr>
              <a:defRPr sz="3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pt-BR" dirty="0"/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639E5656-07BC-BDC0-A694-1C85181FF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844675"/>
            <a:ext cx="10944226" cy="4608513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pt-BR" dirty="0"/>
          </a:p>
        </p:txBody>
      </p:sp>
      <p:pic>
        <p:nvPicPr>
          <p:cNvPr id="16" name="Gráfico 15">
            <a:extLst>
              <a:ext uri="{FF2B5EF4-FFF2-40B4-BE49-F238E27FC236}">
                <a16:creationId xmlns:a16="http://schemas.microsoft.com/office/drawing/2014/main" id="{53F7A145-3DB7-BA49-54A1-6E2525E1A7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77325" y="4787900"/>
            <a:ext cx="3133725" cy="208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616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93" userDrawn="1">
          <p15:clr>
            <a:srgbClr val="FBAE40"/>
          </p15:clr>
        </p15:guide>
        <p15:guide id="4" pos="7287" userDrawn="1">
          <p15:clr>
            <a:srgbClr val="FBAE40"/>
          </p15:clr>
        </p15:guide>
        <p15:guide id="5" orient="horz" pos="414" userDrawn="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1162" userDrawn="1">
          <p15:clr>
            <a:srgbClr val="FBAE40"/>
          </p15:clr>
        </p15:guide>
        <p15:guide id="8" orient="horz" pos="4020" userDrawn="1">
          <p15:clr>
            <a:srgbClr val="FBAE40"/>
          </p15:clr>
        </p15:guide>
        <p15:guide id="9" orient="horz" pos="30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áfico 67">
            <a:extLst>
              <a:ext uri="{FF2B5EF4-FFF2-40B4-BE49-F238E27FC236}">
                <a16:creationId xmlns:a16="http://schemas.microsoft.com/office/drawing/2014/main" id="{4BB66236-03E4-0F9D-F4C1-D95A3DD47A0C}"/>
              </a:ext>
            </a:extLst>
          </p:cNvPr>
          <p:cNvSpPr/>
          <p:nvPr userDrawn="1"/>
        </p:nvSpPr>
        <p:spPr>
          <a:xfrm>
            <a:off x="11043776" y="214085"/>
            <a:ext cx="524337" cy="262165"/>
          </a:xfrm>
          <a:custGeom>
            <a:avLst/>
            <a:gdLst>
              <a:gd name="connsiteX0" fmla="*/ 1639062 w 6556152"/>
              <a:gd name="connsiteY0" fmla="*/ 0 h 3278028"/>
              <a:gd name="connsiteX1" fmla="*/ 3278029 w 6556152"/>
              <a:gd name="connsiteY1" fmla="*/ 1639062 h 3278028"/>
              <a:gd name="connsiteX2" fmla="*/ 4917091 w 6556152"/>
              <a:gd name="connsiteY2" fmla="*/ 0 h 3278028"/>
              <a:gd name="connsiteX3" fmla="*/ 6556153 w 6556152"/>
              <a:gd name="connsiteY3" fmla="*/ 0 h 3278028"/>
              <a:gd name="connsiteX4" fmla="*/ 6556153 w 6556152"/>
              <a:gd name="connsiteY4" fmla="*/ 3278029 h 3278028"/>
              <a:gd name="connsiteX5" fmla="*/ 0 w 6556152"/>
              <a:gd name="connsiteY5" fmla="*/ 3278029 h 3278028"/>
              <a:gd name="connsiteX6" fmla="*/ 0 w 6556152"/>
              <a:gd name="connsiteY6" fmla="*/ 0 h 3278028"/>
              <a:gd name="connsiteX7" fmla="*/ 1639062 w 6556152"/>
              <a:gd name="connsiteY7" fmla="*/ 0 h 3278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6152" h="3278028">
                <a:moveTo>
                  <a:pt x="1639062" y="0"/>
                </a:moveTo>
                <a:cubicBezTo>
                  <a:pt x="2544223" y="0"/>
                  <a:pt x="3278029" y="733806"/>
                  <a:pt x="3278029" y="1639062"/>
                </a:cubicBezTo>
                <a:cubicBezTo>
                  <a:pt x="3278029" y="733806"/>
                  <a:pt x="4011835" y="0"/>
                  <a:pt x="4917091" y="0"/>
                </a:cubicBezTo>
                <a:lnTo>
                  <a:pt x="6556153" y="0"/>
                </a:lnTo>
                <a:lnTo>
                  <a:pt x="6556153" y="3278029"/>
                </a:lnTo>
                <a:lnTo>
                  <a:pt x="0" y="3278029"/>
                </a:lnTo>
                <a:lnTo>
                  <a:pt x="0" y="0"/>
                </a:lnTo>
                <a:lnTo>
                  <a:pt x="1639062" y="0"/>
                </a:lnTo>
                <a:close/>
              </a:path>
            </a:pathLst>
          </a:custGeom>
          <a:solidFill>
            <a:srgbClr val="00B2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F73EFE87-6361-084B-1934-5D89BBB48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657225"/>
            <a:ext cx="10944225" cy="1010937"/>
          </a:xfrm>
        </p:spPr>
        <p:txBody>
          <a:bodyPr lIns="0" tIns="0" rIns="0" bIns="0" anchor="t">
            <a:normAutofit/>
          </a:bodyPr>
          <a:lstStyle>
            <a:lvl1pPr>
              <a:defRPr sz="3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pt-BR" dirty="0"/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639E5656-07BC-BDC0-A694-1C85181FF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844675"/>
            <a:ext cx="10944226" cy="4608513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14165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93" userDrawn="1">
          <p15:clr>
            <a:srgbClr val="FBAE40"/>
          </p15:clr>
        </p15:guide>
        <p15:guide id="4" pos="7287" userDrawn="1">
          <p15:clr>
            <a:srgbClr val="FBAE40"/>
          </p15:clr>
        </p15:guide>
        <p15:guide id="5" orient="horz" pos="414" userDrawn="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1162" userDrawn="1">
          <p15:clr>
            <a:srgbClr val="FBAE40"/>
          </p15:clr>
        </p15:guide>
        <p15:guide id="8" orient="horz" pos="4020" userDrawn="1">
          <p15:clr>
            <a:srgbClr val="FBAE40"/>
          </p15:clr>
        </p15:guide>
        <p15:guide id="9" orient="horz" pos="30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áfico 67">
            <a:extLst>
              <a:ext uri="{FF2B5EF4-FFF2-40B4-BE49-F238E27FC236}">
                <a16:creationId xmlns:a16="http://schemas.microsoft.com/office/drawing/2014/main" id="{4BB66236-03E4-0F9D-F4C1-D95A3DD47A0C}"/>
              </a:ext>
            </a:extLst>
          </p:cNvPr>
          <p:cNvSpPr/>
          <p:nvPr userDrawn="1"/>
        </p:nvSpPr>
        <p:spPr>
          <a:xfrm>
            <a:off x="11043776" y="214085"/>
            <a:ext cx="524337" cy="262165"/>
          </a:xfrm>
          <a:custGeom>
            <a:avLst/>
            <a:gdLst>
              <a:gd name="connsiteX0" fmla="*/ 1639062 w 6556152"/>
              <a:gd name="connsiteY0" fmla="*/ 0 h 3278028"/>
              <a:gd name="connsiteX1" fmla="*/ 3278029 w 6556152"/>
              <a:gd name="connsiteY1" fmla="*/ 1639062 h 3278028"/>
              <a:gd name="connsiteX2" fmla="*/ 4917091 w 6556152"/>
              <a:gd name="connsiteY2" fmla="*/ 0 h 3278028"/>
              <a:gd name="connsiteX3" fmla="*/ 6556153 w 6556152"/>
              <a:gd name="connsiteY3" fmla="*/ 0 h 3278028"/>
              <a:gd name="connsiteX4" fmla="*/ 6556153 w 6556152"/>
              <a:gd name="connsiteY4" fmla="*/ 3278029 h 3278028"/>
              <a:gd name="connsiteX5" fmla="*/ 0 w 6556152"/>
              <a:gd name="connsiteY5" fmla="*/ 3278029 h 3278028"/>
              <a:gd name="connsiteX6" fmla="*/ 0 w 6556152"/>
              <a:gd name="connsiteY6" fmla="*/ 0 h 3278028"/>
              <a:gd name="connsiteX7" fmla="*/ 1639062 w 6556152"/>
              <a:gd name="connsiteY7" fmla="*/ 0 h 3278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6152" h="3278028">
                <a:moveTo>
                  <a:pt x="1639062" y="0"/>
                </a:moveTo>
                <a:cubicBezTo>
                  <a:pt x="2544223" y="0"/>
                  <a:pt x="3278029" y="733806"/>
                  <a:pt x="3278029" y="1639062"/>
                </a:cubicBezTo>
                <a:cubicBezTo>
                  <a:pt x="3278029" y="733806"/>
                  <a:pt x="4011835" y="0"/>
                  <a:pt x="4917091" y="0"/>
                </a:cubicBezTo>
                <a:lnTo>
                  <a:pt x="6556153" y="0"/>
                </a:lnTo>
                <a:lnTo>
                  <a:pt x="6556153" y="3278029"/>
                </a:lnTo>
                <a:lnTo>
                  <a:pt x="0" y="3278029"/>
                </a:lnTo>
                <a:lnTo>
                  <a:pt x="0" y="0"/>
                </a:lnTo>
                <a:lnTo>
                  <a:pt x="1639062" y="0"/>
                </a:lnTo>
                <a:close/>
              </a:path>
            </a:pathLst>
          </a:custGeom>
          <a:solidFill>
            <a:srgbClr val="00B2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F73EFE87-6361-084B-1934-5D89BBB48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657225"/>
            <a:ext cx="10944225" cy="1010937"/>
          </a:xfrm>
        </p:spPr>
        <p:txBody>
          <a:bodyPr lIns="0" tIns="0" rIns="0" bIns="0" anchor="t">
            <a:normAutofit/>
          </a:bodyPr>
          <a:lstStyle>
            <a:lvl1pPr>
              <a:defRPr sz="3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pt-BR" dirty="0"/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639E5656-07BC-BDC0-A694-1C85181FF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844675"/>
            <a:ext cx="10944226" cy="4608513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pt-BR" dirty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2FEA67B1-BE8E-2E6F-1AFB-67D91A1865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631" b="2292"/>
          <a:stretch/>
        </p:blipFill>
        <p:spPr>
          <a:xfrm rot="16200000" flipH="1">
            <a:off x="10165876" y="4831878"/>
            <a:ext cx="2032947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4546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93" userDrawn="1">
          <p15:clr>
            <a:srgbClr val="FBAE40"/>
          </p15:clr>
        </p15:guide>
        <p15:guide id="4" pos="7287" userDrawn="1">
          <p15:clr>
            <a:srgbClr val="FBAE40"/>
          </p15:clr>
        </p15:guide>
        <p15:guide id="5" orient="horz" pos="414" userDrawn="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1162" userDrawn="1">
          <p15:clr>
            <a:srgbClr val="FBAE40"/>
          </p15:clr>
        </p15:guide>
        <p15:guide id="8" orient="horz" pos="4020" userDrawn="1">
          <p15:clr>
            <a:srgbClr val="FBAE40"/>
          </p15:clr>
        </p15:guide>
        <p15:guide id="9" orient="horz" pos="30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áfico 67">
            <a:extLst>
              <a:ext uri="{FF2B5EF4-FFF2-40B4-BE49-F238E27FC236}">
                <a16:creationId xmlns:a16="http://schemas.microsoft.com/office/drawing/2014/main" id="{4BB66236-03E4-0F9D-F4C1-D95A3DD47A0C}"/>
              </a:ext>
            </a:extLst>
          </p:cNvPr>
          <p:cNvSpPr/>
          <p:nvPr userDrawn="1"/>
        </p:nvSpPr>
        <p:spPr>
          <a:xfrm>
            <a:off x="11043776" y="214085"/>
            <a:ext cx="524337" cy="262165"/>
          </a:xfrm>
          <a:custGeom>
            <a:avLst/>
            <a:gdLst>
              <a:gd name="connsiteX0" fmla="*/ 1639062 w 6556152"/>
              <a:gd name="connsiteY0" fmla="*/ 0 h 3278028"/>
              <a:gd name="connsiteX1" fmla="*/ 3278029 w 6556152"/>
              <a:gd name="connsiteY1" fmla="*/ 1639062 h 3278028"/>
              <a:gd name="connsiteX2" fmla="*/ 4917091 w 6556152"/>
              <a:gd name="connsiteY2" fmla="*/ 0 h 3278028"/>
              <a:gd name="connsiteX3" fmla="*/ 6556153 w 6556152"/>
              <a:gd name="connsiteY3" fmla="*/ 0 h 3278028"/>
              <a:gd name="connsiteX4" fmla="*/ 6556153 w 6556152"/>
              <a:gd name="connsiteY4" fmla="*/ 3278029 h 3278028"/>
              <a:gd name="connsiteX5" fmla="*/ 0 w 6556152"/>
              <a:gd name="connsiteY5" fmla="*/ 3278029 h 3278028"/>
              <a:gd name="connsiteX6" fmla="*/ 0 w 6556152"/>
              <a:gd name="connsiteY6" fmla="*/ 0 h 3278028"/>
              <a:gd name="connsiteX7" fmla="*/ 1639062 w 6556152"/>
              <a:gd name="connsiteY7" fmla="*/ 0 h 3278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6152" h="3278028">
                <a:moveTo>
                  <a:pt x="1639062" y="0"/>
                </a:moveTo>
                <a:cubicBezTo>
                  <a:pt x="2544223" y="0"/>
                  <a:pt x="3278029" y="733806"/>
                  <a:pt x="3278029" y="1639062"/>
                </a:cubicBezTo>
                <a:cubicBezTo>
                  <a:pt x="3278029" y="733806"/>
                  <a:pt x="4011835" y="0"/>
                  <a:pt x="4917091" y="0"/>
                </a:cubicBezTo>
                <a:lnTo>
                  <a:pt x="6556153" y="0"/>
                </a:lnTo>
                <a:lnTo>
                  <a:pt x="6556153" y="3278029"/>
                </a:lnTo>
                <a:lnTo>
                  <a:pt x="0" y="3278029"/>
                </a:lnTo>
                <a:lnTo>
                  <a:pt x="0" y="0"/>
                </a:lnTo>
                <a:lnTo>
                  <a:pt x="1639062" y="0"/>
                </a:lnTo>
                <a:close/>
              </a:path>
            </a:pathLst>
          </a:custGeom>
          <a:solidFill>
            <a:srgbClr val="00B2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F73EFE87-6361-084B-1934-5D89BBB48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657225"/>
            <a:ext cx="10944225" cy="1010937"/>
          </a:xfrm>
        </p:spPr>
        <p:txBody>
          <a:bodyPr lIns="0" tIns="0" rIns="0" bIns="0" anchor="t">
            <a:normAutofit/>
          </a:bodyPr>
          <a:lstStyle>
            <a:lvl1pPr>
              <a:defRPr sz="3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pt-BR" dirty="0"/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639E5656-07BC-BDC0-A694-1C85181FF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844675"/>
            <a:ext cx="10944226" cy="4608513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1039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93" userDrawn="1">
          <p15:clr>
            <a:srgbClr val="FBAE40"/>
          </p15:clr>
        </p15:guide>
        <p15:guide id="4" pos="7287" userDrawn="1">
          <p15:clr>
            <a:srgbClr val="FBAE40"/>
          </p15:clr>
        </p15:guide>
        <p15:guide id="5" orient="horz" pos="414" userDrawn="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1162" userDrawn="1">
          <p15:clr>
            <a:srgbClr val="FBAE40"/>
          </p15:clr>
        </p15:guide>
        <p15:guide id="8" orient="horz" pos="4020" userDrawn="1">
          <p15:clr>
            <a:srgbClr val="FBAE40"/>
          </p15:clr>
        </p15:guide>
        <p15:guide id="9" orient="horz" pos="30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Único Canto Arredondado 4">
            <a:extLst>
              <a:ext uri="{FF2B5EF4-FFF2-40B4-BE49-F238E27FC236}">
                <a16:creationId xmlns:a16="http://schemas.microsoft.com/office/drawing/2014/main" id="{0CC4135E-4127-9EA2-C5F1-D9B98518E016}"/>
              </a:ext>
            </a:extLst>
          </p:cNvPr>
          <p:cNvSpPr/>
          <p:nvPr userDrawn="1"/>
        </p:nvSpPr>
        <p:spPr>
          <a:xfrm>
            <a:off x="0" y="0"/>
            <a:ext cx="4069080" cy="6858000"/>
          </a:xfrm>
          <a:prstGeom prst="round1Rect">
            <a:avLst/>
          </a:prstGeom>
          <a:solidFill>
            <a:srgbClr val="00B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Gráfico 67">
            <a:extLst>
              <a:ext uri="{FF2B5EF4-FFF2-40B4-BE49-F238E27FC236}">
                <a16:creationId xmlns:a16="http://schemas.microsoft.com/office/drawing/2014/main" id="{4BB66236-03E4-0F9D-F4C1-D95A3DD47A0C}"/>
              </a:ext>
            </a:extLst>
          </p:cNvPr>
          <p:cNvSpPr/>
          <p:nvPr userDrawn="1"/>
        </p:nvSpPr>
        <p:spPr>
          <a:xfrm>
            <a:off x="11043776" y="214085"/>
            <a:ext cx="524337" cy="262165"/>
          </a:xfrm>
          <a:custGeom>
            <a:avLst/>
            <a:gdLst>
              <a:gd name="connsiteX0" fmla="*/ 1639062 w 6556152"/>
              <a:gd name="connsiteY0" fmla="*/ 0 h 3278028"/>
              <a:gd name="connsiteX1" fmla="*/ 3278029 w 6556152"/>
              <a:gd name="connsiteY1" fmla="*/ 1639062 h 3278028"/>
              <a:gd name="connsiteX2" fmla="*/ 4917091 w 6556152"/>
              <a:gd name="connsiteY2" fmla="*/ 0 h 3278028"/>
              <a:gd name="connsiteX3" fmla="*/ 6556153 w 6556152"/>
              <a:gd name="connsiteY3" fmla="*/ 0 h 3278028"/>
              <a:gd name="connsiteX4" fmla="*/ 6556153 w 6556152"/>
              <a:gd name="connsiteY4" fmla="*/ 3278029 h 3278028"/>
              <a:gd name="connsiteX5" fmla="*/ 0 w 6556152"/>
              <a:gd name="connsiteY5" fmla="*/ 3278029 h 3278028"/>
              <a:gd name="connsiteX6" fmla="*/ 0 w 6556152"/>
              <a:gd name="connsiteY6" fmla="*/ 0 h 3278028"/>
              <a:gd name="connsiteX7" fmla="*/ 1639062 w 6556152"/>
              <a:gd name="connsiteY7" fmla="*/ 0 h 3278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6152" h="3278028">
                <a:moveTo>
                  <a:pt x="1639062" y="0"/>
                </a:moveTo>
                <a:cubicBezTo>
                  <a:pt x="2544223" y="0"/>
                  <a:pt x="3278029" y="733806"/>
                  <a:pt x="3278029" y="1639062"/>
                </a:cubicBezTo>
                <a:cubicBezTo>
                  <a:pt x="3278029" y="733806"/>
                  <a:pt x="4011835" y="0"/>
                  <a:pt x="4917091" y="0"/>
                </a:cubicBezTo>
                <a:lnTo>
                  <a:pt x="6556153" y="0"/>
                </a:lnTo>
                <a:lnTo>
                  <a:pt x="6556153" y="3278029"/>
                </a:lnTo>
                <a:lnTo>
                  <a:pt x="0" y="3278029"/>
                </a:lnTo>
                <a:lnTo>
                  <a:pt x="0" y="0"/>
                </a:lnTo>
                <a:lnTo>
                  <a:pt x="1639062" y="0"/>
                </a:lnTo>
                <a:close/>
              </a:path>
            </a:pathLst>
          </a:custGeom>
          <a:solidFill>
            <a:srgbClr val="00B2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26490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93" userDrawn="1">
          <p15:clr>
            <a:srgbClr val="FBAE40"/>
          </p15:clr>
        </p15:guide>
        <p15:guide id="4" pos="7287" userDrawn="1">
          <p15:clr>
            <a:srgbClr val="FBAE40"/>
          </p15:clr>
        </p15:guide>
        <p15:guide id="5" orient="horz" pos="414" userDrawn="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1162" userDrawn="1">
          <p15:clr>
            <a:srgbClr val="FBAE40"/>
          </p15:clr>
        </p15:guide>
        <p15:guide id="8" orient="horz" pos="4020" userDrawn="1">
          <p15:clr>
            <a:srgbClr val="FBAE40"/>
          </p15:clr>
        </p15:guide>
        <p15:guide id="9" orient="horz" pos="30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bg>
      <p:bgPr>
        <a:solidFill>
          <a:srgbClr val="00B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áfico 67">
            <a:extLst>
              <a:ext uri="{FF2B5EF4-FFF2-40B4-BE49-F238E27FC236}">
                <a16:creationId xmlns:a16="http://schemas.microsoft.com/office/drawing/2014/main" id="{4BB66236-03E4-0F9D-F4C1-D95A3DD47A0C}"/>
              </a:ext>
            </a:extLst>
          </p:cNvPr>
          <p:cNvSpPr/>
          <p:nvPr userDrawn="1"/>
        </p:nvSpPr>
        <p:spPr>
          <a:xfrm>
            <a:off x="11043776" y="214085"/>
            <a:ext cx="524337" cy="262165"/>
          </a:xfrm>
          <a:custGeom>
            <a:avLst/>
            <a:gdLst>
              <a:gd name="connsiteX0" fmla="*/ 1639062 w 6556152"/>
              <a:gd name="connsiteY0" fmla="*/ 0 h 3278028"/>
              <a:gd name="connsiteX1" fmla="*/ 3278029 w 6556152"/>
              <a:gd name="connsiteY1" fmla="*/ 1639062 h 3278028"/>
              <a:gd name="connsiteX2" fmla="*/ 4917091 w 6556152"/>
              <a:gd name="connsiteY2" fmla="*/ 0 h 3278028"/>
              <a:gd name="connsiteX3" fmla="*/ 6556153 w 6556152"/>
              <a:gd name="connsiteY3" fmla="*/ 0 h 3278028"/>
              <a:gd name="connsiteX4" fmla="*/ 6556153 w 6556152"/>
              <a:gd name="connsiteY4" fmla="*/ 3278029 h 3278028"/>
              <a:gd name="connsiteX5" fmla="*/ 0 w 6556152"/>
              <a:gd name="connsiteY5" fmla="*/ 3278029 h 3278028"/>
              <a:gd name="connsiteX6" fmla="*/ 0 w 6556152"/>
              <a:gd name="connsiteY6" fmla="*/ 0 h 3278028"/>
              <a:gd name="connsiteX7" fmla="*/ 1639062 w 6556152"/>
              <a:gd name="connsiteY7" fmla="*/ 0 h 3278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6152" h="3278028">
                <a:moveTo>
                  <a:pt x="1639062" y="0"/>
                </a:moveTo>
                <a:cubicBezTo>
                  <a:pt x="2544223" y="0"/>
                  <a:pt x="3278029" y="733806"/>
                  <a:pt x="3278029" y="1639062"/>
                </a:cubicBezTo>
                <a:cubicBezTo>
                  <a:pt x="3278029" y="733806"/>
                  <a:pt x="4011835" y="0"/>
                  <a:pt x="4917091" y="0"/>
                </a:cubicBezTo>
                <a:lnTo>
                  <a:pt x="6556153" y="0"/>
                </a:lnTo>
                <a:lnTo>
                  <a:pt x="6556153" y="3278029"/>
                </a:lnTo>
                <a:lnTo>
                  <a:pt x="0" y="3278029"/>
                </a:lnTo>
                <a:lnTo>
                  <a:pt x="0" y="0"/>
                </a:lnTo>
                <a:lnTo>
                  <a:pt x="1639062" y="0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F73EFE87-6361-084B-1934-5D89BBB48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657225"/>
            <a:ext cx="10944225" cy="1010937"/>
          </a:xfrm>
        </p:spPr>
        <p:txBody>
          <a:bodyPr lIns="0" tIns="0" rIns="0" bIns="0" anchor="t">
            <a:normAutofit/>
          </a:bodyPr>
          <a:lstStyle>
            <a:lvl1pPr>
              <a:defRPr sz="3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pt-BR" dirty="0"/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639E5656-07BC-BDC0-A694-1C85181FF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844675"/>
            <a:ext cx="10944226" cy="4608513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3616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93" userDrawn="1">
          <p15:clr>
            <a:srgbClr val="FBAE40"/>
          </p15:clr>
        </p15:guide>
        <p15:guide id="4" pos="7287" userDrawn="1">
          <p15:clr>
            <a:srgbClr val="FBAE40"/>
          </p15:clr>
        </p15:guide>
        <p15:guide id="5" orient="horz" pos="414" userDrawn="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1162" userDrawn="1">
          <p15:clr>
            <a:srgbClr val="FBAE40"/>
          </p15:clr>
        </p15:guide>
        <p15:guide id="8" orient="horz" pos="4020" userDrawn="1">
          <p15:clr>
            <a:srgbClr val="FBAE40"/>
          </p15:clr>
        </p15:guide>
        <p15:guide id="9" orient="horz" pos="30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bg>
      <p:bgPr>
        <a:solidFill>
          <a:srgbClr val="444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F73EFE87-6361-084B-1934-5D89BBB48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657225"/>
            <a:ext cx="10944225" cy="1010937"/>
          </a:xfrm>
        </p:spPr>
        <p:txBody>
          <a:bodyPr lIns="0" tIns="0" rIns="0" bIns="0" anchor="t">
            <a:normAutofit/>
          </a:bodyPr>
          <a:lstStyle>
            <a:lvl1pPr>
              <a:defRPr sz="3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pt-BR" dirty="0"/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639E5656-07BC-BDC0-A694-1C85181FF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844675"/>
            <a:ext cx="10944226" cy="4608513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2" name="Gráfico 67">
            <a:extLst>
              <a:ext uri="{FF2B5EF4-FFF2-40B4-BE49-F238E27FC236}">
                <a16:creationId xmlns:a16="http://schemas.microsoft.com/office/drawing/2014/main" id="{0C08BA2D-86E1-CE96-BE4F-2CBDA3CC6DFA}"/>
              </a:ext>
            </a:extLst>
          </p:cNvPr>
          <p:cNvSpPr/>
          <p:nvPr userDrawn="1"/>
        </p:nvSpPr>
        <p:spPr>
          <a:xfrm>
            <a:off x="11043776" y="214085"/>
            <a:ext cx="524337" cy="262165"/>
          </a:xfrm>
          <a:custGeom>
            <a:avLst/>
            <a:gdLst>
              <a:gd name="connsiteX0" fmla="*/ 1639062 w 6556152"/>
              <a:gd name="connsiteY0" fmla="*/ 0 h 3278028"/>
              <a:gd name="connsiteX1" fmla="*/ 3278029 w 6556152"/>
              <a:gd name="connsiteY1" fmla="*/ 1639062 h 3278028"/>
              <a:gd name="connsiteX2" fmla="*/ 4917091 w 6556152"/>
              <a:gd name="connsiteY2" fmla="*/ 0 h 3278028"/>
              <a:gd name="connsiteX3" fmla="*/ 6556153 w 6556152"/>
              <a:gd name="connsiteY3" fmla="*/ 0 h 3278028"/>
              <a:gd name="connsiteX4" fmla="*/ 6556153 w 6556152"/>
              <a:gd name="connsiteY4" fmla="*/ 3278029 h 3278028"/>
              <a:gd name="connsiteX5" fmla="*/ 0 w 6556152"/>
              <a:gd name="connsiteY5" fmla="*/ 3278029 h 3278028"/>
              <a:gd name="connsiteX6" fmla="*/ 0 w 6556152"/>
              <a:gd name="connsiteY6" fmla="*/ 0 h 3278028"/>
              <a:gd name="connsiteX7" fmla="*/ 1639062 w 6556152"/>
              <a:gd name="connsiteY7" fmla="*/ 0 h 3278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6152" h="3278028">
                <a:moveTo>
                  <a:pt x="1639062" y="0"/>
                </a:moveTo>
                <a:cubicBezTo>
                  <a:pt x="2544223" y="0"/>
                  <a:pt x="3278029" y="733806"/>
                  <a:pt x="3278029" y="1639062"/>
                </a:cubicBezTo>
                <a:cubicBezTo>
                  <a:pt x="3278029" y="733806"/>
                  <a:pt x="4011835" y="0"/>
                  <a:pt x="4917091" y="0"/>
                </a:cubicBezTo>
                <a:lnTo>
                  <a:pt x="6556153" y="0"/>
                </a:lnTo>
                <a:lnTo>
                  <a:pt x="6556153" y="3278029"/>
                </a:lnTo>
                <a:lnTo>
                  <a:pt x="0" y="3278029"/>
                </a:lnTo>
                <a:lnTo>
                  <a:pt x="0" y="0"/>
                </a:lnTo>
                <a:lnTo>
                  <a:pt x="1639062" y="0"/>
                </a:lnTo>
                <a:close/>
              </a:path>
            </a:pathLst>
          </a:custGeom>
          <a:solidFill>
            <a:srgbClr val="00B2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76179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93" userDrawn="1">
          <p15:clr>
            <a:srgbClr val="FBAE40"/>
          </p15:clr>
        </p15:guide>
        <p15:guide id="4" pos="7287" userDrawn="1">
          <p15:clr>
            <a:srgbClr val="FBAE40"/>
          </p15:clr>
        </p15:guide>
        <p15:guide id="5" orient="horz" pos="414" userDrawn="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1162" userDrawn="1">
          <p15:clr>
            <a:srgbClr val="FBAE40"/>
          </p15:clr>
        </p15:guide>
        <p15:guide id="8" orient="horz" pos="4020" userDrawn="1">
          <p15:clr>
            <a:srgbClr val="FBAE40"/>
          </p15:clr>
        </p15:guide>
        <p15:guide id="9" orient="horz" pos="30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de Título">
    <p:bg>
      <p:bgPr>
        <a:solidFill>
          <a:srgbClr val="FC7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áfico 67">
            <a:extLst>
              <a:ext uri="{FF2B5EF4-FFF2-40B4-BE49-F238E27FC236}">
                <a16:creationId xmlns:a16="http://schemas.microsoft.com/office/drawing/2014/main" id="{4BB66236-03E4-0F9D-F4C1-D95A3DD47A0C}"/>
              </a:ext>
            </a:extLst>
          </p:cNvPr>
          <p:cNvSpPr/>
          <p:nvPr userDrawn="1"/>
        </p:nvSpPr>
        <p:spPr>
          <a:xfrm>
            <a:off x="11043776" y="214085"/>
            <a:ext cx="524337" cy="262165"/>
          </a:xfrm>
          <a:custGeom>
            <a:avLst/>
            <a:gdLst>
              <a:gd name="connsiteX0" fmla="*/ 1639062 w 6556152"/>
              <a:gd name="connsiteY0" fmla="*/ 0 h 3278028"/>
              <a:gd name="connsiteX1" fmla="*/ 3278029 w 6556152"/>
              <a:gd name="connsiteY1" fmla="*/ 1639062 h 3278028"/>
              <a:gd name="connsiteX2" fmla="*/ 4917091 w 6556152"/>
              <a:gd name="connsiteY2" fmla="*/ 0 h 3278028"/>
              <a:gd name="connsiteX3" fmla="*/ 6556153 w 6556152"/>
              <a:gd name="connsiteY3" fmla="*/ 0 h 3278028"/>
              <a:gd name="connsiteX4" fmla="*/ 6556153 w 6556152"/>
              <a:gd name="connsiteY4" fmla="*/ 3278029 h 3278028"/>
              <a:gd name="connsiteX5" fmla="*/ 0 w 6556152"/>
              <a:gd name="connsiteY5" fmla="*/ 3278029 h 3278028"/>
              <a:gd name="connsiteX6" fmla="*/ 0 w 6556152"/>
              <a:gd name="connsiteY6" fmla="*/ 0 h 3278028"/>
              <a:gd name="connsiteX7" fmla="*/ 1639062 w 6556152"/>
              <a:gd name="connsiteY7" fmla="*/ 0 h 3278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6152" h="3278028">
                <a:moveTo>
                  <a:pt x="1639062" y="0"/>
                </a:moveTo>
                <a:cubicBezTo>
                  <a:pt x="2544223" y="0"/>
                  <a:pt x="3278029" y="733806"/>
                  <a:pt x="3278029" y="1639062"/>
                </a:cubicBezTo>
                <a:cubicBezTo>
                  <a:pt x="3278029" y="733806"/>
                  <a:pt x="4011835" y="0"/>
                  <a:pt x="4917091" y="0"/>
                </a:cubicBezTo>
                <a:lnTo>
                  <a:pt x="6556153" y="0"/>
                </a:lnTo>
                <a:lnTo>
                  <a:pt x="6556153" y="3278029"/>
                </a:lnTo>
                <a:lnTo>
                  <a:pt x="0" y="3278029"/>
                </a:lnTo>
                <a:lnTo>
                  <a:pt x="0" y="0"/>
                </a:lnTo>
                <a:lnTo>
                  <a:pt x="1639062" y="0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F73EFE87-6361-084B-1934-5D89BBB48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657225"/>
            <a:ext cx="10944225" cy="1010937"/>
          </a:xfrm>
        </p:spPr>
        <p:txBody>
          <a:bodyPr lIns="0" tIns="0" rIns="0" bIns="0" anchor="t">
            <a:normAutofit/>
          </a:bodyPr>
          <a:lstStyle>
            <a:lvl1pPr>
              <a:defRPr sz="3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pt-BR" dirty="0"/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639E5656-07BC-BDC0-A694-1C85181FF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844675"/>
            <a:ext cx="10944226" cy="4608513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518095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93" userDrawn="1">
          <p15:clr>
            <a:srgbClr val="FBAE40"/>
          </p15:clr>
        </p15:guide>
        <p15:guide id="4" pos="7287" userDrawn="1">
          <p15:clr>
            <a:srgbClr val="FBAE40"/>
          </p15:clr>
        </p15:guide>
        <p15:guide id="5" orient="horz" pos="414" userDrawn="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1162" userDrawn="1">
          <p15:clr>
            <a:srgbClr val="FBAE40"/>
          </p15:clr>
        </p15:guide>
        <p15:guide id="8" orient="horz" pos="4020" userDrawn="1">
          <p15:clr>
            <a:srgbClr val="FBAE40"/>
          </p15:clr>
        </p15:guide>
        <p15:guide id="9" orient="horz" pos="30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de Título">
    <p:bg>
      <p:bgPr>
        <a:solidFill>
          <a:srgbClr val="FC7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áfico 67">
            <a:extLst>
              <a:ext uri="{FF2B5EF4-FFF2-40B4-BE49-F238E27FC236}">
                <a16:creationId xmlns:a16="http://schemas.microsoft.com/office/drawing/2014/main" id="{4BB66236-03E4-0F9D-F4C1-D95A3DD47A0C}"/>
              </a:ext>
            </a:extLst>
          </p:cNvPr>
          <p:cNvSpPr/>
          <p:nvPr userDrawn="1"/>
        </p:nvSpPr>
        <p:spPr>
          <a:xfrm>
            <a:off x="623888" y="214085"/>
            <a:ext cx="524337" cy="262165"/>
          </a:xfrm>
          <a:custGeom>
            <a:avLst/>
            <a:gdLst>
              <a:gd name="connsiteX0" fmla="*/ 1639062 w 6556152"/>
              <a:gd name="connsiteY0" fmla="*/ 0 h 3278028"/>
              <a:gd name="connsiteX1" fmla="*/ 3278029 w 6556152"/>
              <a:gd name="connsiteY1" fmla="*/ 1639062 h 3278028"/>
              <a:gd name="connsiteX2" fmla="*/ 4917091 w 6556152"/>
              <a:gd name="connsiteY2" fmla="*/ 0 h 3278028"/>
              <a:gd name="connsiteX3" fmla="*/ 6556153 w 6556152"/>
              <a:gd name="connsiteY3" fmla="*/ 0 h 3278028"/>
              <a:gd name="connsiteX4" fmla="*/ 6556153 w 6556152"/>
              <a:gd name="connsiteY4" fmla="*/ 3278029 h 3278028"/>
              <a:gd name="connsiteX5" fmla="*/ 0 w 6556152"/>
              <a:gd name="connsiteY5" fmla="*/ 3278029 h 3278028"/>
              <a:gd name="connsiteX6" fmla="*/ 0 w 6556152"/>
              <a:gd name="connsiteY6" fmla="*/ 0 h 3278028"/>
              <a:gd name="connsiteX7" fmla="*/ 1639062 w 6556152"/>
              <a:gd name="connsiteY7" fmla="*/ 0 h 3278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6152" h="3278028">
                <a:moveTo>
                  <a:pt x="1639062" y="0"/>
                </a:moveTo>
                <a:cubicBezTo>
                  <a:pt x="2544223" y="0"/>
                  <a:pt x="3278029" y="733806"/>
                  <a:pt x="3278029" y="1639062"/>
                </a:cubicBezTo>
                <a:cubicBezTo>
                  <a:pt x="3278029" y="733806"/>
                  <a:pt x="4011835" y="0"/>
                  <a:pt x="4917091" y="0"/>
                </a:cubicBezTo>
                <a:lnTo>
                  <a:pt x="6556153" y="0"/>
                </a:lnTo>
                <a:lnTo>
                  <a:pt x="6556153" y="3278029"/>
                </a:lnTo>
                <a:lnTo>
                  <a:pt x="0" y="3278029"/>
                </a:lnTo>
                <a:lnTo>
                  <a:pt x="0" y="0"/>
                </a:lnTo>
                <a:lnTo>
                  <a:pt x="1639062" y="0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F73EFE87-6361-084B-1934-5D89BBB48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657225"/>
            <a:ext cx="10944225" cy="1010937"/>
          </a:xfrm>
        </p:spPr>
        <p:txBody>
          <a:bodyPr lIns="0" tIns="0" rIns="0" bIns="0" anchor="t">
            <a:normAutofit/>
          </a:bodyPr>
          <a:lstStyle>
            <a:lvl1pPr>
              <a:defRPr sz="3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pt-BR" dirty="0"/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639E5656-07BC-BDC0-A694-1C85181FF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844675"/>
            <a:ext cx="10944226" cy="4608513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02045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93" userDrawn="1">
          <p15:clr>
            <a:srgbClr val="FBAE40"/>
          </p15:clr>
        </p15:guide>
        <p15:guide id="4" pos="7287" userDrawn="1">
          <p15:clr>
            <a:srgbClr val="FBAE40"/>
          </p15:clr>
        </p15:guide>
        <p15:guide id="5" orient="horz" pos="414" userDrawn="1">
          <p15:clr>
            <a:srgbClr val="FBAE40"/>
          </p15:clr>
        </p15:guide>
        <p15:guide id="6" orient="horz" pos="1049" userDrawn="1">
          <p15:clr>
            <a:srgbClr val="FBAE40"/>
          </p15:clr>
        </p15:guide>
        <p15:guide id="7" orient="horz" pos="1162" userDrawn="1">
          <p15:clr>
            <a:srgbClr val="FBAE40"/>
          </p15:clr>
        </p15:guide>
        <p15:guide id="8" orient="horz" pos="4020" userDrawn="1">
          <p15:clr>
            <a:srgbClr val="FBAE40"/>
          </p15:clr>
        </p15:guide>
        <p15:guide id="9" orient="horz" pos="30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D8B74E-944D-0677-3923-38265FD49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BCAD54-D3AB-D7F1-A85D-268F58EBC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D90AFF-EDCE-D238-FE7B-ACE407ACB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486E-85E9-4B23-B18C-E6900943AB8B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1101D6-EC3C-90CE-AD53-F6C4265B0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728FF2-37B2-CB06-F0BB-F333695A2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C1814-BDB1-442E-A1B1-EF0820D5A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0529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CBE0BA-867B-51D3-C8E7-3AFAE2FF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BB9378-811E-0B03-6797-B5168588C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079EF4-9331-C93C-9996-528C6B23C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486E-85E9-4B23-B18C-E6900943AB8B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9641B0-7E24-275B-DD0D-9B75F88D7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4C9E32-38A4-5FBA-ABBD-9164060D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C1814-BDB1-442E-A1B1-EF0820D5A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37440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9FC00B-A3C5-0AFD-B967-AB3382F24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D389DF-4261-7EA1-7AFF-C12DD5D4AC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309CC37-F2DA-CBB2-2AAB-5EBDB5F26E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5E31DA7-948E-AAA3-6B9A-F0AAE22C2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486E-85E9-4B23-B18C-E6900943AB8B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4D74F40-8343-4CF5-0C33-E180BA463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F1B718D-718A-5D41-3846-1A71A16D5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C1814-BDB1-442E-A1B1-EF0820D5A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699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99FF96-BD7E-6EAF-3DA6-2FC7FAE04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7D1F838-07BD-870C-8170-237E80D95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74694FC-426E-3631-8235-BD8DD5BC7D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D192B98-DE35-2CEC-3ED9-A894F7DFC5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F1C7622-52AA-3C07-7528-673A15FB1A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519CE34-193E-3820-BC24-4F1E08A18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486E-85E9-4B23-B18C-E6900943AB8B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2261780-7415-BDD5-E569-D58327FE3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1435138-FA78-4EC4-DCE4-F6B233DDD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C1814-BDB1-442E-A1B1-EF0820D5A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66940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2FC6F3-A806-C2F1-4961-B6E2A04CA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789DA8B-B64B-6FCB-A559-E160D4628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486E-85E9-4B23-B18C-E6900943AB8B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9AA449B-28BD-6AAD-2347-A62FFCDFD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B0D9F60-74E7-24E2-A185-86B6AC870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C1814-BDB1-442E-A1B1-EF0820D5A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73939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FA2ABB2-E15C-5AA3-4C14-8D49D79B1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486E-85E9-4B23-B18C-E6900943AB8B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F1C519-1EB0-0290-FFAE-31147AB0D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BBFE231-7D4E-6B00-A6BB-211378EFC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C1814-BDB1-442E-A1B1-EF0820D5A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02884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1A7AE3-59DE-C0FD-E90D-F7F815DF5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01C6C1-A4F8-FB3A-C3EF-368E9CEB5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E001784-F76A-84C2-3DC7-2B6876724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D5BF017-81F3-D96D-189B-BA33FEACF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486E-85E9-4B23-B18C-E6900943AB8B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580F62B-BB81-5147-E8A4-5676C5E29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4C6781F-5C20-41B2-E22A-6E8FF751F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C1814-BDB1-442E-A1B1-EF0820D5A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00002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667C2D-B929-42E9-0B71-9F7F777BD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EB7D0F8-23CA-8220-125F-E90D888CF6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1A2CF8F-AC4F-74B8-FFDF-DF2FFE7E7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2A1AA63-CDCF-FCB4-C618-858684ECF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486E-85E9-4B23-B18C-E6900943AB8B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B8731C5-09E2-DD75-120F-00373C4C9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6EC626A-CC88-F530-C9B0-4B841E520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C1814-BDB1-442E-A1B1-EF0820D5A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93788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125D1C-743E-AD08-938F-980738473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E07DE43-1BA7-5AED-EAAE-D1EB147572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388F37-805B-F2CD-968B-DF7471A6C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486E-85E9-4B23-B18C-E6900943AB8B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43482D-FC00-4E00-2A89-D59CE1142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DA9ACBF-B109-5627-6B4E-D846925D7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C1814-BDB1-442E-A1B1-EF0820D5A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73523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B59D6D3-7A58-EE51-A844-BC5A57B9A8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95F564D-52C1-88C4-3588-C33DFE88EC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623B11-6424-10EE-AAFF-345200998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486E-85E9-4B23-B18C-E6900943AB8B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E40897-4691-E105-906F-23EDB67DA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172E7E-9A45-492B-A83D-0E0505825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C1814-BDB1-442E-A1B1-EF0820D5A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47903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213042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1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7977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áfico 67">
            <a:extLst>
              <a:ext uri="{FF2B5EF4-FFF2-40B4-BE49-F238E27FC236}">
                <a16:creationId xmlns:a16="http://schemas.microsoft.com/office/drawing/2014/main" id="{4BB66236-03E4-0F9D-F4C1-D95A3DD47A0C}"/>
              </a:ext>
            </a:extLst>
          </p:cNvPr>
          <p:cNvSpPr/>
          <p:nvPr userDrawn="1"/>
        </p:nvSpPr>
        <p:spPr>
          <a:xfrm>
            <a:off x="11043776" y="214085"/>
            <a:ext cx="524337" cy="262165"/>
          </a:xfrm>
          <a:custGeom>
            <a:avLst/>
            <a:gdLst>
              <a:gd name="connsiteX0" fmla="*/ 1639062 w 6556152"/>
              <a:gd name="connsiteY0" fmla="*/ 0 h 3278028"/>
              <a:gd name="connsiteX1" fmla="*/ 3278029 w 6556152"/>
              <a:gd name="connsiteY1" fmla="*/ 1639062 h 3278028"/>
              <a:gd name="connsiteX2" fmla="*/ 4917091 w 6556152"/>
              <a:gd name="connsiteY2" fmla="*/ 0 h 3278028"/>
              <a:gd name="connsiteX3" fmla="*/ 6556153 w 6556152"/>
              <a:gd name="connsiteY3" fmla="*/ 0 h 3278028"/>
              <a:gd name="connsiteX4" fmla="*/ 6556153 w 6556152"/>
              <a:gd name="connsiteY4" fmla="*/ 3278029 h 3278028"/>
              <a:gd name="connsiteX5" fmla="*/ 0 w 6556152"/>
              <a:gd name="connsiteY5" fmla="*/ 3278029 h 3278028"/>
              <a:gd name="connsiteX6" fmla="*/ 0 w 6556152"/>
              <a:gd name="connsiteY6" fmla="*/ 0 h 3278028"/>
              <a:gd name="connsiteX7" fmla="*/ 1639062 w 6556152"/>
              <a:gd name="connsiteY7" fmla="*/ 0 h 3278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6152" h="3278028">
                <a:moveTo>
                  <a:pt x="1639062" y="0"/>
                </a:moveTo>
                <a:cubicBezTo>
                  <a:pt x="2544223" y="0"/>
                  <a:pt x="3278029" y="733806"/>
                  <a:pt x="3278029" y="1639062"/>
                </a:cubicBezTo>
                <a:cubicBezTo>
                  <a:pt x="3278029" y="733806"/>
                  <a:pt x="4011835" y="0"/>
                  <a:pt x="4917091" y="0"/>
                </a:cubicBezTo>
                <a:lnTo>
                  <a:pt x="6556153" y="0"/>
                </a:lnTo>
                <a:lnTo>
                  <a:pt x="6556153" y="3278029"/>
                </a:lnTo>
                <a:lnTo>
                  <a:pt x="0" y="3278029"/>
                </a:lnTo>
                <a:lnTo>
                  <a:pt x="0" y="0"/>
                </a:lnTo>
                <a:lnTo>
                  <a:pt x="1639062" y="0"/>
                </a:lnTo>
                <a:close/>
              </a:path>
            </a:pathLst>
          </a:custGeom>
          <a:solidFill>
            <a:srgbClr val="00B2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F73EFE87-6361-084B-1934-5D89BBB48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657225"/>
            <a:ext cx="10944225" cy="1010937"/>
          </a:xfrm>
        </p:spPr>
        <p:txBody>
          <a:bodyPr lIns="0" tIns="0" rIns="0" bIns="0" anchor="t">
            <a:normAutofit/>
          </a:bodyPr>
          <a:lstStyle>
            <a:lvl1pPr>
              <a:defRPr sz="3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639E5656-07BC-BDC0-A694-1C85181FF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844675"/>
            <a:ext cx="10944226" cy="4608513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16" name="Gráfico 15">
            <a:extLst>
              <a:ext uri="{FF2B5EF4-FFF2-40B4-BE49-F238E27FC236}">
                <a16:creationId xmlns:a16="http://schemas.microsoft.com/office/drawing/2014/main" id="{53F7A145-3DB7-BA49-54A1-6E2525E1A7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77325" y="4787900"/>
            <a:ext cx="3133725" cy="208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514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287">
          <p15:clr>
            <a:srgbClr val="FBAE40"/>
          </p15:clr>
        </p15:guide>
        <p15:guide id="5" orient="horz" pos="414">
          <p15:clr>
            <a:srgbClr val="FBAE40"/>
          </p15:clr>
        </p15:guide>
        <p15:guide id="6" orient="horz" pos="1049">
          <p15:clr>
            <a:srgbClr val="FBAE40"/>
          </p15:clr>
        </p15:guide>
        <p15:guide id="7" orient="horz" pos="1162">
          <p15:clr>
            <a:srgbClr val="FBAE40"/>
          </p15:clr>
        </p15:guide>
        <p15:guide id="8" orient="horz" pos="4020">
          <p15:clr>
            <a:srgbClr val="FBAE40"/>
          </p15:clr>
        </p15:guide>
        <p15:guide id="9" orient="horz" pos="30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áfico 67">
            <a:extLst>
              <a:ext uri="{FF2B5EF4-FFF2-40B4-BE49-F238E27FC236}">
                <a16:creationId xmlns:a16="http://schemas.microsoft.com/office/drawing/2014/main" id="{4BB66236-03E4-0F9D-F4C1-D95A3DD47A0C}"/>
              </a:ext>
            </a:extLst>
          </p:cNvPr>
          <p:cNvSpPr/>
          <p:nvPr userDrawn="1"/>
        </p:nvSpPr>
        <p:spPr>
          <a:xfrm>
            <a:off x="11043776" y="214085"/>
            <a:ext cx="524337" cy="262165"/>
          </a:xfrm>
          <a:custGeom>
            <a:avLst/>
            <a:gdLst>
              <a:gd name="connsiteX0" fmla="*/ 1639062 w 6556152"/>
              <a:gd name="connsiteY0" fmla="*/ 0 h 3278028"/>
              <a:gd name="connsiteX1" fmla="*/ 3278029 w 6556152"/>
              <a:gd name="connsiteY1" fmla="*/ 1639062 h 3278028"/>
              <a:gd name="connsiteX2" fmla="*/ 4917091 w 6556152"/>
              <a:gd name="connsiteY2" fmla="*/ 0 h 3278028"/>
              <a:gd name="connsiteX3" fmla="*/ 6556153 w 6556152"/>
              <a:gd name="connsiteY3" fmla="*/ 0 h 3278028"/>
              <a:gd name="connsiteX4" fmla="*/ 6556153 w 6556152"/>
              <a:gd name="connsiteY4" fmla="*/ 3278029 h 3278028"/>
              <a:gd name="connsiteX5" fmla="*/ 0 w 6556152"/>
              <a:gd name="connsiteY5" fmla="*/ 3278029 h 3278028"/>
              <a:gd name="connsiteX6" fmla="*/ 0 w 6556152"/>
              <a:gd name="connsiteY6" fmla="*/ 0 h 3278028"/>
              <a:gd name="connsiteX7" fmla="*/ 1639062 w 6556152"/>
              <a:gd name="connsiteY7" fmla="*/ 0 h 3278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6152" h="3278028">
                <a:moveTo>
                  <a:pt x="1639062" y="0"/>
                </a:moveTo>
                <a:cubicBezTo>
                  <a:pt x="2544223" y="0"/>
                  <a:pt x="3278029" y="733806"/>
                  <a:pt x="3278029" y="1639062"/>
                </a:cubicBezTo>
                <a:cubicBezTo>
                  <a:pt x="3278029" y="733806"/>
                  <a:pt x="4011835" y="0"/>
                  <a:pt x="4917091" y="0"/>
                </a:cubicBezTo>
                <a:lnTo>
                  <a:pt x="6556153" y="0"/>
                </a:lnTo>
                <a:lnTo>
                  <a:pt x="6556153" y="3278029"/>
                </a:lnTo>
                <a:lnTo>
                  <a:pt x="0" y="3278029"/>
                </a:lnTo>
                <a:lnTo>
                  <a:pt x="0" y="0"/>
                </a:lnTo>
                <a:lnTo>
                  <a:pt x="1639062" y="0"/>
                </a:lnTo>
                <a:close/>
              </a:path>
            </a:pathLst>
          </a:custGeom>
          <a:solidFill>
            <a:srgbClr val="00B2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F73EFE87-6361-084B-1934-5D89BBB48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657225"/>
            <a:ext cx="10944225" cy="1010937"/>
          </a:xfrm>
        </p:spPr>
        <p:txBody>
          <a:bodyPr lIns="0" tIns="0" rIns="0" bIns="0" anchor="t">
            <a:normAutofit/>
          </a:bodyPr>
          <a:lstStyle>
            <a:lvl1pPr>
              <a:defRPr sz="3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639E5656-07BC-BDC0-A694-1C85181FF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844675"/>
            <a:ext cx="10944226" cy="4608513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208CE020-B11D-2BAC-E71D-5DFE3A141A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91750" y="4857750"/>
            <a:ext cx="20193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8628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287">
          <p15:clr>
            <a:srgbClr val="FBAE40"/>
          </p15:clr>
        </p15:guide>
        <p15:guide id="5" orient="horz" pos="414">
          <p15:clr>
            <a:srgbClr val="FBAE40"/>
          </p15:clr>
        </p15:guide>
        <p15:guide id="6" orient="horz" pos="1049">
          <p15:clr>
            <a:srgbClr val="FBAE40"/>
          </p15:clr>
        </p15:guide>
        <p15:guide id="7" orient="horz" pos="1162">
          <p15:clr>
            <a:srgbClr val="FBAE40"/>
          </p15:clr>
        </p15:guide>
        <p15:guide id="8" orient="horz" pos="4020">
          <p15:clr>
            <a:srgbClr val="FBAE40"/>
          </p15:clr>
        </p15:guide>
        <p15:guide id="9" orient="horz" pos="30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áfico 67">
            <a:extLst>
              <a:ext uri="{FF2B5EF4-FFF2-40B4-BE49-F238E27FC236}">
                <a16:creationId xmlns:a16="http://schemas.microsoft.com/office/drawing/2014/main" id="{4BB66236-03E4-0F9D-F4C1-D95A3DD47A0C}"/>
              </a:ext>
            </a:extLst>
          </p:cNvPr>
          <p:cNvSpPr/>
          <p:nvPr userDrawn="1"/>
        </p:nvSpPr>
        <p:spPr>
          <a:xfrm>
            <a:off x="11043776" y="214085"/>
            <a:ext cx="524337" cy="262165"/>
          </a:xfrm>
          <a:custGeom>
            <a:avLst/>
            <a:gdLst>
              <a:gd name="connsiteX0" fmla="*/ 1639062 w 6556152"/>
              <a:gd name="connsiteY0" fmla="*/ 0 h 3278028"/>
              <a:gd name="connsiteX1" fmla="*/ 3278029 w 6556152"/>
              <a:gd name="connsiteY1" fmla="*/ 1639062 h 3278028"/>
              <a:gd name="connsiteX2" fmla="*/ 4917091 w 6556152"/>
              <a:gd name="connsiteY2" fmla="*/ 0 h 3278028"/>
              <a:gd name="connsiteX3" fmla="*/ 6556153 w 6556152"/>
              <a:gd name="connsiteY3" fmla="*/ 0 h 3278028"/>
              <a:gd name="connsiteX4" fmla="*/ 6556153 w 6556152"/>
              <a:gd name="connsiteY4" fmla="*/ 3278029 h 3278028"/>
              <a:gd name="connsiteX5" fmla="*/ 0 w 6556152"/>
              <a:gd name="connsiteY5" fmla="*/ 3278029 h 3278028"/>
              <a:gd name="connsiteX6" fmla="*/ 0 w 6556152"/>
              <a:gd name="connsiteY6" fmla="*/ 0 h 3278028"/>
              <a:gd name="connsiteX7" fmla="*/ 1639062 w 6556152"/>
              <a:gd name="connsiteY7" fmla="*/ 0 h 3278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6152" h="3278028">
                <a:moveTo>
                  <a:pt x="1639062" y="0"/>
                </a:moveTo>
                <a:cubicBezTo>
                  <a:pt x="2544223" y="0"/>
                  <a:pt x="3278029" y="733806"/>
                  <a:pt x="3278029" y="1639062"/>
                </a:cubicBezTo>
                <a:cubicBezTo>
                  <a:pt x="3278029" y="733806"/>
                  <a:pt x="4011835" y="0"/>
                  <a:pt x="4917091" y="0"/>
                </a:cubicBezTo>
                <a:lnTo>
                  <a:pt x="6556153" y="0"/>
                </a:lnTo>
                <a:lnTo>
                  <a:pt x="6556153" y="3278029"/>
                </a:lnTo>
                <a:lnTo>
                  <a:pt x="0" y="3278029"/>
                </a:lnTo>
                <a:lnTo>
                  <a:pt x="0" y="0"/>
                </a:lnTo>
                <a:lnTo>
                  <a:pt x="1639062" y="0"/>
                </a:lnTo>
                <a:close/>
              </a:path>
            </a:pathLst>
          </a:custGeom>
          <a:solidFill>
            <a:srgbClr val="00B2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F73EFE87-6361-084B-1934-5D89BBB48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657225"/>
            <a:ext cx="10944225" cy="1010937"/>
          </a:xfrm>
        </p:spPr>
        <p:txBody>
          <a:bodyPr lIns="0" tIns="0" rIns="0" bIns="0" anchor="t">
            <a:normAutofit/>
          </a:bodyPr>
          <a:lstStyle>
            <a:lvl1pPr>
              <a:defRPr sz="3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639E5656-07BC-BDC0-A694-1C85181FF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844675"/>
            <a:ext cx="10944226" cy="4608513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2FEA67B1-BE8E-2E6F-1AFB-67D91A1865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631" b="2292"/>
          <a:stretch/>
        </p:blipFill>
        <p:spPr>
          <a:xfrm rot="16200000" flipH="1">
            <a:off x="10165876" y="4831878"/>
            <a:ext cx="2032947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1011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287">
          <p15:clr>
            <a:srgbClr val="FBAE40"/>
          </p15:clr>
        </p15:guide>
        <p15:guide id="5" orient="horz" pos="414">
          <p15:clr>
            <a:srgbClr val="FBAE40"/>
          </p15:clr>
        </p15:guide>
        <p15:guide id="6" orient="horz" pos="1049">
          <p15:clr>
            <a:srgbClr val="FBAE40"/>
          </p15:clr>
        </p15:guide>
        <p15:guide id="7" orient="horz" pos="1162">
          <p15:clr>
            <a:srgbClr val="FBAE40"/>
          </p15:clr>
        </p15:guide>
        <p15:guide id="8" orient="horz" pos="4020">
          <p15:clr>
            <a:srgbClr val="FBAE40"/>
          </p15:clr>
        </p15:guide>
        <p15:guide id="9" orient="horz" pos="30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áfico 67">
            <a:extLst>
              <a:ext uri="{FF2B5EF4-FFF2-40B4-BE49-F238E27FC236}">
                <a16:creationId xmlns:a16="http://schemas.microsoft.com/office/drawing/2014/main" id="{4BB66236-03E4-0F9D-F4C1-D95A3DD47A0C}"/>
              </a:ext>
            </a:extLst>
          </p:cNvPr>
          <p:cNvSpPr/>
          <p:nvPr userDrawn="1"/>
        </p:nvSpPr>
        <p:spPr>
          <a:xfrm>
            <a:off x="11043776" y="214085"/>
            <a:ext cx="524337" cy="262165"/>
          </a:xfrm>
          <a:custGeom>
            <a:avLst/>
            <a:gdLst>
              <a:gd name="connsiteX0" fmla="*/ 1639062 w 6556152"/>
              <a:gd name="connsiteY0" fmla="*/ 0 h 3278028"/>
              <a:gd name="connsiteX1" fmla="*/ 3278029 w 6556152"/>
              <a:gd name="connsiteY1" fmla="*/ 1639062 h 3278028"/>
              <a:gd name="connsiteX2" fmla="*/ 4917091 w 6556152"/>
              <a:gd name="connsiteY2" fmla="*/ 0 h 3278028"/>
              <a:gd name="connsiteX3" fmla="*/ 6556153 w 6556152"/>
              <a:gd name="connsiteY3" fmla="*/ 0 h 3278028"/>
              <a:gd name="connsiteX4" fmla="*/ 6556153 w 6556152"/>
              <a:gd name="connsiteY4" fmla="*/ 3278029 h 3278028"/>
              <a:gd name="connsiteX5" fmla="*/ 0 w 6556152"/>
              <a:gd name="connsiteY5" fmla="*/ 3278029 h 3278028"/>
              <a:gd name="connsiteX6" fmla="*/ 0 w 6556152"/>
              <a:gd name="connsiteY6" fmla="*/ 0 h 3278028"/>
              <a:gd name="connsiteX7" fmla="*/ 1639062 w 6556152"/>
              <a:gd name="connsiteY7" fmla="*/ 0 h 3278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6152" h="3278028">
                <a:moveTo>
                  <a:pt x="1639062" y="0"/>
                </a:moveTo>
                <a:cubicBezTo>
                  <a:pt x="2544223" y="0"/>
                  <a:pt x="3278029" y="733806"/>
                  <a:pt x="3278029" y="1639062"/>
                </a:cubicBezTo>
                <a:cubicBezTo>
                  <a:pt x="3278029" y="733806"/>
                  <a:pt x="4011835" y="0"/>
                  <a:pt x="4917091" y="0"/>
                </a:cubicBezTo>
                <a:lnTo>
                  <a:pt x="6556153" y="0"/>
                </a:lnTo>
                <a:lnTo>
                  <a:pt x="6556153" y="3278029"/>
                </a:lnTo>
                <a:lnTo>
                  <a:pt x="0" y="3278029"/>
                </a:lnTo>
                <a:lnTo>
                  <a:pt x="0" y="0"/>
                </a:lnTo>
                <a:lnTo>
                  <a:pt x="1639062" y="0"/>
                </a:lnTo>
                <a:close/>
              </a:path>
            </a:pathLst>
          </a:custGeom>
          <a:solidFill>
            <a:srgbClr val="00B2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F73EFE87-6361-084B-1934-5D89BBB48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657225"/>
            <a:ext cx="10944225" cy="1010937"/>
          </a:xfrm>
        </p:spPr>
        <p:txBody>
          <a:bodyPr lIns="0" tIns="0" rIns="0" bIns="0" anchor="t">
            <a:normAutofit/>
          </a:bodyPr>
          <a:lstStyle>
            <a:lvl1pPr>
              <a:defRPr sz="3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639E5656-07BC-BDC0-A694-1C85181FF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844675"/>
            <a:ext cx="10944226" cy="4608513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333649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287">
          <p15:clr>
            <a:srgbClr val="FBAE40"/>
          </p15:clr>
        </p15:guide>
        <p15:guide id="5" orient="horz" pos="414">
          <p15:clr>
            <a:srgbClr val="FBAE40"/>
          </p15:clr>
        </p15:guide>
        <p15:guide id="6" orient="horz" pos="1049">
          <p15:clr>
            <a:srgbClr val="FBAE40"/>
          </p15:clr>
        </p15:guide>
        <p15:guide id="7" orient="horz" pos="1162">
          <p15:clr>
            <a:srgbClr val="FBAE40"/>
          </p15:clr>
        </p15:guide>
        <p15:guide id="8" orient="horz" pos="4020">
          <p15:clr>
            <a:srgbClr val="FBAE40"/>
          </p15:clr>
        </p15:guide>
        <p15:guide id="9" orient="horz" pos="30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Único Canto Arredondado 4">
            <a:extLst>
              <a:ext uri="{FF2B5EF4-FFF2-40B4-BE49-F238E27FC236}">
                <a16:creationId xmlns:a16="http://schemas.microsoft.com/office/drawing/2014/main" id="{0CC4135E-4127-9EA2-C5F1-D9B98518E016}"/>
              </a:ext>
            </a:extLst>
          </p:cNvPr>
          <p:cNvSpPr/>
          <p:nvPr userDrawn="1"/>
        </p:nvSpPr>
        <p:spPr>
          <a:xfrm>
            <a:off x="0" y="0"/>
            <a:ext cx="4069080" cy="6858000"/>
          </a:xfrm>
          <a:prstGeom prst="round1Rect">
            <a:avLst/>
          </a:prstGeom>
          <a:solidFill>
            <a:srgbClr val="00B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Gráfico 67">
            <a:extLst>
              <a:ext uri="{FF2B5EF4-FFF2-40B4-BE49-F238E27FC236}">
                <a16:creationId xmlns:a16="http://schemas.microsoft.com/office/drawing/2014/main" id="{4BB66236-03E4-0F9D-F4C1-D95A3DD47A0C}"/>
              </a:ext>
            </a:extLst>
          </p:cNvPr>
          <p:cNvSpPr/>
          <p:nvPr userDrawn="1"/>
        </p:nvSpPr>
        <p:spPr>
          <a:xfrm>
            <a:off x="11043776" y="214085"/>
            <a:ext cx="524337" cy="262165"/>
          </a:xfrm>
          <a:custGeom>
            <a:avLst/>
            <a:gdLst>
              <a:gd name="connsiteX0" fmla="*/ 1639062 w 6556152"/>
              <a:gd name="connsiteY0" fmla="*/ 0 h 3278028"/>
              <a:gd name="connsiteX1" fmla="*/ 3278029 w 6556152"/>
              <a:gd name="connsiteY1" fmla="*/ 1639062 h 3278028"/>
              <a:gd name="connsiteX2" fmla="*/ 4917091 w 6556152"/>
              <a:gd name="connsiteY2" fmla="*/ 0 h 3278028"/>
              <a:gd name="connsiteX3" fmla="*/ 6556153 w 6556152"/>
              <a:gd name="connsiteY3" fmla="*/ 0 h 3278028"/>
              <a:gd name="connsiteX4" fmla="*/ 6556153 w 6556152"/>
              <a:gd name="connsiteY4" fmla="*/ 3278029 h 3278028"/>
              <a:gd name="connsiteX5" fmla="*/ 0 w 6556152"/>
              <a:gd name="connsiteY5" fmla="*/ 3278029 h 3278028"/>
              <a:gd name="connsiteX6" fmla="*/ 0 w 6556152"/>
              <a:gd name="connsiteY6" fmla="*/ 0 h 3278028"/>
              <a:gd name="connsiteX7" fmla="*/ 1639062 w 6556152"/>
              <a:gd name="connsiteY7" fmla="*/ 0 h 3278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6152" h="3278028">
                <a:moveTo>
                  <a:pt x="1639062" y="0"/>
                </a:moveTo>
                <a:cubicBezTo>
                  <a:pt x="2544223" y="0"/>
                  <a:pt x="3278029" y="733806"/>
                  <a:pt x="3278029" y="1639062"/>
                </a:cubicBezTo>
                <a:cubicBezTo>
                  <a:pt x="3278029" y="733806"/>
                  <a:pt x="4011835" y="0"/>
                  <a:pt x="4917091" y="0"/>
                </a:cubicBezTo>
                <a:lnTo>
                  <a:pt x="6556153" y="0"/>
                </a:lnTo>
                <a:lnTo>
                  <a:pt x="6556153" y="3278029"/>
                </a:lnTo>
                <a:lnTo>
                  <a:pt x="0" y="3278029"/>
                </a:lnTo>
                <a:lnTo>
                  <a:pt x="0" y="0"/>
                </a:lnTo>
                <a:lnTo>
                  <a:pt x="1639062" y="0"/>
                </a:lnTo>
                <a:close/>
              </a:path>
            </a:pathLst>
          </a:custGeom>
          <a:solidFill>
            <a:srgbClr val="00B2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02722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287">
          <p15:clr>
            <a:srgbClr val="FBAE40"/>
          </p15:clr>
        </p15:guide>
        <p15:guide id="5" orient="horz" pos="414">
          <p15:clr>
            <a:srgbClr val="FBAE40"/>
          </p15:clr>
        </p15:guide>
        <p15:guide id="6" orient="horz" pos="1049">
          <p15:clr>
            <a:srgbClr val="FBAE40"/>
          </p15:clr>
        </p15:guide>
        <p15:guide id="7" orient="horz" pos="1162">
          <p15:clr>
            <a:srgbClr val="FBAE40"/>
          </p15:clr>
        </p15:guide>
        <p15:guide id="8" orient="horz" pos="4020">
          <p15:clr>
            <a:srgbClr val="FBAE40"/>
          </p15:clr>
        </p15:guide>
        <p15:guide id="9" orient="horz" pos="30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bg>
      <p:bgPr>
        <a:solidFill>
          <a:srgbClr val="00B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áfico 67">
            <a:extLst>
              <a:ext uri="{FF2B5EF4-FFF2-40B4-BE49-F238E27FC236}">
                <a16:creationId xmlns:a16="http://schemas.microsoft.com/office/drawing/2014/main" id="{4BB66236-03E4-0F9D-F4C1-D95A3DD47A0C}"/>
              </a:ext>
            </a:extLst>
          </p:cNvPr>
          <p:cNvSpPr/>
          <p:nvPr userDrawn="1"/>
        </p:nvSpPr>
        <p:spPr>
          <a:xfrm>
            <a:off x="11043776" y="214085"/>
            <a:ext cx="524337" cy="262165"/>
          </a:xfrm>
          <a:custGeom>
            <a:avLst/>
            <a:gdLst>
              <a:gd name="connsiteX0" fmla="*/ 1639062 w 6556152"/>
              <a:gd name="connsiteY0" fmla="*/ 0 h 3278028"/>
              <a:gd name="connsiteX1" fmla="*/ 3278029 w 6556152"/>
              <a:gd name="connsiteY1" fmla="*/ 1639062 h 3278028"/>
              <a:gd name="connsiteX2" fmla="*/ 4917091 w 6556152"/>
              <a:gd name="connsiteY2" fmla="*/ 0 h 3278028"/>
              <a:gd name="connsiteX3" fmla="*/ 6556153 w 6556152"/>
              <a:gd name="connsiteY3" fmla="*/ 0 h 3278028"/>
              <a:gd name="connsiteX4" fmla="*/ 6556153 w 6556152"/>
              <a:gd name="connsiteY4" fmla="*/ 3278029 h 3278028"/>
              <a:gd name="connsiteX5" fmla="*/ 0 w 6556152"/>
              <a:gd name="connsiteY5" fmla="*/ 3278029 h 3278028"/>
              <a:gd name="connsiteX6" fmla="*/ 0 w 6556152"/>
              <a:gd name="connsiteY6" fmla="*/ 0 h 3278028"/>
              <a:gd name="connsiteX7" fmla="*/ 1639062 w 6556152"/>
              <a:gd name="connsiteY7" fmla="*/ 0 h 3278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6152" h="3278028">
                <a:moveTo>
                  <a:pt x="1639062" y="0"/>
                </a:moveTo>
                <a:cubicBezTo>
                  <a:pt x="2544223" y="0"/>
                  <a:pt x="3278029" y="733806"/>
                  <a:pt x="3278029" y="1639062"/>
                </a:cubicBezTo>
                <a:cubicBezTo>
                  <a:pt x="3278029" y="733806"/>
                  <a:pt x="4011835" y="0"/>
                  <a:pt x="4917091" y="0"/>
                </a:cubicBezTo>
                <a:lnTo>
                  <a:pt x="6556153" y="0"/>
                </a:lnTo>
                <a:lnTo>
                  <a:pt x="6556153" y="3278029"/>
                </a:lnTo>
                <a:lnTo>
                  <a:pt x="0" y="3278029"/>
                </a:lnTo>
                <a:lnTo>
                  <a:pt x="0" y="0"/>
                </a:lnTo>
                <a:lnTo>
                  <a:pt x="1639062" y="0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F73EFE87-6361-084B-1934-5D89BBB48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657225"/>
            <a:ext cx="10944225" cy="1010937"/>
          </a:xfrm>
        </p:spPr>
        <p:txBody>
          <a:bodyPr lIns="0" tIns="0" rIns="0" bIns="0" anchor="t">
            <a:normAutofit/>
          </a:bodyPr>
          <a:lstStyle>
            <a:lvl1pPr>
              <a:defRPr sz="3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639E5656-07BC-BDC0-A694-1C85181FF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844675"/>
            <a:ext cx="10944226" cy="4608513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38435584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287">
          <p15:clr>
            <a:srgbClr val="FBAE40"/>
          </p15:clr>
        </p15:guide>
        <p15:guide id="5" orient="horz" pos="414">
          <p15:clr>
            <a:srgbClr val="FBAE40"/>
          </p15:clr>
        </p15:guide>
        <p15:guide id="6" orient="horz" pos="1049">
          <p15:clr>
            <a:srgbClr val="FBAE40"/>
          </p15:clr>
        </p15:guide>
        <p15:guide id="7" orient="horz" pos="1162">
          <p15:clr>
            <a:srgbClr val="FBAE40"/>
          </p15:clr>
        </p15:guide>
        <p15:guide id="8" orient="horz" pos="4020">
          <p15:clr>
            <a:srgbClr val="FBAE40"/>
          </p15:clr>
        </p15:guide>
        <p15:guide id="9" orient="horz" pos="30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bg>
      <p:bgPr>
        <a:solidFill>
          <a:srgbClr val="444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F73EFE87-6361-084B-1934-5D89BBB48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657225"/>
            <a:ext cx="10944225" cy="1010937"/>
          </a:xfrm>
        </p:spPr>
        <p:txBody>
          <a:bodyPr lIns="0" tIns="0" rIns="0" bIns="0" anchor="t">
            <a:normAutofit/>
          </a:bodyPr>
          <a:lstStyle>
            <a:lvl1pPr>
              <a:defRPr sz="3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639E5656-07BC-BDC0-A694-1C85181FF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844675"/>
            <a:ext cx="10944226" cy="4608513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" name="Gráfico 67">
            <a:extLst>
              <a:ext uri="{FF2B5EF4-FFF2-40B4-BE49-F238E27FC236}">
                <a16:creationId xmlns:a16="http://schemas.microsoft.com/office/drawing/2014/main" id="{0C08BA2D-86E1-CE96-BE4F-2CBDA3CC6DFA}"/>
              </a:ext>
            </a:extLst>
          </p:cNvPr>
          <p:cNvSpPr/>
          <p:nvPr userDrawn="1"/>
        </p:nvSpPr>
        <p:spPr>
          <a:xfrm>
            <a:off x="11043776" y="214085"/>
            <a:ext cx="524337" cy="262165"/>
          </a:xfrm>
          <a:custGeom>
            <a:avLst/>
            <a:gdLst>
              <a:gd name="connsiteX0" fmla="*/ 1639062 w 6556152"/>
              <a:gd name="connsiteY0" fmla="*/ 0 h 3278028"/>
              <a:gd name="connsiteX1" fmla="*/ 3278029 w 6556152"/>
              <a:gd name="connsiteY1" fmla="*/ 1639062 h 3278028"/>
              <a:gd name="connsiteX2" fmla="*/ 4917091 w 6556152"/>
              <a:gd name="connsiteY2" fmla="*/ 0 h 3278028"/>
              <a:gd name="connsiteX3" fmla="*/ 6556153 w 6556152"/>
              <a:gd name="connsiteY3" fmla="*/ 0 h 3278028"/>
              <a:gd name="connsiteX4" fmla="*/ 6556153 w 6556152"/>
              <a:gd name="connsiteY4" fmla="*/ 3278029 h 3278028"/>
              <a:gd name="connsiteX5" fmla="*/ 0 w 6556152"/>
              <a:gd name="connsiteY5" fmla="*/ 3278029 h 3278028"/>
              <a:gd name="connsiteX6" fmla="*/ 0 w 6556152"/>
              <a:gd name="connsiteY6" fmla="*/ 0 h 3278028"/>
              <a:gd name="connsiteX7" fmla="*/ 1639062 w 6556152"/>
              <a:gd name="connsiteY7" fmla="*/ 0 h 3278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6152" h="3278028">
                <a:moveTo>
                  <a:pt x="1639062" y="0"/>
                </a:moveTo>
                <a:cubicBezTo>
                  <a:pt x="2544223" y="0"/>
                  <a:pt x="3278029" y="733806"/>
                  <a:pt x="3278029" y="1639062"/>
                </a:cubicBezTo>
                <a:cubicBezTo>
                  <a:pt x="3278029" y="733806"/>
                  <a:pt x="4011835" y="0"/>
                  <a:pt x="4917091" y="0"/>
                </a:cubicBezTo>
                <a:lnTo>
                  <a:pt x="6556153" y="0"/>
                </a:lnTo>
                <a:lnTo>
                  <a:pt x="6556153" y="3278029"/>
                </a:lnTo>
                <a:lnTo>
                  <a:pt x="0" y="3278029"/>
                </a:lnTo>
                <a:lnTo>
                  <a:pt x="0" y="0"/>
                </a:lnTo>
                <a:lnTo>
                  <a:pt x="1639062" y="0"/>
                </a:lnTo>
                <a:close/>
              </a:path>
            </a:pathLst>
          </a:custGeom>
          <a:solidFill>
            <a:srgbClr val="00B2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04633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287">
          <p15:clr>
            <a:srgbClr val="FBAE40"/>
          </p15:clr>
        </p15:guide>
        <p15:guide id="5" orient="horz" pos="414">
          <p15:clr>
            <a:srgbClr val="FBAE40"/>
          </p15:clr>
        </p15:guide>
        <p15:guide id="6" orient="horz" pos="1049">
          <p15:clr>
            <a:srgbClr val="FBAE40"/>
          </p15:clr>
        </p15:guide>
        <p15:guide id="7" orient="horz" pos="1162">
          <p15:clr>
            <a:srgbClr val="FBAE40"/>
          </p15:clr>
        </p15:guide>
        <p15:guide id="8" orient="horz" pos="4020">
          <p15:clr>
            <a:srgbClr val="FBAE40"/>
          </p15:clr>
        </p15:guide>
        <p15:guide id="9" orient="horz" pos="30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de Título">
    <p:bg>
      <p:bgPr>
        <a:solidFill>
          <a:srgbClr val="FC7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áfico 67">
            <a:extLst>
              <a:ext uri="{FF2B5EF4-FFF2-40B4-BE49-F238E27FC236}">
                <a16:creationId xmlns:a16="http://schemas.microsoft.com/office/drawing/2014/main" id="{4BB66236-03E4-0F9D-F4C1-D95A3DD47A0C}"/>
              </a:ext>
            </a:extLst>
          </p:cNvPr>
          <p:cNvSpPr/>
          <p:nvPr userDrawn="1"/>
        </p:nvSpPr>
        <p:spPr>
          <a:xfrm>
            <a:off x="11043776" y="214085"/>
            <a:ext cx="524337" cy="262165"/>
          </a:xfrm>
          <a:custGeom>
            <a:avLst/>
            <a:gdLst>
              <a:gd name="connsiteX0" fmla="*/ 1639062 w 6556152"/>
              <a:gd name="connsiteY0" fmla="*/ 0 h 3278028"/>
              <a:gd name="connsiteX1" fmla="*/ 3278029 w 6556152"/>
              <a:gd name="connsiteY1" fmla="*/ 1639062 h 3278028"/>
              <a:gd name="connsiteX2" fmla="*/ 4917091 w 6556152"/>
              <a:gd name="connsiteY2" fmla="*/ 0 h 3278028"/>
              <a:gd name="connsiteX3" fmla="*/ 6556153 w 6556152"/>
              <a:gd name="connsiteY3" fmla="*/ 0 h 3278028"/>
              <a:gd name="connsiteX4" fmla="*/ 6556153 w 6556152"/>
              <a:gd name="connsiteY4" fmla="*/ 3278029 h 3278028"/>
              <a:gd name="connsiteX5" fmla="*/ 0 w 6556152"/>
              <a:gd name="connsiteY5" fmla="*/ 3278029 h 3278028"/>
              <a:gd name="connsiteX6" fmla="*/ 0 w 6556152"/>
              <a:gd name="connsiteY6" fmla="*/ 0 h 3278028"/>
              <a:gd name="connsiteX7" fmla="*/ 1639062 w 6556152"/>
              <a:gd name="connsiteY7" fmla="*/ 0 h 3278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6152" h="3278028">
                <a:moveTo>
                  <a:pt x="1639062" y="0"/>
                </a:moveTo>
                <a:cubicBezTo>
                  <a:pt x="2544223" y="0"/>
                  <a:pt x="3278029" y="733806"/>
                  <a:pt x="3278029" y="1639062"/>
                </a:cubicBezTo>
                <a:cubicBezTo>
                  <a:pt x="3278029" y="733806"/>
                  <a:pt x="4011835" y="0"/>
                  <a:pt x="4917091" y="0"/>
                </a:cubicBezTo>
                <a:lnTo>
                  <a:pt x="6556153" y="0"/>
                </a:lnTo>
                <a:lnTo>
                  <a:pt x="6556153" y="3278029"/>
                </a:lnTo>
                <a:lnTo>
                  <a:pt x="0" y="3278029"/>
                </a:lnTo>
                <a:lnTo>
                  <a:pt x="0" y="0"/>
                </a:lnTo>
                <a:lnTo>
                  <a:pt x="1639062" y="0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F73EFE87-6361-084B-1934-5D89BBB48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657225"/>
            <a:ext cx="10944225" cy="1010937"/>
          </a:xfrm>
        </p:spPr>
        <p:txBody>
          <a:bodyPr lIns="0" tIns="0" rIns="0" bIns="0" anchor="t">
            <a:normAutofit/>
          </a:bodyPr>
          <a:lstStyle>
            <a:lvl1pPr>
              <a:defRPr sz="3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639E5656-07BC-BDC0-A694-1C85181FF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844675"/>
            <a:ext cx="10944226" cy="4608513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6659998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287">
          <p15:clr>
            <a:srgbClr val="FBAE40"/>
          </p15:clr>
        </p15:guide>
        <p15:guide id="5" orient="horz" pos="414">
          <p15:clr>
            <a:srgbClr val="FBAE40"/>
          </p15:clr>
        </p15:guide>
        <p15:guide id="6" orient="horz" pos="1049">
          <p15:clr>
            <a:srgbClr val="FBAE40"/>
          </p15:clr>
        </p15:guide>
        <p15:guide id="7" orient="horz" pos="1162">
          <p15:clr>
            <a:srgbClr val="FBAE40"/>
          </p15:clr>
        </p15:guide>
        <p15:guide id="8" orient="horz" pos="4020">
          <p15:clr>
            <a:srgbClr val="FBAE40"/>
          </p15:clr>
        </p15:guide>
        <p15:guide id="9" orient="horz" pos="30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de Título">
    <p:bg>
      <p:bgPr>
        <a:solidFill>
          <a:srgbClr val="FC7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áfico 67">
            <a:extLst>
              <a:ext uri="{FF2B5EF4-FFF2-40B4-BE49-F238E27FC236}">
                <a16:creationId xmlns:a16="http://schemas.microsoft.com/office/drawing/2014/main" id="{4BB66236-03E4-0F9D-F4C1-D95A3DD47A0C}"/>
              </a:ext>
            </a:extLst>
          </p:cNvPr>
          <p:cNvSpPr/>
          <p:nvPr userDrawn="1"/>
        </p:nvSpPr>
        <p:spPr>
          <a:xfrm>
            <a:off x="623888" y="214085"/>
            <a:ext cx="524337" cy="262165"/>
          </a:xfrm>
          <a:custGeom>
            <a:avLst/>
            <a:gdLst>
              <a:gd name="connsiteX0" fmla="*/ 1639062 w 6556152"/>
              <a:gd name="connsiteY0" fmla="*/ 0 h 3278028"/>
              <a:gd name="connsiteX1" fmla="*/ 3278029 w 6556152"/>
              <a:gd name="connsiteY1" fmla="*/ 1639062 h 3278028"/>
              <a:gd name="connsiteX2" fmla="*/ 4917091 w 6556152"/>
              <a:gd name="connsiteY2" fmla="*/ 0 h 3278028"/>
              <a:gd name="connsiteX3" fmla="*/ 6556153 w 6556152"/>
              <a:gd name="connsiteY3" fmla="*/ 0 h 3278028"/>
              <a:gd name="connsiteX4" fmla="*/ 6556153 w 6556152"/>
              <a:gd name="connsiteY4" fmla="*/ 3278029 h 3278028"/>
              <a:gd name="connsiteX5" fmla="*/ 0 w 6556152"/>
              <a:gd name="connsiteY5" fmla="*/ 3278029 h 3278028"/>
              <a:gd name="connsiteX6" fmla="*/ 0 w 6556152"/>
              <a:gd name="connsiteY6" fmla="*/ 0 h 3278028"/>
              <a:gd name="connsiteX7" fmla="*/ 1639062 w 6556152"/>
              <a:gd name="connsiteY7" fmla="*/ 0 h 3278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6152" h="3278028">
                <a:moveTo>
                  <a:pt x="1639062" y="0"/>
                </a:moveTo>
                <a:cubicBezTo>
                  <a:pt x="2544223" y="0"/>
                  <a:pt x="3278029" y="733806"/>
                  <a:pt x="3278029" y="1639062"/>
                </a:cubicBezTo>
                <a:cubicBezTo>
                  <a:pt x="3278029" y="733806"/>
                  <a:pt x="4011835" y="0"/>
                  <a:pt x="4917091" y="0"/>
                </a:cubicBezTo>
                <a:lnTo>
                  <a:pt x="6556153" y="0"/>
                </a:lnTo>
                <a:lnTo>
                  <a:pt x="6556153" y="3278029"/>
                </a:lnTo>
                <a:lnTo>
                  <a:pt x="0" y="3278029"/>
                </a:lnTo>
                <a:lnTo>
                  <a:pt x="0" y="0"/>
                </a:lnTo>
                <a:lnTo>
                  <a:pt x="1639062" y="0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F73EFE87-6361-084B-1934-5D89BBB48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657225"/>
            <a:ext cx="10944225" cy="1010937"/>
          </a:xfrm>
        </p:spPr>
        <p:txBody>
          <a:bodyPr lIns="0" tIns="0" rIns="0" bIns="0" anchor="t">
            <a:normAutofit/>
          </a:bodyPr>
          <a:lstStyle>
            <a:lvl1pPr>
              <a:defRPr sz="3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639E5656-07BC-BDC0-A694-1C85181FF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844675"/>
            <a:ext cx="10944226" cy="4608513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339860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287">
          <p15:clr>
            <a:srgbClr val="FBAE40"/>
          </p15:clr>
        </p15:guide>
        <p15:guide id="5" orient="horz" pos="414">
          <p15:clr>
            <a:srgbClr val="FBAE40"/>
          </p15:clr>
        </p15:guide>
        <p15:guide id="6" orient="horz" pos="1049">
          <p15:clr>
            <a:srgbClr val="FBAE40"/>
          </p15:clr>
        </p15:guide>
        <p15:guide id="7" orient="horz" pos="1162">
          <p15:clr>
            <a:srgbClr val="FBAE40"/>
          </p15:clr>
        </p15:guide>
        <p15:guide id="8" orient="horz" pos="4020">
          <p15:clr>
            <a:srgbClr val="FBAE40"/>
          </p15:clr>
        </p15:guide>
        <p15:guide id="9" orient="horz" pos="30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D8B74E-944D-0677-3923-38265FD49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BCAD54-D3AB-D7F1-A85D-268F58EBC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D90AFF-EDCE-D238-FE7B-ACE407ACB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486E-85E9-4B23-B18C-E6900943AB8B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1101D6-EC3C-90CE-AD53-F6C4265B0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728FF2-37B2-CB06-F0BB-F333695A2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C1814-BDB1-442E-A1B1-EF0820D5A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7872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CBE0BA-867B-51D3-C8E7-3AFAE2FF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BB9378-811E-0B03-6797-B5168588C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079EF4-9331-C93C-9996-528C6B23C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486E-85E9-4B23-B18C-E6900943AB8B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9641B0-7E24-275B-DD0D-9B75F88D7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4C9E32-38A4-5FBA-ABBD-9164060D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C1814-BDB1-442E-A1B1-EF0820D5A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820942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9FC00B-A3C5-0AFD-B967-AB3382F24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D389DF-4261-7EA1-7AFF-C12DD5D4AC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309CC37-F2DA-CBB2-2AAB-5EBDB5F26E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5E31DA7-948E-AAA3-6B9A-F0AAE22C2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486E-85E9-4B23-B18C-E6900943AB8B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4D74F40-8343-4CF5-0C33-E180BA463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F1B718D-718A-5D41-3846-1A71A16D5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C1814-BDB1-442E-A1B1-EF0820D5A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350179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99FF96-BD7E-6EAF-3DA6-2FC7FAE04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7D1F838-07BD-870C-8170-237E80D95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74694FC-426E-3631-8235-BD8DD5BC7D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D192B98-DE35-2CEC-3ED9-A894F7DFC5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F1C7622-52AA-3C07-7528-673A15FB1A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519CE34-193E-3820-BC24-4F1E08A18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486E-85E9-4B23-B18C-E6900943AB8B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2261780-7415-BDD5-E569-D58327FE3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1435138-FA78-4EC4-DCE4-F6B233DDD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C1814-BDB1-442E-A1B1-EF0820D5A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50499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2FC6F3-A806-C2F1-4961-B6E2A04CA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789DA8B-B64B-6FCB-A559-E160D4628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486E-85E9-4B23-B18C-E6900943AB8B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9AA449B-28BD-6AAD-2347-A62FFCDFD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B0D9F60-74E7-24E2-A185-86B6AC870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C1814-BDB1-442E-A1B1-EF0820D5A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61317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FA2ABB2-E15C-5AA3-4C14-8D49D79B1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486E-85E9-4B23-B18C-E6900943AB8B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F1C519-1EB0-0290-FFAE-31147AB0D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BBFE231-7D4E-6B00-A6BB-211378EFC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C1814-BDB1-442E-A1B1-EF0820D5A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14955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1A7AE3-59DE-C0FD-E90D-F7F815DF5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01C6C1-A4F8-FB3A-C3EF-368E9CEB5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E001784-F76A-84C2-3DC7-2B6876724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D5BF017-81F3-D96D-189B-BA33FEACF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486E-85E9-4B23-B18C-E6900943AB8B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580F62B-BB81-5147-E8A4-5676C5E29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4C6781F-5C20-41B2-E22A-6E8FF751F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C1814-BDB1-442E-A1B1-EF0820D5A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80633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667C2D-B929-42E9-0B71-9F7F777BD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EB7D0F8-23CA-8220-125F-E90D888CF6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1A2CF8F-AC4F-74B8-FFDF-DF2FFE7E7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2A1AA63-CDCF-FCB4-C618-858684ECF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486E-85E9-4B23-B18C-E6900943AB8B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B8731C5-09E2-DD75-120F-00373C4C9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6EC626A-CC88-F530-C9B0-4B841E520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C1814-BDB1-442E-A1B1-EF0820D5A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377792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125D1C-743E-AD08-938F-980738473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E07DE43-1BA7-5AED-EAAE-D1EB147572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388F37-805B-F2CD-968B-DF7471A6C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486E-85E9-4B23-B18C-E6900943AB8B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43482D-FC00-4E00-2A89-D59CE1142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DA9ACBF-B109-5627-6B4E-D846925D7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C1814-BDB1-442E-A1B1-EF0820D5A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262715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B59D6D3-7A58-EE51-A844-BC5A57B9A8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95F564D-52C1-88C4-3588-C33DFE88EC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623B11-6424-10EE-AAFF-345200998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486E-85E9-4B23-B18C-E6900943AB8B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E40897-4691-E105-906F-23EDB67DA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172E7E-9A45-492B-A83D-0E0505825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C1814-BDB1-442E-A1B1-EF0820D5A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215666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10872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áfico 67">
            <a:extLst>
              <a:ext uri="{FF2B5EF4-FFF2-40B4-BE49-F238E27FC236}">
                <a16:creationId xmlns:a16="http://schemas.microsoft.com/office/drawing/2014/main" id="{4BB66236-03E4-0F9D-F4C1-D95A3DD47A0C}"/>
              </a:ext>
            </a:extLst>
          </p:cNvPr>
          <p:cNvSpPr/>
          <p:nvPr userDrawn="1"/>
        </p:nvSpPr>
        <p:spPr>
          <a:xfrm>
            <a:off x="11043776" y="214085"/>
            <a:ext cx="524337" cy="262165"/>
          </a:xfrm>
          <a:custGeom>
            <a:avLst/>
            <a:gdLst>
              <a:gd name="connsiteX0" fmla="*/ 1639062 w 6556152"/>
              <a:gd name="connsiteY0" fmla="*/ 0 h 3278028"/>
              <a:gd name="connsiteX1" fmla="*/ 3278029 w 6556152"/>
              <a:gd name="connsiteY1" fmla="*/ 1639062 h 3278028"/>
              <a:gd name="connsiteX2" fmla="*/ 4917091 w 6556152"/>
              <a:gd name="connsiteY2" fmla="*/ 0 h 3278028"/>
              <a:gd name="connsiteX3" fmla="*/ 6556153 w 6556152"/>
              <a:gd name="connsiteY3" fmla="*/ 0 h 3278028"/>
              <a:gd name="connsiteX4" fmla="*/ 6556153 w 6556152"/>
              <a:gd name="connsiteY4" fmla="*/ 3278029 h 3278028"/>
              <a:gd name="connsiteX5" fmla="*/ 0 w 6556152"/>
              <a:gd name="connsiteY5" fmla="*/ 3278029 h 3278028"/>
              <a:gd name="connsiteX6" fmla="*/ 0 w 6556152"/>
              <a:gd name="connsiteY6" fmla="*/ 0 h 3278028"/>
              <a:gd name="connsiteX7" fmla="*/ 1639062 w 6556152"/>
              <a:gd name="connsiteY7" fmla="*/ 0 h 3278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6152" h="3278028">
                <a:moveTo>
                  <a:pt x="1639062" y="0"/>
                </a:moveTo>
                <a:cubicBezTo>
                  <a:pt x="2544223" y="0"/>
                  <a:pt x="3278029" y="733806"/>
                  <a:pt x="3278029" y="1639062"/>
                </a:cubicBezTo>
                <a:cubicBezTo>
                  <a:pt x="3278029" y="733806"/>
                  <a:pt x="4011835" y="0"/>
                  <a:pt x="4917091" y="0"/>
                </a:cubicBezTo>
                <a:lnTo>
                  <a:pt x="6556153" y="0"/>
                </a:lnTo>
                <a:lnTo>
                  <a:pt x="6556153" y="3278029"/>
                </a:lnTo>
                <a:lnTo>
                  <a:pt x="0" y="3278029"/>
                </a:lnTo>
                <a:lnTo>
                  <a:pt x="0" y="0"/>
                </a:lnTo>
                <a:lnTo>
                  <a:pt x="1639062" y="0"/>
                </a:lnTo>
                <a:close/>
              </a:path>
            </a:pathLst>
          </a:custGeom>
          <a:solidFill>
            <a:srgbClr val="00B2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F73EFE87-6361-084B-1934-5D89BBB48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657225"/>
            <a:ext cx="10944225" cy="1010937"/>
          </a:xfrm>
        </p:spPr>
        <p:txBody>
          <a:bodyPr lIns="0" tIns="0" rIns="0" bIns="0" anchor="t">
            <a:normAutofit/>
          </a:bodyPr>
          <a:lstStyle>
            <a:lvl1pPr>
              <a:defRPr sz="36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639E5656-07BC-BDC0-A694-1C85181FF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844675"/>
            <a:ext cx="10944226" cy="4608513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16" name="Gráfico 15">
            <a:extLst>
              <a:ext uri="{FF2B5EF4-FFF2-40B4-BE49-F238E27FC236}">
                <a16:creationId xmlns:a16="http://schemas.microsoft.com/office/drawing/2014/main" id="{53F7A145-3DB7-BA49-54A1-6E2525E1A7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77325" y="4787900"/>
            <a:ext cx="3133725" cy="208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848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287">
          <p15:clr>
            <a:srgbClr val="FBAE40"/>
          </p15:clr>
        </p15:guide>
        <p15:guide id="5" orient="horz" pos="414">
          <p15:clr>
            <a:srgbClr val="FBAE40"/>
          </p15:clr>
        </p15:guide>
        <p15:guide id="6" orient="horz" pos="1049">
          <p15:clr>
            <a:srgbClr val="FBAE40"/>
          </p15:clr>
        </p15:guide>
        <p15:guide id="7" orient="horz" pos="1162">
          <p15:clr>
            <a:srgbClr val="FBAE40"/>
          </p15:clr>
        </p15:guide>
        <p15:guide id="8" orient="horz" pos="4020">
          <p15:clr>
            <a:srgbClr val="FBAE40"/>
          </p15:clr>
        </p15:guide>
        <p15:guide id="9" orient="horz" pos="30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45BA9D-739C-3967-4F80-4273C31F4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30A77F6-4B3C-F1F8-1EC1-D86B717C5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486E-85E9-4B23-B18C-E6900943AB8B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2E8C6F0-43BE-A6FC-1D1B-BA3F30A80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7CB59B9-7CD8-1FB5-02E6-CBD2EE437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C1814-BDB1-442E-A1B1-EF0820D5A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241109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lide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áfico 17">
            <a:extLst>
              <a:ext uri="{FF2B5EF4-FFF2-40B4-BE49-F238E27FC236}">
                <a16:creationId xmlns:a16="http://schemas.microsoft.com/office/drawing/2014/main" id="{AE095B9A-BA49-D48C-42C5-29EF058C241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3233"/>
          <a:stretch/>
        </p:blipFill>
        <p:spPr>
          <a:xfrm>
            <a:off x="8640471" y="3428999"/>
            <a:ext cx="1856492" cy="1710891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C7D92E1C-790E-F0D4-C9FC-135BA1399C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11318" y="1482165"/>
            <a:ext cx="1920305" cy="2179805"/>
          </a:xfrm>
          <a:prstGeom prst="rect">
            <a:avLst/>
          </a:prstGeom>
        </p:spPr>
      </p:pic>
      <p:pic>
        <p:nvPicPr>
          <p:cNvPr id="20" name="Gráfico 19">
            <a:extLst>
              <a:ext uri="{FF2B5EF4-FFF2-40B4-BE49-F238E27FC236}">
                <a16:creationId xmlns:a16="http://schemas.microsoft.com/office/drawing/2014/main" id="{F92D310E-68C1-54A8-05A0-BF4CD1A4ECA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5833" y="-1"/>
            <a:ext cx="1696453" cy="2078155"/>
          </a:xfrm>
          <a:prstGeom prst="rect">
            <a:avLst/>
          </a:prstGeom>
        </p:spPr>
      </p:pic>
      <p:sp>
        <p:nvSpPr>
          <p:cNvPr id="25" name="Forma Livre: Forma 24">
            <a:extLst>
              <a:ext uri="{FF2B5EF4-FFF2-40B4-BE49-F238E27FC236}">
                <a16:creationId xmlns:a16="http://schemas.microsoft.com/office/drawing/2014/main" id="{9B6128CC-557A-FF41-E7DB-7C1F56C6922B}"/>
              </a:ext>
            </a:extLst>
          </p:cNvPr>
          <p:cNvSpPr/>
          <p:nvPr userDrawn="1"/>
        </p:nvSpPr>
        <p:spPr>
          <a:xfrm>
            <a:off x="8735245" y="1717691"/>
            <a:ext cx="1713437" cy="1713437"/>
          </a:xfrm>
          <a:custGeom>
            <a:avLst/>
            <a:gdLst>
              <a:gd name="connsiteX0" fmla="*/ 1141525 w 1141525"/>
              <a:gd name="connsiteY0" fmla="*/ 1141525 h 1141525"/>
              <a:gd name="connsiteX1" fmla="*/ 0 w 1141525"/>
              <a:gd name="connsiteY1" fmla="*/ 1141525 h 1141525"/>
              <a:gd name="connsiteX2" fmla="*/ 0 w 1141525"/>
              <a:gd name="connsiteY2" fmla="*/ 0 h 1141525"/>
              <a:gd name="connsiteX3" fmla="*/ 570762 w 1141525"/>
              <a:gd name="connsiteY3" fmla="*/ 0 h 1141525"/>
              <a:gd name="connsiteX4" fmla="*/ 1141525 w 1141525"/>
              <a:gd name="connsiteY4" fmla="*/ 570763 h 1141525"/>
              <a:gd name="connsiteX5" fmla="*/ 1141525 w 1141525"/>
              <a:gd name="connsiteY5" fmla="*/ 1141525 h 114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1525" h="1141525">
                <a:moveTo>
                  <a:pt x="1141525" y="1141525"/>
                </a:moveTo>
                <a:lnTo>
                  <a:pt x="0" y="1141525"/>
                </a:lnTo>
                <a:lnTo>
                  <a:pt x="0" y="0"/>
                </a:lnTo>
                <a:lnTo>
                  <a:pt x="570762" y="0"/>
                </a:lnTo>
                <a:cubicBezTo>
                  <a:pt x="886009" y="0"/>
                  <a:pt x="1141525" y="255516"/>
                  <a:pt x="1141525" y="570763"/>
                </a:cubicBezTo>
                <a:lnTo>
                  <a:pt x="1141525" y="1141525"/>
                </a:lnTo>
                <a:close/>
              </a:path>
            </a:pathLst>
          </a:custGeom>
          <a:noFill/>
          <a:ln w="19050" cap="flat">
            <a:solidFill>
              <a:srgbClr val="5E5E5E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6" name="Forma Livre: Forma 25">
            <a:extLst>
              <a:ext uri="{FF2B5EF4-FFF2-40B4-BE49-F238E27FC236}">
                <a16:creationId xmlns:a16="http://schemas.microsoft.com/office/drawing/2014/main" id="{8593942A-4AB9-53F3-D45E-D5BBA3A395A0}"/>
              </a:ext>
            </a:extLst>
          </p:cNvPr>
          <p:cNvSpPr/>
          <p:nvPr userDrawn="1"/>
        </p:nvSpPr>
        <p:spPr>
          <a:xfrm>
            <a:off x="10478563" y="5144564"/>
            <a:ext cx="1713437" cy="1713437"/>
          </a:xfrm>
          <a:custGeom>
            <a:avLst/>
            <a:gdLst>
              <a:gd name="connsiteX0" fmla="*/ 1141525 w 1141525"/>
              <a:gd name="connsiteY0" fmla="*/ 1141525 h 1141525"/>
              <a:gd name="connsiteX1" fmla="*/ 0 w 1141525"/>
              <a:gd name="connsiteY1" fmla="*/ 1141525 h 1141525"/>
              <a:gd name="connsiteX2" fmla="*/ 0 w 1141525"/>
              <a:gd name="connsiteY2" fmla="*/ 0 h 1141525"/>
              <a:gd name="connsiteX3" fmla="*/ 570762 w 1141525"/>
              <a:gd name="connsiteY3" fmla="*/ 0 h 1141525"/>
              <a:gd name="connsiteX4" fmla="*/ 1141525 w 1141525"/>
              <a:gd name="connsiteY4" fmla="*/ 570762 h 1141525"/>
              <a:gd name="connsiteX5" fmla="*/ 1141525 w 1141525"/>
              <a:gd name="connsiteY5" fmla="*/ 1141525 h 114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1525" h="1141525">
                <a:moveTo>
                  <a:pt x="1141525" y="1141525"/>
                </a:moveTo>
                <a:lnTo>
                  <a:pt x="0" y="1141525"/>
                </a:lnTo>
                <a:lnTo>
                  <a:pt x="0" y="0"/>
                </a:lnTo>
                <a:lnTo>
                  <a:pt x="570762" y="0"/>
                </a:lnTo>
                <a:cubicBezTo>
                  <a:pt x="886009" y="0"/>
                  <a:pt x="1141525" y="255516"/>
                  <a:pt x="1141525" y="570762"/>
                </a:cubicBezTo>
                <a:lnTo>
                  <a:pt x="1141525" y="1141525"/>
                </a:lnTo>
                <a:close/>
              </a:path>
            </a:pathLst>
          </a:custGeom>
          <a:noFill/>
          <a:ln w="19050" cap="flat">
            <a:solidFill>
              <a:srgbClr val="5E5E5E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7" name="Forma Livre: Forma 26">
            <a:extLst>
              <a:ext uri="{FF2B5EF4-FFF2-40B4-BE49-F238E27FC236}">
                <a16:creationId xmlns:a16="http://schemas.microsoft.com/office/drawing/2014/main" id="{BC926A19-CE68-2CC2-84FE-40407E449785}"/>
              </a:ext>
            </a:extLst>
          </p:cNvPr>
          <p:cNvSpPr/>
          <p:nvPr userDrawn="1"/>
        </p:nvSpPr>
        <p:spPr>
          <a:xfrm rot="10800000" flipH="1">
            <a:off x="7049563" y="3431127"/>
            <a:ext cx="1713437" cy="1713437"/>
          </a:xfrm>
          <a:custGeom>
            <a:avLst/>
            <a:gdLst>
              <a:gd name="connsiteX0" fmla="*/ 0 w 1141525"/>
              <a:gd name="connsiteY0" fmla="*/ 0 h 1141525"/>
              <a:gd name="connsiteX1" fmla="*/ 0 w 1141525"/>
              <a:gd name="connsiteY1" fmla="*/ 1141525 h 1141525"/>
              <a:gd name="connsiteX2" fmla="*/ 570762 w 1141525"/>
              <a:gd name="connsiteY2" fmla="*/ 1141525 h 1141525"/>
              <a:gd name="connsiteX3" fmla="*/ 1141525 w 1141525"/>
              <a:gd name="connsiteY3" fmla="*/ 570762 h 1141525"/>
              <a:gd name="connsiteX4" fmla="*/ 570762 w 1141525"/>
              <a:gd name="connsiteY4" fmla="*/ 0 h 1141525"/>
              <a:gd name="connsiteX5" fmla="*/ 0 w 1141525"/>
              <a:gd name="connsiteY5" fmla="*/ 0 h 114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1525" h="1141525">
                <a:moveTo>
                  <a:pt x="0" y="0"/>
                </a:moveTo>
                <a:lnTo>
                  <a:pt x="0" y="1141525"/>
                </a:lnTo>
                <a:lnTo>
                  <a:pt x="570762" y="1141525"/>
                </a:lnTo>
                <a:cubicBezTo>
                  <a:pt x="886009" y="1141525"/>
                  <a:pt x="1141525" y="886009"/>
                  <a:pt x="1141525" y="570762"/>
                </a:cubicBezTo>
                <a:cubicBezTo>
                  <a:pt x="1141525" y="255516"/>
                  <a:pt x="886009" y="0"/>
                  <a:pt x="570762" y="0"/>
                </a:cubicBezTo>
                <a:lnTo>
                  <a:pt x="0" y="0"/>
                </a:lnTo>
                <a:close/>
              </a:path>
            </a:pathLst>
          </a:custGeom>
          <a:noFill/>
          <a:ln w="19050" cap="flat">
            <a:solidFill>
              <a:srgbClr val="5E5E5E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8" name="Forma Livre: Forma 27">
            <a:extLst>
              <a:ext uri="{FF2B5EF4-FFF2-40B4-BE49-F238E27FC236}">
                <a16:creationId xmlns:a16="http://schemas.microsoft.com/office/drawing/2014/main" id="{B7F5C1D4-0BA4-4BB9-60DE-8F8F6DF28EDC}"/>
              </a:ext>
            </a:extLst>
          </p:cNvPr>
          <p:cNvSpPr/>
          <p:nvPr userDrawn="1"/>
        </p:nvSpPr>
        <p:spPr>
          <a:xfrm rot="5400000" flipH="1" flipV="1">
            <a:off x="5338764" y="0"/>
            <a:ext cx="1713437" cy="1713437"/>
          </a:xfrm>
          <a:custGeom>
            <a:avLst/>
            <a:gdLst>
              <a:gd name="connsiteX0" fmla="*/ 0 w 1141525"/>
              <a:gd name="connsiteY0" fmla="*/ 0 h 1141525"/>
              <a:gd name="connsiteX1" fmla="*/ 0 w 1141525"/>
              <a:gd name="connsiteY1" fmla="*/ 1141525 h 1141525"/>
              <a:gd name="connsiteX2" fmla="*/ 570763 w 1141525"/>
              <a:gd name="connsiteY2" fmla="*/ 1141525 h 1141525"/>
              <a:gd name="connsiteX3" fmla="*/ 1141525 w 1141525"/>
              <a:gd name="connsiteY3" fmla="*/ 570763 h 1141525"/>
              <a:gd name="connsiteX4" fmla="*/ 570763 w 1141525"/>
              <a:gd name="connsiteY4" fmla="*/ 0 h 1141525"/>
              <a:gd name="connsiteX5" fmla="*/ 0 w 1141525"/>
              <a:gd name="connsiteY5" fmla="*/ 0 h 114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1525" h="1141525">
                <a:moveTo>
                  <a:pt x="0" y="0"/>
                </a:moveTo>
                <a:lnTo>
                  <a:pt x="0" y="1141525"/>
                </a:lnTo>
                <a:lnTo>
                  <a:pt x="570763" y="1141525"/>
                </a:lnTo>
                <a:cubicBezTo>
                  <a:pt x="886009" y="1141525"/>
                  <a:pt x="1141525" y="886009"/>
                  <a:pt x="1141525" y="570763"/>
                </a:cubicBezTo>
                <a:cubicBezTo>
                  <a:pt x="1141525" y="255516"/>
                  <a:pt x="885924" y="0"/>
                  <a:pt x="570763" y="0"/>
                </a:cubicBezTo>
                <a:lnTo>
                  <a:pt x="0" y="0"/>
                </a:lnTo>
                <a:close/>
              </a:path>
            </a:pathLst>
          </a:custGeom>
          <a:noFill/>
          <a:ln w="19050" cap="flat">
            <a:solidFill>
              <a:srgbClr val="5E5E5E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9" name="Forma Livre: Forma 28">
            <a:extLst>
              <a:ext uri="{FF2B5EF4-FFF2-40B4-BE49-F238E27FC236}">
                <a16:creationId xmlns:a16="http://schemas.microsoft.com/office/drawing/2014/main" id="{622CD069-FFFA-1AA1-4DCA-B77B0E890CC0}"/>
              </a:ext>
            </a:extLst>
          </p:cNvPr>
          <p:cNvSpPr/>
          <p:nvPr userDrawn="1"/>
        </p:nvSpPr>
        <p:spPr>
          <a:xfrm>
            <a:off x="8772167" y="5144564"/>
            <a:ext cx="1713437" cy="1713437"/>
          </a:xfrm>
          <a:custGeom>
            <a:avLst/>
            <a:gdLst>
              <a:gd name="connsiteX0" fmla="*/ 0 w 1141525"/>
              <a:gd name="connsiteY0" fmla="*/ 0 h 1141525"/>
              <a:gd name="connsiteX1" fmla="*/ 0 w 1141525"/>
              <a:gd name="connsiteY1" fmla="*/ 1141525 h 1141525"/>
              <a:gd name="connsiteX2" fmla="*/ 570763 w 1141525"/>
              <a:gd name="connsiteY2" fmla="*/ 1141525 h 1141525"/>
              <a:gd name="connsiteX3" fmla="*/ 1141525 w 1141525"/>
              <a:gd name="connsiteY3" fmla="*/ 570762 h 1141525"/>
              <a:gd name="connsiteX4" fmla="*/ 570763 w 1141525"/>
              <a:gd name="connsiteY4" fmla="*/ 0 h 1141525"/>
              <a:gd name="connsiteX5" fmla="*/ 0 w 1141525"/>
              <a:gd name="connsiteY5" fmla="*/ 0 h 114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1525" h="1141525">
                <a:moveTo>
                  <a:pt x="0" y="0"/>
                </a:moveTo>
                <a:lnTo>
                  <a:pt x="0" y="1141525"/>
                </a:lnTo>
                <a:lnTo>
                  <a:pt x="570763" y="1141525"/>
                </a:lnTo>
                <a:cubicBezTo>
                  <a:pt x="886009" y="1141525"/>
                  <a:pt x="1141525" y="886009"/>
                  <a:pt x="1141525" y="570762"/>
                </a:cubicBezTo>
                <a:cubicBezTo>
                  <a:pt x="1141525" y="255516"/>
                  <a:pt x="886009" y="0"/>
                  <a:pt x="570763" y="0"/>
                </a:cubicBezTo>
                <a:lnTo>
                  <a:pt x="0" y="0"/>
                </a:lnTo>
                <a:close/>
              </a:path>
            </a:pathLst>
          </a:custGeom>
          <a:noFill/>
          <a:ln w="19050" cap="flat">
            <a:solidFill>
              <a:srgbClr val="5E5E5E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769C591A-552B-5D01-BA26-0984DF12D5D3}"/>
              </a:ext>
            </a:extLst>
          </p:cNvPr>
          <p:cNvSpPr/>
          <p:nvPr userDrawn="1"/>
        </p:nvSpPr>
        <p:spPr>
          <a:xfrm>
            <a:off x="7051690" y="0"/>
            <a:ext cx="1713437" cy="1713437"/>
          </a:xfrm>
          <a:custGeom>
            <a:avLst/>
            <a:gdLst>
              <a:gd name="connsiteX0" fmla="*/ 0 w 1141525"/>
              <a:gd name="connsiteY0" fmla="*/ 0 h 1141525"/>
              <a:gd name="connsiteX1" fmla="*/ 0 w 1141525"/>
              <a:gd name="connsiteY1" fmla="*/ 1141525 h 1141525"/>
              <a:gd name="connsiteX2" fmla="*/ 570763 w 1141525"/>
              <a:gd name="connsiteY2" fmla="*/ 1141525 h 1141525"/>
              <a:gd name="connsiteX3" fmla="*/ 1141525 w 1141525"/>
              <a:gd name="connsiteY3" fmla="*/ 570763 h 1141525"/>
              <a:gd name="connsiteX4" fmla="*/ 570763 w 1141525"/>
              <a:gd name="connsiteY4" fmla="*/ 0 h 1141525"/>
              <a:gd name="connsiteX5" fmla="*/ 0 w 1141525"/>
              <a:gd name="connsiteY5" fmla="*/ 0 h 114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1525" h="1141525">
                <a:moveTo>
                  <a:pt x="0" y="0"/>
                </a:moveTo>
                <a:lnTo>
                  <a:pt x="0" y="1141525"/>
                </a:lnTo>
                <a:lnTo>
                  <a:pt x="570763" y="1141525"/>
                </a:lnTo>
                <a:cubicBezTo>
                  <a:pt x="886009" y="1141525"/>
                  <a:pt x="1141525" y="886009"/>
                  <a:pt x="1141525" y="570763"/>
                </a:cubicBezTo>
                <a:cubicBezTo>
                  <a:pt x="1141525" y="255516"/>
                  <a:pt x="886009" y="0"/>
                  <a:pt x="570763" y="0"/>
                </a:cubicBezTo>
                <a:lnTo>
                  <a:pt x="0" y="0"/>
                </a:lnTo>
                <a:close/>
              </a:path>
            </a:pathLst>
          </a:custGeom>
          <a:noFill/>
          <a:ln w="19050" cap="flat">
            <a:solidFill>
              <a:srgbClr val="5E5E5E"/>
            </a:solidFill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1" name="Título 1">
            <a:extLst>
              <a:ext uri="{FF2B5EF4-FFF2-40B4-BE49-F238E27FC236}">
                <a16:creationId xmlns:a16="http://schemas.microsoft.com/office/drawing/2014/main" id="{E416EE08-F117-F0A1-E71D-00D1EFAD65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9" y="2078154"/>
            <a:ext cx="5815011" cy="2736755"/>
          </a:xfrm>
        </p:spPr>
        <p:txBody>
          <a:bodyPr anchor="b"/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2" name="Subtítulo 2">
            <a:extLst>
              <a:ext uri="{FF2B5EF4-FFF2-40B4-BE49-F238E27FC236}">
                <a16:creationId xmlns:a16="http://schemas.microsoft.com/office/drawing/2014/main" id="{0E04CE14-D5D5-4186-3420-3168BB2F4E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889" y="5143210"/>
            <a:ext cx="5815011" cy="750814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CCE1E04E-3BEE-A2F4-3542-3E43350C7E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6741" y="544952"/>
            <a:ext cx="2377733" cy="623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8775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Imagem 2">
            <a:extLst>
              <a:ext uri="{FF2B5EF4-FFF2-40B4-BE49-F238E27FC236}">
                <a16:creationId xmlns:a16="http://schemas.microsoft.com/office/drawing/2014/main" id="{2D40D908-6DBE-3D63-0998-F808660A75C4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5354724" y="0"/>
            <a:ext cx="6837276" cy="6858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D0FB46D-3093-9249-0EE8-1229601848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9" y="2329917"/>
            <a:ext cx="4138612" cy="1780554"/>
          </a:xfrm>
        </p:spPr>
        <p:txBody>
          <a:bodyPr anchor="b">
            <a:noAutofit/>
          </a:bodyPr>
          <a:lstStyle>
            <a:lvl1pPr algn="l">
              <a:defRPr sz="4400" b="1">
                <a:solidFill>
                  <a:srgbClr val="444444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D6E9D81F-3C16-913C-198A-1F4207943D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889" y="4313145"/>
            <a:ext cx="4138612" cy="650473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B1243987-06FE-627C-6A49-8A1376FECFFB}"/>
              </a:ext>
            </a:extLst>
          </p:cNvPr>
          <p:cNvSpPr txBox="1">
            <a:spLocks/>
          </p:cNvSpPr>
          <p:nvPr userDrawn="1"/>
        </p:nvSpPr>
        <p:spPr>
          <a:xfrm>
            <a:off x="623888" y="5761110"/>
            <a:ext cx="3964057" cy="4396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kern="1200">
                <a:solidFill>
                  <a:srgbClr val="44444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kern="1200">
                <a:solidFill>
                  <a:srgbClr val="44444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>
                <a:solidFill>
                  <a:srgbClr val="44444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kern="1200">
                <a:solidFill>
                  <a:srgbClr val="44444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kern="1200">
                <a:solidFill>
                  <a:srgbClr val="44444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err="1"/>
              <a:t>Xx</a:t>
            </a:r>
            <a:r>
              <a:rPr lang="pt-BR" dirty="0"/>
              <a:t>/</a:t>
            </a:r>
            <a:r>
              <a:rPr lang="pt-BR" dirty="0" err="1"/>
              <a:t>xx</a:t>
            </a:r>
            <a:r>
              <a:rPr lang="pt-BR" dirty="0"/>
              <a:t>/</a:t>
            </a:r>
            <a:r>
              <a:rPr lang="pt-BR" dirty="0" err="1"/>
              <a:t>xx</a:t>
            </a:r>
            <a:endParaRPr lang="pt-BR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FC09A89-5458-D9F8-3CB8-622B3B9F2D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66982" y="-1"/>
            <a:ext cx="6840940" cy="6858000"/>
          </a:xfrm>
          <a:prstGeom prst="rect">
            <a:avLst/>
          </a:prstGeom>
        </p:spPr>
      </p:pic>
      <p:pic>
        <p:nvPicPr>
          <p:cNvPr id="2" name="Gráfico 1">
            <a:extLst>
              <a:ext uri="{FF2B5EF4-FFF2-40B4-BE49-F238E27FC236}">
                <a16:creationId xmlns:a16="http://schemas.microsoft.com/office/drawing/2014/main" id="{47071BDB-7409-CA29-98F4-D87BCB011C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740" y="544953"/>
            <a:ext cx="2377734" cy="623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4858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ad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Imagem 2">
            <a:extLst>
              <a:ext uri="{FF2B5EF4-FFF2-40B4-BE49-F238E27FC236}">
                <a16:creationId xmlns:a16="http://schemas.microsoft.com/office/drawing/2014/main" id="{2D40D908-6DBE-3D63-0998-F808660A75C4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5354724" y="0"/>
            <a:ext cx="6837276" cy="6858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D0FB46D-3093-9249-0EE8-1229601848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9" y="2329917"/>
            <a:ext cx="4138612" cy="1780554"/>
          </a:xfrm>
        </p:spPr>
        <p:txBody>
          <a:bodyPr anchor="b">
            <a:noAutofit/>
          </a:bodyPr>
          <a:lstStyle>
            <a:lvl1pPr algn="l">
              <a:defRPr sz="4400" b="1">
                <a:solidFill>
                  <a:srgbClr val="444444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D6E9D81F-3C16-913C-198A-1F4207943D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889" y="4313145"/>
            <a:ext cx="4138612" cy="650473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B1243987-06FE-627C-6A49-8A1376FECFFB}"/>
              </a:ext>
            </a:extLst>
          </p:cNvPr>
          <p:cNvSpPr txBox="1">
            <a:spLocks/>
          </p:cNvSpPr>
          <p:nvPr userDrawn="1"/>
        </p:nvSpPr>
        <p:spPr>
          <a:xfrm>
            <a:off x="623888" y="5761110"/>
            <a:ext cx="3964057" cy="4396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kern="1200">
                <a:solidFill>
                  <a:srgbClr val="44444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kern="1200">
                <a:solidFill>
                  <a:srgbClr val="44444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>
                <a:solidFill>
                  <a:srgbClr val="44444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kern="1200">
                <a:solidFill>
                  <a:srgbClr val="44444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kern="1200">
                <a:solidFill>
                  <a:srgbClr val="44444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err="1"/>
              <a:t>Xx</a:t>
            </a:r>
            <a:r>
              <a:rPr lang="pt-BR" dirty="0"/>
              <a:t>/</a:t>
            </a:r>
            <a:r>
              <a:rPr lang="pt-BR" dirty="0" err="1"/>
              <a:t>xx</a:t>
            </a:r>
            <a:r>
              <a:rPr lang="pt-BR" dirty="0"/>
              <a:t>/</a:t>
            </a:r>
            <a:r>
              <a:rPr lang="pt-BR" dirty="0" err="1"/>
              <a:t>xx</a:t>
            </a:r>
            <a:endParaRPr lang="pt-BR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FC09A89-5458-D9F8-3CB8-622B3B9F2D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66982" y="-1"/>
            <a:ext cx="6840940" cy="6858000"/>
          </a:xfrm>
          <a:prstGeom prst="rect">
            <a:avLst/>
          </a:prstGeom>
        </p:spPr>
      </p:pic>
      <p:pic>
        <p:nvPicPr>
          <p:cNvPr id="2" name="Gráfico 1">
            <a:extLst>
              <a:ext uri="{FF2B5EF4-FFF2-40B4-BE49-F238E27FC236}">
                <a16:creationId xmlns:a16="http://schemas.microsoft.com/office/drawing/2014/main" id="{E16AE9B6-3B75-86B1-E1FC-E3FEADBEAC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740" y="544953"/>
            <a:ext cx="2377734" cy="623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7667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ad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Imagem 2">
            <a:extLst>
              <a:ext uri="{FF2B5EF4-FFF2-40B4-BE49-F238E27FC236}">
                <a16:creationId xmlns:a16="http://schemas.microsoft.com/office/drawing/2014/main" id="{2D40D908-6DBE-3D63-0998-F808660A75C4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5354724" y="0"/>
            <a:ext cx="6837276" cy="6858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D0FB46D-3093-9249-0EE8-1229601848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9" y="2329917"/>
            <a:ext cx="4138612" cy="1780554"/>
          </a:xfrm>
        </p:spPr>
        <p:txBody>
          <a:bodyPr anchor="b">
            <a:noAutofit/>
          </a:bodyPr>
          <a:lstStyle>
            <a:lvl1pPr algn="l">
              <a:defRPr sz="4400" b="1">
                <a:solidFill>
                  <a:schemeClr val="tx1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D6E9D81F-3C16-913C-198A-1F4207943D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889" y="4313145"/>
            <a:ext cx="4138612" cy="65047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B1243987-06FE-627C-6A49-8A1376FECFFB}"/>
              </a:ext>
            </a:extLst>
          </p:cNvPr>
          <p:cNvSpPr txBox="1">
            <a:spLocks/>
          </p:cNvSpPr>
          <p:nvPr userDrawn="1"/>
        </p:nvSpPr>
        <p:spPr>
          <a:xfrm>
            <a:off x="623888" y="5761110"/>
            <a:ext cx="3964057" cy="4396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kern="1200">
                <a:solidFill>
                  <a:srgbClr val="44444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kern="1200">
                <a:solidFill>
                  <a:srgbClr val="44444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>
                <a:solidFill>
                  <a:srgbClr val="44444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kern="1200">
                <a:solidFill>
                  <a:srgbClr val="44444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kern="1200">
                <a:solidFill>
                  <a:srgbClr val="44444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err="1">
                <a:solidFill>
                  <a:schemeClr val="tx1"/>
                </a:solidFill>
              </a:rPr>
              <a:t>Xx</a:t>
            </a:r>
            <a:r>
              <a:rPr lang="pt-BR" dirty="0">
                <a:solidFill>
                  <a:schemeClr val="tx1"/>
                </a:solidFill>
              </a:rPr>
              <a:t>/</a:t>
            </a:r>
            <a:r>
              <a:rPr lang="pt-BR" dirty="0" err="1">
                <a:solidFill>
                  <a:schemeClr val="tx1"/>
                </a:solidFill>
              </a:rPr>
              <a:t>xx</a:t>
            </a:r>
            <a:r>
              <a:rPr lang="pt-BR" dirty="0">
                <a:solidFill>
                  <a:schemeClr val="tx1"/>
                </a:solidFill>
              </a:rPr>
              <a:t>/</a:t>
            </a:r>
            <a:r>
              <a:rPr lang="pt-BR" dirty="0" err="1">
                <a:solidFill>
                  <a:schemeClr val="tx1"/>
                </a:solidFill>
              </a:rPr>
              <a:t>xx</a:t>
            </a:r>
            <a:endParaRPr lang="pt-BR" dirty="0">
              <a:solidFill>
                <a:schemeClr val="tx1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FC09A89-5458-D9F8-3CB8-622B3B9F2D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66982" y="-1"/>
            <a:ext cx="6840940" cy="6858000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2C7054DA-EA34-68B1-3429-7F222BF62D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741" y="544952"/>
            <a:ext cx="2377733" cy="623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857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yout Personalizad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Imagem 2">
            <a:extLst>
              <a:ext uri="{FF2B5EF4-FFF2-40B4-BE49-F238E27FC236}">
                <a16:creationId xmlns:a16="http://schemas.microsoft.com/office/drawing/2014/main" id="{2D40D908-6DBE-3D63-0998-F808660A75C4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5354724" y="0"/>
            <a:ext cx="6837276" cy="6858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D0FB46D-3093-9249-0EE8-1229601848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9" y="2329917"/>
            <a:ext cx="4138612" cy="1780554"/>
          </a:xfrm>
        </p:spPr>
        <p:txBody>
          <a:bodyPr anchor="b">
            <a:noAutofit/>
          </a:bodyPr>
          <a:lstStyle>
            <a:lvl1pPr algn="l"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D6E9D81F-3C16-913C-198A-1F4207943D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889" y="4313145"/>
            <a:ext cx="4138612" cy="65047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B1243987-06FE-627C-6A49-8A1376FECFFB}"/>
              </a:ext>
            </a:extLst>
          </p:cNvPr>
          <p:cNvSpPr txBox="1">
            <a:spLocks/>
          </p:cNvSpPr>
          <p:nvPr userDrawn="1"/>
        </p:nvSpPr>
        <p:spPr>
          <a:xfrm>
            <a:off x="623888" y="5761110"/>
            <a:ext cx="3964057" cy="4396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kern="1200">
                <a:solidFill>
                  <a:srgbClr val="44444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kern="1200">
                <a:solidFill>
                  <a:srgbClr val="44444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>
                <a:solidFill>
                  <a:srgbClr val="44444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kern="1200">
                <a:solidFill>
                  <a:srgbClr val="44444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kern="1200">
                <a:solidFill>
                  <a:srgbClr val="44444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err="1">
                <a:solidFill>
                  <a:schemeClr val="bg1"/>
                </a:solidFill>
              </a:rPr>
              <a:t>Xx</a:t>
            </a:r>
            <a:r>
              <a:rPr lang="pt-BR" dirty="0">
                <a:solidFill>
                  <a:schemeClr val="bg1"/>
                </a:solidFill>
              </a:rPr>
              <a:t>/</a:t>
            </a:r>
            <a:r>
              <a:rPr lang="pt-BR" dirty="0" err="1">
                <a:solidFill>
                  <a:schemeClr val="bg1"/>
                </a:solidFill>
              </a:rPr>
              <a:t>xx</a:t>
            </a:r>
            <a:r>
              <a:rPr lang="pt-BR" dirty="0">
                <a:solidFill>
                  <a:schemeClr val="bg1"/>
                </a:solidFill>
              </a:rPr>
              <a:t>/</a:t>
            </a:r>
            <a:r>
              <a:rPr lang="pt-BR" dirty="0" err="1">
                <a:solidFill>
                  <a:schemeClr val="bg1"/>
                </a:solidFill>
              </a:rPr>
              <a:t>xx</a:t>
            </a:r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FC09A89-5458-D9F8-3CB8-622B3B9F2D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66982" y="-1"/>
            <a:ext cx="6840940" cy="6858000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AA48D818-F275-0B76-E589-E2F50F0FAD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741" y="544952"/>
            <a:ext cx="2377733" cy="623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41519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2">
            <a:extLst>
              <a:ext uri="{FF2B5EF4-FFF2-40B4-BE49-F238E27FC236}">
                <a16:creationId xmlns:a16="http://schemas.microsoft.com/office/drawing/2014/main" id="{A3E123CD-714A-BA69-1BE2-E8E8DBB44837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12700" y="0"/>
            <a:ext cx="7162800" cy="6858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AE73CFA4-7E76-6F13-0EB2-1A4D194198EB}"/>
              </a:ext>
            </a:extLst>
          </p:cNvPr>
          <p:cNvSpPr/>
          <p:nvPr userDrawn="1"/>
        </p:nvSpPr>
        <p:spPr>
          <a:xfrm>
            <a:off x="3537857" y="0"/>
            <a:ext cx="8654143" cy="6858000"/>
          </a:xfrm>
          <a:custGeom>
            <a:avLst/>
            <a:gdLst>
              <a:gd name="connsiteX0" fmla="*/ 0 w 8654143"/>
              <a:gd name="connsiteY0" fmla="*/ 0 h 6858000"/>
              <a:gd name="connsiteX1" fmla="*/ 8654143 w 8654143"/>
              <a:gd name="connsiteY1" fmla="*/ 0 h 6858000"/>
              <a:gd name="connsiteX2" fmla="*/ 8654143 w 8654143"/>
              <a:gd name="connsiteY2" fmla="*/ 6858000 h 6858000"/>
              <a:gd name="connsiteX3" fmla="*/ 0 w 8654143"/>
              <a:gd name="connsiteY3" fmla="*/ 6858000 h 6858000"/>
              <a:gd name="connsiteX4" fmla="*/ 3537857 w 8654143"/>
              <a:gd name="connsiteY4" fmla="*/ 3429000 h 6858000"/>
              <a:gd name="connsiteX5" fmla="*/ 0 w 8654143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54143" h="6858000">
                <a:moveTo>
                  <a:pt x="0" y="0"/>
                </a:moveTo>
                <a:lnTo>
                  <a:pt x="8654143" y="0"/>
                </a:lnTo>
                <a:lnTo>
                  <a:pt x="8654143" y="6858000"/>
                </a:lnTo>
                <a:lnTo>
                  <a:pt x="0" y="6858000"/>
                </a:lnTo>
                <a:cubicBezTo>
                  <a:pt x="1953904" y="6858000"/>
                  <a:pt x="3537857" y="5322784"/>
                  <a:pt x="3537857" y="3429000"/>
                </a:cubicBezTo>
                <a:cubicBezTo>
                  <a:pt x="3537857" y="1535216"/>
                  <a:pt x="1953904" y="0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BC915A87-E2B2-03E8-501D-02DF29C75D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4443" y="2329917"/>
            <a:ext cx="4138612" cy="1780554"/>
          </a:xfrm>
        </p:spPr>
        <p:txBody>
          <a:bodyPr anchor="b">
            <a:noAutofit/>
          </a:bodyPr>
          <a:lstStyle>
            <a:lvl1pPr algn="l">
              <a:defRPr sz="4400" b="1">
                <a:solidFill>
                  <a:schemeClr val="tx1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F51BE004-EB11-5D8A-07DB-5507D4B4B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4443" y="4313145"/>
            <a:ext cx="4138612" cy="650473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44444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E3EBFA00-F4B9-BBA5-3CE0-4E8181ABE90D}"/>
              </a:ext>
            </a:extLst>
          </p:cNvPr>
          <p:cNvSpPr txBox="1">
            <a:spLocks/>
          </p:cNvSpPr>
          <p:nvPr userDrawn="1"/>
        </p:nvSpPr>
        <p:spPr>
          <a:xfrm>
            <a:off x="7614442" y="5761110"/>
            <a:ext cx="3964057" cy="4396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kern="1200">
                <a:solidFill>
                  <a:srgbClr val="444444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kern="1200">
                <a:solidFill>
                  <a:srgbClr val="444444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>
                <a:solidFill>
                  <a:srgbClr val="444444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kern="1200">
                <a:solidFill>
                  <a:srgbClr val="444444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kern="1200">
                <a:solidFill>
                  <a:srgbClr val="444444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 err="1">
                <a:solidFill>
                  <a:srgbClr val="444444"/>
                </a:solidFill>
              </a:rPr>
              <a:t>Xx</a:t>
            </a:r>
            <a:r>
              <a:rPr lang="pt-BR" dirty="0">
                <a:solidFill>
                  <a:srgbClr val="444444"/>
                </a:solidFill>
              </a:rPr>
              <a:t>/</a:t>
            </a:r>
            <a:r>
              <a:rPr lang="pt-BR" dirty="0" err="1">
                <a:solidFill>
                  <a:srgbClr val="444444"/>
                </a:solidFill>
              </a:rPr>
              <a:t>xx</a:t>
            </a:r>
            <a:r>
              <a:rPr lang="pt-BR" dirty="0">
                <a:solidFill>
                  <a:srgbClr val="444444"/>
                </a:solidFill>
              </a:rPr>
              <a:t>/</a:t>
            </a:r>
            <a:r>
              <a:rPr lang="pt-BR" dirty="0" err="1">
                <a:solidFill>
                  <a:srgbClr val="444444"/>
                </a:solidFill>
              </a:rPr>
              <a:t>xx</a:t>
            </a:r>
            <a:endParaRPr lang="pt-BR" dirty="0">
              <a:solidFill>
                <a:srgbClr val="444444"/>
              </a:solidFill>
            </a:endParaRP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2EDB81B6-B870-F9D5-2FE4-B536FD3882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4442" y="544953"/>
            <a:ext cx="2377734" cy="623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06126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1A69F0-5FDD-82BF-9D12-308A3F868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53B57EF-DB17-E901-FF63-FD93C6895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44444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001C5A2C-4B82-983B-3982-7FA00D758E70}"/>
              </a:ext>
            </a:extLst>
          </p:cNvPr>
          <p:cNvSpPr/>
          <p:nvPr userDrawn="1"/>
        </p:nvSpPr>
        <p:spPr>
          <a:xfrm flipH="1">
            <a:off x="10788650" y="549274"/>
            <a:ext cx="895350" cy="447675"/>
          </a:xfrm>
          <a:custGeom>
            <a:avLst/>
            <a:gdLst>
              <a:gd name="connsiteX0" fmla="*/ 1631950 w 1631950"/>
              <a:gd name="connsiteY0" fmla="*/ 0 h 815975"/>
              <a:gd name="connsiteX1" fmla="*/ 1223962 w 1631950"/>
              <a:gd name="connsiteY1" fmla="*/ 0 h 815975"/>
              <a:gd name="connsiteX2" fmla="*/ 824263 w 1631950"/>
              <a:gd name="connsiteY2" fmla="*/ 325764 h 815975"/>
              <a:gd name="connsiteX3" fmla="*/ 815975 w 1631950"/>
              <a:gd name="connsiteY3" fmla="*/ 407978 h 815975"/>
              <a:gd name="connsiteX4" fmla="*/ 807687 w 1631950"/>
              <a:gd name="connsiteY4" fmla="*/ 325764 h 815975"/>
              <a:gd name="connsiteX5" fmla="*/ 407988 w 1631950"/>
              <a:gd name="connsiteY5" fmla="*/ 0 h 815975"/>
              <a:gd name="connsiteX6" fmla="*/ 0 w 1631950"/>
              <a:gd name="connsiteY6" fmla="*/ 0 h 815975"/>
              <a:gd name="connsiteX7" fmla="*/ 0 w 1631950"/>
              <a:gd name="connsiteY7" fmla="*/ 815975 h 815975"/>
              <a:gd name="connsiteX8" fmla="*/ 815975 w 1631950"/>
              <a:gd name="connsiteY8" fmla="*/ 815975 h 815975"/>
              <a:gd name="connsiteX9" fmla="*/ 1631950 w 1631950"/>
              <a:gd name="connsiteY9" fmla="*/ 815975 h 815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31950" h="815975">
                <a:moveTo>
                  <a:pt x="1631950" y="0"/>
                </a:moveTo>
                <a:lnTo>
                  <a:pt x="1223962" y="0"/>
                </a:lnTo>
                <a:cubicBezTo>
                  <a:pt x="1026802" y="0"/>
                  <a:pt x="862306" y="139851"/>
                  <a:pt x="824263" y="325764"/>
                </a:cubicBezTo>
                <a:lnTo>
                  <a:pt x="815975" y="407978"/>
                </a:lnTo>
                <a:lnTo>
                  <a:pt x="807687" y="325764"/>
                </a:lnTo>
                <a:cubicBezTo>
                  <a:pt x="769644" y="139851"/>
                  <a:pt x="605148" y="0"/>
                  <a:pt x="407988" y="0"/>
                </a:cubicBezTo>
                <a:lnTo>
                  <a:pt x="0" y="0"/>
                </a:lnTo>
                <a:lnTo>
                  <a:pt x="0" y="815975"/>
                </a:lnTo>
                <a:lnTo>
                  <a:pt x="815975" y="815975"/>
                </a:lnTo>
                <a:lnTo>
                  <a:pt x="1631950" y="815975"/>
                </a:lnTo>
                <a:close/>
              </a:path>
            </a:pathLst>
          </a:custGeom>
          <a:solidFill>
            <a:srgbClr val="00B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9" name="Retângulo: Único Canto Arredondado 8">
            <a:extLst>
              <a:ext uri="{FF2B5EF4-FFF2-40B4-BE49-F238E27FC236}">
                <a16:creationId xmlns:a16="http://schemas.microsoft.com/office/drawing/2014/main" id="{336CD846-3BB6-3B23-3691-CFD03160072F}"/>
              </a:ext>
            </a:extLst>
          </p:cNvPr>
          <p:cNvSpPr/>
          <p:nvPr userDrawn="1"/>
        </p:nvSpPr>
        <p:spPr>
          <a:xfrm>
            <a:off x="10198100" y="5867400"/>
            <a:ext cx="990600" cy="990600"/>
          </a:xfrm>
          <a:prstGeom prst="round1Rect">
            <a:avLst>
              <a:gd name="adj" fmla="val 50000"/>
            </a:avLst>
          </a:prstGeom>
          <a:solidFill>
            <a:srgbClr val="00B2FF"/>
          </a:solidFill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Único Canto Arredondado 9">
            <a:extLst>
              <a:ext uri="{FF2B5EF4-FFF2-40B4-BE49-F238E27FC236}">
                <a16:creationId xmlns:a16="http://schemas.microsoft.com/office/drawing/2014/main" id="{A4C968FC-CE3E-7163-223F-70C38CE96709}"/>
              </a:ext>
            </a:extLst>
          </p:cNvPr>
          <p:cNvSpPr/>
          <p:nvPr userDrawn="1"/>
        </p:nvSpPr>
        <p:spPr>
          <a:xfrm flipH="1">
            <a:off x="11188700" y="5867400"/>
            <a:ext cx="990600" cy="990600"/>
          </a:xfrm>
          <a:prstGeom prst="round1Rect">
            <a:avLst>
              <a:gd name="adj" fmla="val 50000"/>
            </a:avLst>
          </a:prstGeom>
          <a:solidFill>
            <a:srgbClr val="00B2FF"/>
          </a:solidFill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Fluxograma: Atraso 10">
            <a:extLst>
              <a:ext uri="{FF2B5EF4-FFF2-40B4-BE49-F238E27FC236}">
                <a16:creationId xmlns:a16="http://schemas.microsoft.com/office/drawing/2014/main" id="{2A15D15A-53F3-8934-BF82-1EF422BF6F8D}"/>
              </a:ext>
            </a:extLst>
          </p:cNvPr>
          <p:cNvSpPr/>
          <p:nvPr userDrawn="1"/>
        </p:nvSpPr>
        <p:spPr>
          <a:xfrm>
            <a:off x="11188700" y="4876800"/>
            <a:ext cx="990600" cy="990600"/>
          </a:xfrm>
          <a:prstGeom prst="flowChartDelay">
            <a:avLst/>
          </a:prstGeom>
          <a:solidFill>
            <a:srgbClr val="00B2FF"/>
          </a:solidFill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Único Canto Arredondado 11">
            <a:extLst>
              <a:ext uri="{FF2B5EF4-FFF2-40B4-BE49-F238E27FC236}">
                <a16:creationId xmlns:a16="http://schemas.microsoft.com/office/drawing/2014/main" id="{6309DA8A-0582-BD75-7A28-AE38196D1A1C}"/>
              </a:ext>
            </a:extLst>
          </p:cNvPr>
          <p:cNvSpPr/>
          <p:nvPr userDrawn="1"/>
        </p:nvSpPr>
        <p:spPr>
          <a:xfrm>
            <a:off x="12700" y="963612"/>
            <a:ext cx="990600" cy="990600"/>
          </a:xfrm>
          <a:prstGeom prst="round1Rect">
            <a:avLst>
              <a:gd name="adj" fmla="val 50000"/>
            </a:avLst>
          </a:prstGeom>
          <a:solidFill>
            <a:srgbClr val="00B2FF"/>
          </a:solidFill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Único Canto Arredondado 12">
            <a:extLst>
              <a:ext uri="{FF2B5EF4-FFF2-40B4-BE49-F238E27FC236}">
                <a16:creationId xmlns:a16="http://schemas.microsoft.com/office/drawing/2014/main" id="{9C1CC407-7313-A803-062D-3ED4AE5716FF}"/>
              </a:ext>
            </a:extLst>
          </p:cNvPr>
          <p:cNvSpPr/>
          <p:nvPr userDrawn="1"/>
        </p:nvSpPr>
        <p:spPr>
          <a:xfrm flipH="1">
            <a:off x="1003300" y="-26988"/>
            <a:ext cx="990600" cy="990600"/>
          </a:xfrm>
          <a:prstGeom prst="round1Rect">
            <a:avLst>
              <a:gd name="adj" fmla="val 50000"/>
            </a:avLst>
          </a:prstGeom>
          <a:solidFill>
            <a:srgbClr val="00B2FF"/>
          </a:solidFill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Fluxograma: Atraso 13">
            <a:extLst>
              <a:ext uri="{FF2B5EF4-FFF2-40B4-BE49-F238E27FC236}">
                <a16:creationId xmlns:a16="http://schemas.microsoft.com/office/drawing/2014/main" id="{26C628B4-AD6C-9643-66E5-B24289BD85B8}"/>
              </a:ext>
            </a:extLst>
          </p:cNvPr>
          <p:cNvSpPr/>
          <p:nvPr userDrawn="1"/>
        </p:nvSpPr>
        <p:spPr>
          <a:xfrm>
            <a:off x="12700" y="0"/>
            <a:ext cx="990600" cy="990600"/>
          </a:xfrm>
          <a:prstGeom prst="flowChartDelay">
            <a:avLst/>
          </a:prstGeom>
          <a:solidFill>
            <a:srgbClr val="00B2FF"/>
          </a:solidFill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4A7598C8-B305-581A-BFD0-5D24FD4868F5}"/>
              </a:ext>
            </a:extLst>
          </p:cNvPr>
          <p:cNvSpPr/>
          <p:nvPr userDrawn="1"/>
        </p:nvSpPr>
        <p:spPr>
          <a:xfrm>
            <a:off x="9207500" y="5911056"/>
            <a:ext cx="990600" cy="990600"/>
          </a:xfrm>
          <a:prstGeom prst="ellipse">
            <a:avLst/>
          </a:prstGeom>
          <a:solidFill>
            <a:srgbClr val="00B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495581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80AD8513-AE5C-46BB-5941-7E71DB5404B2}"/>
              </a:ext>
            </a:extLst>
          </p:cNvPr>
          <p:cNvSpPr/>
          <p:nvPr userDrawn="1"/>
        </p:nvSpPr>
        <p:spPr>
          <a:xfrm flipH="1">
            <a:off x="10788650" y="549274"/>
            <a:ext cx="895350" cy="447675"/>
          </a:xfrm>
          <a:custGeom>
            <a:avLst/>
            <a:gdLst>
              <a:gd name="connsiteX0" fmla="*/ 1631950 w 1631950"/>
              <a:gd name="connsiteY0" fmla="*/ 0 h 815975"/>
              <a:gd name="connsiteX1" fmla="*/ 1223962 w 1631950"/>
              <a:gd name="connsiteY1" fmla="*/ 0 h 815975"/>
              <a:gd name="connsiteX2" fmla="*/ 824263 w 1631950"/>
              <a:gd name="connsiteY2" fmla="*/ 325764 h 815975"/>
              <a:gd name="connsiteX3" fmla="*/ 815975 w 1631950"/>
              <a:gd name="connsiteY3" fmla="*/ 407978 h 815975"/>
              <a:gd name="connsiteX4" fmla="*/ 807687 w 1631950"/>
              <a:gd name="connsiteY4" fmla="*/ 325764 h 815975"/>
              <a:gd name="connsiteX5" fmla="*/ 407988 w 1631950"/>
              <a:gd name="connsiteY5" fmla="*/ 0 h 815975"/>
              <a:gd name="connsiteX6" fmla="*/ 0 w 1631950"/>
              <a:gd name="connsiteY6" fmla="*/ 0 h 815975"/>
              <a:gd name="connsiteX7" fmla="*/ 0 w 1631950"/>
              <a:gd name="connsiteY7" fmla="*/ 815975 h 815975"/>
              <a:gd name="connsiteX8" fmla="*/ 815975 w 1631950"/>
              <a:gd name="connsiteY8" fmla="*/ 815975 h 815975"/>
              <a:gd name="connsiteX9" fmla="*/ 1631950 w 1631950"/>
              <a:gd name="connsiteY9" fmla="*/ 815975 h 815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31950" h="815975">
                <a:moveTo>
                  <a:pt x="1631950" y="0"/>
                </a:moveTo>
                <a:lnTo>
                  <a:pt x="1223962" y="0"/>
                </a:lnTo>
                <a:cubicBezTo>
                  <a:pt x="1026802" y="0"/>
                  <a:pt x="862306" y="139851"/>
                  <a:pt x="824263" y="325764"/>
                </a:cubicBezTo>
                <a:lnTo>
                  <a:pt x="815975" y="407978"/>
                </a:lnTo>
                <a:lnTo>
                  <a:pt x="807687" y="325764"/>
                </a:lnTo>
                <a:cubicBezTo>
                  <a:pt x="769644" y="139851"/>
                  <a:pt x="605148" y="0"/>
                  <a:pt x="407988" y="0"/>
                </a:cubicBezTo>
                <a:lnTo>
                  <a:pt x="0" y="0"/>
                </a:lnTo>
                <a:lnTo>
                  <a:pt x="0" y="815975"/>
                </a:lnTo>
                <a:lnTo>
                  <a:pt x="815975" y="815975"/>
                </a:lnTo>
                <a:lnTo>
                  <a:pt x="1631950" y="815975"/>
                </a:lnTo>
                <a:close/>
              </a:path>
            </a:pathLst>
          </a:custGeom>
          <a:solidFill>
            <a:srgbClr val="00B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7" name="Retângulo: Único Canto Arredondado 6">
            <a:extLst>
              <a:ext uri="{FF2B5EF4-FFF2-40B4-BE49-F238E27FC236}">
                <a16:creationId xmlns:a16="http://schemas.microsoft.com/office/drawing/2014/main" id="{B8892C7F-0F95-C71E-9F1B-CDC9C58B26D7}"/>
              </a:ext>
            </a:extLst>
          </p:cNvPr>
          <p:cNvSpPr/>
          <p:nvPr userDrawn="1"/>
        </p:nvSpPr>
        <p:spPr>
          <a:xfrm>
            <a:off x="10198100" y="5867400"/>
            <a:ext cx="990600" cy="990600"/>
          </a:xfrm>
          <a:prstGeom prst="round1Rect">
            <a:avLst>
              <a:gd name="adj" fmla="val 50000"/>
            </a:avLst>
          </a:prstGeom>
          <a:noFill/>
          <a:ln w="3175">
            <a:solidFill>
              <a:srgbClr val="00B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Único Canto Arredondado 7">
            <a:extLst>
              <a:ext uri="{FF2B5EF4-FFF2-40B4-BE49-F238E27FC236}">
                <a16:creationId xmlns:a16="http://schemas.microsoft.com/office/drawing/2014/main" id="{848575DA-248C-5CC7-4FBE-5D4D8AD58027}"/>
              </a:ext>
            </a:extLst>
          </p:cNvPr>
          <p:cNvSpPr/>
          <p:nvPr userDrawn="1"/>
        </p:nvSpPr>
        <p:spPr>
          <a:xfrm flipH="1">
            <a:off x="11188700" y="5867400"/>
            <a:ext cx="990600" cy="990600"/>
          </a:xfrm>
          <a:prstGeom prst="round1Rect">
            <a:avLst>
              <a:gd name="adj" fmla="val 50000"/>
            </a:avLst>
          </a:prstGeom>
          <a:noFill/>
          <a:ln w="3175">
            <a:solidFill>
              <a:srgbClr val="00B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Fluxograma: Atraso 8">
            <a:extLst>
              <a:ext uri="{FF2B5EF4-FFF2-40B4-BE49-F238E27FC236}">
                <a16:creationId xmlns:a16="http://schemas.microsoft.com/office/drawing/2014/main" id="{0B9A30E3-63A3-95B9-6AE6-4CB9B1D93D6A}"/>
              </a:ext>
            </a:extLst>
          </p:cNvPr>
          <p:cNvSpPr/>
          <p:nvPr userDrawn="1"/>
        </p:nvSpPr>
        <p:spPr>
          <a:xfrm>
            <a:off x="11188700" y="4876800"/>
            <a:ext cx="990600" cy="990600"/>
          </a:xfrm>
          <a:prstGeom prst="flowChartDelay">
            <a:avLst/>
          </a:prstGeom>
          <a:noFill/>
          <a:ln w="3175">
            <a:solidFill>
              <a:srgbClr val="00B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Único Canto Arredondado 9">
            <a:extLst>
              <a:ext uri="{FF2B5EF4-FFF2-40B4-BE49-F238E27FC236}">
                <a16:creationId xmlns:a16="http://schemas.microsoft.com/office/drawing/2014/main" id="{5FE6BE56-5D4F-AE53-0B2D-B35DAD096E59}"/>
              </a:ext>
            </a:extLst>
          </p:cNvPr>
          <p:cNvSpPr/>
          <p:nvPr userDrawn="1"/>
        </p:nvSpPr>
        <p:spPr>
          <a:xfrm>
            <a:off x="12700" y="990600"/>
            <a:ext cx="990600" cy="990600"/>
          </a:xfrm>
          <a:prstGeom prst="round1Rect">
            <a:avLst>
              <a:gd name="adj" fmla="val 50000"/>
            </a:avLst>
          </a:prstGeom>
          <a:noFill/>
          <a:ln w="3175">
            <a:solidFill>
              <a:srgbClr val="00B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Único Canto Arredondado 10">
            <a:extLst>
              <a:ext uri="{FF2B5EF4-FFF2-40B4-BE49-F238E27FC236}">
                <a16:creationId xmlns:a16="http://schemas.microsoft.com/office/drawing/2014/main" id="{61F0A396-B825-58F5-9DDF-9AC74B97D222}"/>
              </a:ext>
            </a:extLst>
          </p:cNvPr>
          <p:cNvSpPr/>
          <p:nvPr userDrawn="1"/>
        </p:nvSpPr>
        <p:spPr>
          <a:xfrm flipH="1">
            <a:off x="0" y="0"/>
            <a:ext cx="990600" cy="990600"/>
          </a:xfrm>
          <a:prstGeom prst="round1Rect">
            <a:avLst>
              <a:gd name="adj" fmla="val 50000"/>
            </a:avLst>
          </a:prstGeom>
          <a:noFill/>
          <a:ln w="3175">
            <a:solidFill>
              <a:srgbClr val="00B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Fluxograma: Atraso 11">
            <a:extLst>
              <a:ext uri="{FF2B5EF4-FFF2-40B4-BE49-F238E27FC236}">
                <a16:creationId xmlns:a16="http://schemas.microsoft.com/office/drawing/2014/main" id="{6FC2450D-9437-CF5B-7316-A962A0269560}"/>
              </a:ext>
            </a:extLst>
          </p:cNvPr>
          <p:cNvSpPr/>
          <p:nvPr userDrawn="1"/>
        </p:nvSpPr>
        <p:spPr>
          <a:xfrm>
            <a:off x="990600" y="0"/>
            <a:ext cx="990600" cy="990600"/>
          </a:xfrm>
          <a:prstGeom prst="flowChartDelay">
            <a:avLst/>
          </a:prstGeom>
          <a:noFill/>
          <a:ln w="3175">
            <a:solidFill>
              <a:srgbClr val="00B2FF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008832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áfico 67">
            <a:extLst>
              <a:ext uri="{FF2B5EF4-FFF2-40B4-BE49-F238E27FC236}">
                <a16:creationId xmlns:a16="http://schemas.microsoft.com/office/drawing/2014/main" id="{4BB66236-03E4-0F9D-F4C1-D95A3DD47A0C}"/>
              </a:ext>
            </a:extLst>
          </p:cNvPr>
          <p:cNvSpPr/>
          <p:nvPr userDrawn="1"/>
        </p:nvSpPr>
        <p:spPr>
          <a:xfrm>
            <a:off x="11043776" y="214085"/>
            <a:ext cx="524337" cy="262165"/>
          </a:xfrm>
          <a:custGeom>
            <a:avLst/>
            <a:gdLst>
              <a:gd name="connsiteX0" fmla="*/ 1639062 w 6556152"/>
              <a:gd name="connsiteY0" fmla="*/ 0 h 3278028"/>
              <a:gd name="connsiteX1" fmla="*/ 3278029 w 6556152"/>
              <a:gd name="connsiteY1" fmla="*/ 1639062 h 3278028"/>
              <a:gd name="connsiteX2" fmla="*/ 4917091 w 6556152"/>
              <a:gd name="connsiteY2" fmla="*/ 0 h 3278028"/>
              <a:gd name="connsiteX3" fmla="*/ 6556153 w 6556152"/>
              <a:gd name="connsiteY3" fmla="*/ 0 h 3278028"/>
              <a:gd name="connsiteX4" fmla="*/ 6556153 w 6556152"/>
              <a:gd name="connsiteY4" fmla="*/ 3278029 h 3278028"/>
              <a:gd name="connsiteX5" fmla="*/ 0 w 6556152"/>
              <a:gd name="connsiteY5" fmla="*/ 3278029 h 3278028"/>
              <a:gd name="connsiteX6" fmla="*/ 0 w 6556152"/>
              <a:gd name="connsiteY6" fmla="*/ 0 h 3278028"/>
              <a:gd name="connsiteX7" fmla="*/ 1639062 w 6556152"/>
              <a:gd name="connsiteY7" fmla="*/ 0 h 3278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6152" h="3278028">
                <a:moveTo>
                  <a:pt x="1639062" y="0"/>
                </a:moveTo>
                <a:cubicBezTo>
                  <a:pt x="2544223" y="0"/>
                  <a:pt x="3278029" y="733806"/>
                  <a:pt x="3278029" y="1639062"/>
                </a:cubicBezTo>
                <a:cubicBezTo>
                  <a:pt x="3278029" y="733806"/>
                  <a:pt x="4011835" y="0"/>
                  <a:pt x="4917091" y="0"/>
                </a:cubicBezTo>
                <a:lnTo>
                  <a:pt x="6556153" y="0"/>
                </a:lnTo>
                <a:lnTo>
                  <a:pt x="6556153" y="3278029"/>
                </a:lnTo>
                <a:lnTo>
                  <a:pt x="0" y="3278029"/>
                </a:lnTo>
                <a:lnTo>
                  <a:pt x="0" y="0"/>
                </a:lnTo>
                <a:lnTo>
                  <a:pt x="1639062" y="0"/>
                </a:lnTo>
                <a:close/>
              </a:path>
            </a:pathLst>
          </a:custGeom>
          <a:solidFill>
            <a:srgbClr val="00B2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F73EFE87-6361-084B-1934-5D89BBB48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657225"/>
            <a:ext cx="10944225" cy="1010937"/>
          </a:xfrm>
        </p:spPr>
        <p:txBody>
          <a:bodyPr lIns="0" tIns="0" rIns="0" bIns="0" anchor="t">
            <a:normAutofit/>
          </a:bodyPr>
          <a:lstStyle>
            <a:lvl1pPr>
              <a:defRPr sz="3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639E5656-07BC-BDC0-A694-1C85181FF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844675"/>
            <a:ext cx="10944226" cy="4608513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208CE020-B11D-2BAC-E71D-5DFE3A141A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91750" y="4857750"/>
            <a:ext cx="20193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4066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287">
          <p15:clr>
            <a:srgbClr val="FBAE40"/>
          </p15:clr>
        </p15:guide>
        <p15:guide id="5" orient="horz" pos="414">
          <p15:clr>
            <a:srgbClr val="FBAE40"/>
          </p15:clr>
        </p15:guide>
        <p15:guide id="6" orient="horz" pos="1049">
          <p15:clr>
            <a:srgbClr val="FBAE40"/>
          </p15:clr>
        </p15:guide>
        <p15:guide id="7" orient="horz" pos="1162">
          <p15:clr>
            <a:srgbClr val="FBAE40"/>
          </p15:clr>
        </p15:guide>
        <p15:guide id="8" orient="horz" pos="4020">
          <p15:clr>
            <a:srgbClr val="FBAE40"/>
          </p15:clr>
        </p15:guide>
        <p15:guide id="9" orient="horz" pos="30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áfico 67">
            <a:extLst>
              <a:ext uri="{FF2B5EF4-FFF2-40B4-BE49-F238E27FC236}">
                <a16:creationId xmlns:a16="http://schemas.microsoft.com/office/drawing/2014/main" id="{4BB66236-03E4-0F9D-F4C1-D95A3DD47A0C}"/>
              </a:ext>
            </a:extLst>
          </p:cNvPr>
          <p:cNvSpPr/>
          <p:nvPr userDrawn="1"/>
        </p:nvSpPr>
        <p:spPr>
          <a:xfrm>
            <a:off x="11043776" y="214085"/>
            <a:ext cx="524337" cy="262165"/>
          </a:xfrm>
          <a:custGeom>
            <a:avLst/>
            <a:gdLst>
              <a:gd name="connsiteX0" fmla="*/ 1639062 w 6556152"/>
              <a:gd name="connsiteY0" fmla="*/ 0 h 3278028"/>
              <a:gd name="connsiteX1" fmla="*/ 3278029 w 6556152"/>
              <a:gd name="connsiteY1" fmla="*/ 1639062 h 3278028"/>
              <a:gd name="connsiteX2" fmla="*/ 4917091 w 6556152"/>
              <a:gd name="connsiteY2" fmla="*/ 0 h 3278028"/>
              <a:gd name="connsiteX3" fmla="*/ 6556153 w 6556152"/>
              <a:gd name="connsiteY3" fmla="*/ 0 h 3278028"/>
              <a:gd name="connsiteX4" fmla="*/ 6556153 w 6556152"/>
              <a:gd name="connsiteY4" fmla="*/ 3278029 h 3278028"/>
              <a:gd name="connsiteX5" fmla="*/ 0 w 6556152"/>
              <a:gd name="connsiteY5" fmla="*/ 3278029 h 3278028"/>
              <a:gd name="connsiteX6" fmla="*/ 0 w 6556152"/>
              <a:gd name="connsiteY6" fmla="*/ 0 h 3278028"/>
              <a:gd name="connsiteX7" fmla="*/ 1639062 w 6556152"/>
              <a:gd name="connsiteY7" fmla="*/ 0 h 3278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6152" h="3278028">
                <a:moveTo>
                  <a:pt x="1639062" y="0"/>
                </a:moveTo>
                <a:cubicBezTo>
                  <a:pt x="2544223" y="0"/>
                  <a:pt x="3278029" y="733806"/>
                  <a:pt x="3278029" y="1639062"/>
                </a:cubicBezTo>
                <a:cubicBezTo>
                  <a:pt x="3278029" y="733806"/>
                  <a:pt x="4011835" y="0"/>
                  <a:pt x="4917091" y="0"/>
                </a:cubicBezTo>
                <a:lnTo>
                  <a:pt x="6556153" y="0"/>
                </a:lnTo>
                <a:lnTo>
                  <a:pt x="6556153" y="3278029"/>
                </a:lnTo>
                <a:lnTo>
                  <a:pt x="0" y="3278029"/>
                </a:lnTo>
                <a:lnTo>
                  <a:pt x="0" y="0"/>
                </a:lnTo>
                <a:lnTo>
                  <a:pt x="1639062" y="0"/>
                </a:lnTo>
                <a:close/>
              </a:path>
            </a:pathLst>
          </a:custGeom>
          <a:solidFill>
            <a:srgbClr val="00B2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F73EFE87-6361-084B-1934-5D89BBB48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657225"/>
            <a:ext cx="10944225" cy="1010937"/>
          </a:xfrm>
        </p:spPr>
        <p:txBody>
          <a:bodyPr lIns="0" tIns="0" rIns="0" bIns="0" anchor="t">
            <a:normAutofit/>
          </a:bodyPr>
          <a:lstStyle>
            <a:lvl1pPr>
              <a:defRPr sz="3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639E5656-07BC-BDC0-A694-1C85181FF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844675"/>
            <a:ext cx="10944226" cy="4608513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2FEA67B1-BE8E-2E6F-1AFB-67D91A18656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631" b="2292"/>
          <a:stretch/>
        </p:blipFill>
        <p:spPr>
          <a:xfrm rot="16200000" flipH="1">
            <a:off x="10165876" y="4831878"/>
            <a:ext cx="2032947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8899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287">
          <p15:clr>
            <a:srgbClr val="FBAE40"/>
          </p15:clr>
        </p15:guide>
        <p15:guide id="5" orient="horz" pos="414">
          <p15:clr>
            <a:srgbClr val="FBAE40"/>
          </p15:clr>
        </p15:guide>
        <p15:guide id="6" orient="horz" pos="1049">
          <p15:clr>
            <a:srgbClr val="FBAE40"/>
          </p15:clr>
        </p15:guide>
        <p15:guide id="7" orient="horz" pos="1162">
          <p15:clr>
            <a:srgbClr val="FBAE40"/>
          </p15:clr>
        </p15:guide>
        <p15:guide id="8" orient="horz" pos="4020">
          <p15:clr>
            <a:srgbClr val="FBAE40"/>
          </p15:clr>
        </p15:guide>
        <p15:guide id="9" orient="horz" pos="30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áfico 67">
            <a:extLst>
              <a:ext uri="{FF2B5EF4-FFF2-40B4-BE49-F238E27FC236}">
                <a16:creationId xmlns:a16="http://schemas.microsoft.com/office/drawing/2014/main" id="{4BB66236-03E4-0F9D-F4C1-D95A3DD47A0C}"/>
              </a:ext>
            </a:extLst>
          </p:cNvPr>
          <p:cNvSpPr/>
          <p:nvPr userDrawn="1"/>
        </p:nvSpPr>
        <p:spPr>
          <a:xfrm>
            <a:off x="11043776" y="214085"/>
            <a:ext cx="524337" cy="262165"/>
          </a:xfrm>
          <a:custGeom>
            <a:avLst/>
            <a:gdLst>
              <a:gd name="connsiteX0" fmla="*/ 1639062 w 6556152"/>
              <a:gd name="connsiteY0" fmla="*/ 0 h 3278028"/>
              <a:gd name="connsiteX1" fmla="*/ 3278029 w 6556152"/>
              <a:gd name="connsiteY1" fmla="*/ 1639062 h 3278028"/>
              <a:gd name="connsiteX2" fmla="*/ 4917091 w 6556152"/>
              <a:gd name="connsiteY2" fmla="*/ 0 h 3278028"/>
              <a:gd name="connsiteX3" fmla="*/ 6556153 w 6556152"/>
              <a:gd name="connsiteY3" fmla="*/ 0 h 3278028"/>
              <a:gd name="connsiteX4" fmla="*/ 6556153 w 6556152"/>
              <a:gd name="connsiteY4" fmla="*/ 3278029 h 3278028"/>
              <a:gd name="connsiteX5" fmla="*/ 0 w 6556152"/>
              <a:gd name="connsiteY5" fmla="*/ 3278029 h 3278028"/>
              <a:gd name="connsiteX6" fmla="*/ 0 w 6556152"/>
              <a:gd name="connsiteY6" fmla="*/ 0 h 3278028"/>
              <a:gd name="connsiteX7" fmla="*/ 1639062 w 6556152"/>
              <a:gd name="connsiteY7" fmla="*/ 0 h 3278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6152" h="3278028">
                <a:moveTo>
                  <a:pt x="1639062" y="0"/>
                </a:moveTo>
                <a:cubicBezTo>
                  <a:pt x="2544223" y="0"/>
                  <a:pt x="3278029" y="733806"/>
                  <a:pt x="3278029" y="1639062"/>
                </a:cubicBezTo>
                <a:cubicBezTo>
                  <a:pt x="3278029" y="733806"/>
                  <a:pt x="4011835" y="0"/>
                  <a:pt x="4917091" y="0"/>
                </a:cubicBezTo>
                <a:lnTo>
                  <a:pt x="6556153" y="0"/>
                </a:lnTo>
                <a:lnTo>
                  <a:pt x="6556153" y="3278029"/>
                </a:lnTo>
                <a:lnTo>
                  <a:pt x="0" y="3278029"/>
                </a:lnTo>
                <a:lnTo>
                  <a:pt x="0" y="0"/>
                </a:lnTo>
                <a:lnTo>
                  <a:pt x="1639062" y="0"/>
                </a:lnTo>
                <a:close/>
              </a:path>
            </a:pathLst>
          </a:custGeom>
          <a:solidFill>
            <a:srgbClr val="00B2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F73EFE87-6361-084B-1934-5D89BBB48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657225"/>
            <a:ext cx="10944225" cy="1010937"/>
          </a:xfrm>
        </p:spPr>
        <p:txBody>
          <a:bodyPr lIns="0" tIns="0" rIns="0" bIns="0" anchor="t">
            <a:normAutofit/>
          </a:bodyPr>
          <a:lstStyle>
            <a:lvl1pPr>
              <a:defRPr sz="3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639E5656-07BC-BDC0-A694-1C85181FF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844675"/>
            <a:ext cx="10944226" cy="4608513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722004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287">
          <p15:clr>
            <a:srgbClr val="FBAE40"/>
          </p15:clr>
        </p15:guide>
        <p15:guide id="5" orient="horz" pos="414">
          <p15:clr>
            <a:srgbClr val="FBAE40"/>
          </p15:clr>
        </p15:guide>
        <p15:guide id="6" orient="horz" pos="1049">
          <p15:clr>
            <a:srgbClr val="FBAE40"/>
          </p15:clr>
        </p15:guide>
        <p15:guide id="7" orient="horz" pos="1162">
          <p15:clr>
            <a:srgbClr val="FBAE40"/>
          </p15:clr>
        </p15:guide>
        <p15:guide id="8" orient="horz" pos="4020">
          <p15:clr>
            <a:srgbClr val="FBAE40"/>
          </p15:clr>
        </p15:guide>
        <p15:guide id="9" orient="horz" pos="30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Único Canto Arredondado 4">
            <a:extLst>
              <a:ext uri="{FF2B5EF4-FFF2-40B4-BE49-F238E27FC236}">
                <a16:creationId xmlns:a16="http://schemas.microsoft.com/office/drawing/2014/main" id="{0CC4135E-4127-9EA2-C5F1-D9B98518E016}"/>
              </a:ext>
            </a:extLst>
          </p:cNvPr>
          <p:cNvSpPr/>
          <p:nvPr userDrawn="1"/>
        </p:nvSpPr>
        <p:spPr>
          <a:xfrm>
            <a:off x="0" y="0"/>
            <a:ext cx="4069080" cy="6858000"/>
          </a:xfrm>
          <a:prstGeom prst="round1Rect">
            <a:avLst/>
          </a:prstGeom>
          <a:solidFill>
            <a:srgbClr val="00B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Gráfico 67">
            <a:extLst>
              <a:ext uri="{FF2B5EF4-FFF2-40B4-BE49-F238E27FC236}">
                <a16:creationId xmlns:a16="http://schemas.microsoft.com/office/drawing/2014/main" id="{4BB66236-03E4-0F9D-F4C1-D95A3DD47A0C}"/>
              </a:ext>
            </a:extLst>
          </p:cNvPr>
          <p:cNvSpPr/>
          <p:nvPr userDrawn="1"/>
        </p:nvSpPr>
        <p:spPr>
          <a:xfrm>
            <a:off x="11043776" y="214085"/>
            <a:ext cx="524337" cy="262165"/>
          </a:xfrm>
          <a:custGeom>
            <a:avLst/>
            <a:gdLst>
              <a:gd name="connsiteX0" fmla="*/ 1639062 w 6556152"/>
              <a:gd name="connsiteY0" fmla="*/ 0 h 3278028"/>
              <a:gd name="connsiteX1" fmla="*/ 3278029 w 6556152"/>
              <a:gd name="connsiteY1" fmla="*/ 1639062 h 3278028"/>
              <a:gd name="connsiteX2" fmla="*/ 4917091 w 6556152"/>
              <a:gd name="connsiteY2" fmla="*/ 0 h 3278028"/>
              <a:gd name="connsiteX3" fmla="*/ 6556153 w 6556152"/>
              <a:gd name="connsiteY3" fmla="*/ 0 h 3278028"/>
              <a:gd name="connsiteX4" fmla="*/ 6556153 w 6556152"/>
              <a:gd name="connsiteY4" fmla="*/ 3278029 h 3278028"/>
              <a:gd name="connsiteX5" fmla="*/ 0 w 6556152"/>
              <a:gd name="connsiteY5" fmla="*/ 3278029 h 3278028"/>
              <a:gd name="connsiteX6" fmla="*/ 0 w 6556152"/>
              <a:gd name="connsiteY6" fmla="*/ 0 h 3278028"/>
              <a:gd name="connsiteX7" fmla="*/ 1639062 w 6556152"/>
              <a:gd name="connsiteY7" fmla="*/ 0 h 3278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6152" h="3278028">
                <a:moveTo>
                  <a:pt x="1639062" y="0"/>
                </a:moveTo>
                <a:cubicBezTo>
                  <a:pt x="2544223" y="0"/>
                  <a:pt x="3278029" y="733806"/>
                  <a:pt x="3278029" y="1639062"/>
                </a:cubicBezTo>
                <a:cubicBezTo>
                  <a:pt x="3278029" y="733806"/>
                  <a:pt x="4011835" y="0"/>
                  <a:pt x="4917091" y="0"/>
                </a:cubicBezTo>
                <a:lnTo>
                  <a:pt x="6556153" y="0"/>
                </a:lnTo>
                <a:lnTo>
                  <a:pt x="6556153" y="3278029"/>
                </a:lnTo>
                <a:lnTo>
                  <a:pt x="0" y="3278029"/>
                </a:lnTo>
                <a:lnTo>
                  <a:pt x="0" y="0"/>
                </a:lnTo>
                <a:lnTo>
                  <a:pt x="1639062" y="0"/>
                </a:lnTo>
                <a:close/>
              </a:path>
            </a:pathLst>
          </a:custGeom>
          <a:solidFill>
            <a:srgbClr val="00B2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6712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287">
          <p15:clr>
            <a:srgbClr val="FBAE40"/>
          </p15:clr>
        </p15:guide>
        <p15:guide id="5" orient="horz" pos="414">
          <p15:clr>
            <a:srgbClr val="FBAE40"/>
          </p15:clr>
        </p15:guide>
        <p15:guide id="6" orient="horz" pos="1049">
          <p15:clr>
            <a:srgbClr val="FBAE40"/>
          </p15:clr>
        </p15:guide>
        <p15:guide id="7" orient="horz" pos="1162">
          <p15:clr>
            <a:srgbClr val="FBAE40"/>
          </p15:clr>
        </p15:guide>
        <p15:guide id="8" orient="horz" pos="4020">
          <p15:clr>
            <a:srgbClr val="FBAE40"/>
          </p15:clr>
        </p15:guide>
        <p15:guide id="9" orient="horz" pos="30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bg>
      <p:bgPr>
        <a:solidFill>
          <a:srgbClr val="00B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áfico 67">
            <a:extLst>
              <a:ext uri="{FF2B5EF4-FFF2-40B4-BE49-F238E27FC236}">
                <a16:creationId xmlns:a16="http://schemas.microsoft.com/office/drawing/2014/main" id="{4BB66236-03E4-0F9D-F4C1-D95A3DD47A0C}"/>
              </a:ext>
            </a:extLst>
          </p:cNvPr>
          <p:cNvSpPr/>
          <p:nvPr userDrawn="1"/>
        </p:nvSpPr>
        <p:spPr>
          <a:xfrm>
            <a:off x="11043776" y="214085"/>
            <a:ext cx="524337" cy="262165"/>
          </a:xfrm>
          <a:custGeom>
            <a:avLst/>
            <a:gdLst>
              <a:gd name="connsiteX0" fmla="*/ 1639062 w 6556152"/>
              <a:gd name="connsiteY0" fmla="*/ 0 h 3278028"/>
              <a:gd name="connsiteX1" fmla="*/ 3278029 w 6556152"/>
              <a:gd name="connsiteY1" fmla="*/ 1639062 h 3278028"/>
              <a:gd name="connsiteX2" fmla="*/ 4917091 w 6556152"/>
              <a:gd name="connsiteY2" fmla="*/ 0 h 3278028"/>
              <a:gd name="connsiteX3" fmla="*/ 6556153 w 6556152"/>
              <a:gd name="connsiteY3" fmla="*/ 0 h 3278028"/>
              <a:gd name="connsiteX4" fmla="*/ 6556153 w 6556152"/>
              <a:gd name="connsiteY4" fmla="*/ 3278029 h 3278028"/>
              <a:gd name="connsiteX5" fmla="*/ 0 w 6556152"/>
              <a:gd name="connsiteY5" fmla="*/ 3278029 h 3278028"/>
              <a:gd name="connsiteX6" fmla="*/ 0 w 6556152"/>
              <a:gd name="connsiteY6" fmla="*/ 0 h 3278028"/>
              <a:gd name="connsiteX7" fmla="*/ 1639062 w 6556152"/>
              <a:gd name="connsiteY7" fmla="*/ 0 h 3278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6152" h="3278028">
                <a:moveTo>
                  <a:pt x="1639062" y="0"/>
                </a:moveTo>
                <a:cubicBezTo>
                  <a:pt x="2544223" y="0"/>
                  <a:pt x="3278029" y="733806"/>
                  <a:pt x="3278029" y="1639062"/>
                </a:cubicBezTo>
                <a:cubicBezTo>
                  <a:pt x="3278029" y="733806"/>
                  <a:pt x="4011835" y="0"/>
                  <a:pt x="4917091" y="0"/>
                </a:cubicBezTo>
                <a:lnTo>
                  <a:pt x="6556153" y="0"/>
                </a:lnTo>
                <a:lnTo>
                  <a:pt x="6556153" y="3278029"/>
                </a:lnTo>
                <a:lnTo>
                  <a:pt x="0" y="3278029"/>
                </a:lnTo>
                <a:lnTo>
                  <a:pt x="0" y="0"/>
                </a:lnTo>
                <a:lnTo>
                  <a:pt x="1639062" y="0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F73EFE87-6361-084B-1934-5D89BBB48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657225"/>
            <a:ext cx="10944225" cy="1010937"/>
          </a:xfrm>
        </p:spPr>
        <p:txBody>
          <a:bodyPr lIns="0" tIns="0" rIns="0" bIns="0" anchor="t">
            <a:normAutofit/>
          </a:bodyPr>
          <a:lstStyle>
            <a:lvl1pPr>
              <a:defRPr sz="3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639E5656-07BC-BDC0-A694-1C85181FF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844675"/>
            <a:ext cx="10944226" cy="4608513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1261278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287">
          <p15:clr>
            <a:srgbClr val="FBAE40"/>
          </p15:clr>
        </p15:guide>
        <p15:guide id="5" orient="horz" pos="414">
          <p15:clr>
            <a:srgbClr val="FBAE40"/>
          </p15:clr>
        </p15:guide>
        <p15:guide id="6" orient="horz" pos="1049">
          <p15:clr>
            <a:srgbClr val="FBAE40"/>
          </p15:clr>
        </p15:guide>
        <p15:guide id="7" orient="horz" pos="1162">
          <p15:clr>
            <a:srgbClr val="FBAE40"/>
          </p15:clr>
        </p15:guide>
        <p15:guide id="8" orient="horz" pos="4020">
          <p15:clr>
            <a:srgbClr val="FBAE40"/>
          </p15:clr>
        </p15:guide>
        <p15:guide id="9" orient="horz" pos="30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bg>
      <p:bgPr>
        <a:solidFill>
          <a:srgbClr val="444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F73EFE87-6361-084B-1934-5D89BBB48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657225"/>
            <a:ext cx="10944225" cy="1010937"/>
          </a:xfrm>
        </p:spPr>
        <p:txBody>
          <a:bodyPr lIns="0" tIns="0" rIns="0" bIns="0" anchor="t">
            <a:normAutofit/>
          </a:bodyPr>
          <a:lstStyle>
            <a:lvl1pPr>
              <a:defRPr sz="3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639E5656-07BC-BDC0-A694-1C85181FF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844675"/>
            <a:ext cx="10944226" cy="4608513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" name="Gráfico 67">
            <a:extLst>
              <a:ext uri="{FF2B5EF4-FFF2-40B4-BE49-F238E27FC236}">
                <a16:creationId xmlns:a16="http://schemas.microsoft.com/office/drawing/2014/main" id="{0C08BA2D-86E1-CE96-BE4F-2CBDA3CC6DFA}"/>
              </a:ext>
            </a:extLst>
          </p:cNvPr>
          <p:cNvSpPr/>
          <p:nvPr userDrawn="1"/>
        </p:nvSpPr>
        <p:spPr>
          <a:xfrm>
            <a:off x="11043776" y="214085"/>
            <a:ext cx="524337" cy="262165"/>
          </a:xfrm>
          <a:custGeom>
            <a:avLst/>
            <a:gdLst>
              <a:gd name="connsiteX0" fmla="*/ 1639062 w 6556152"/>
              <a:gd name="connsiteY0" fmla="*/ 0 h 3278028"/>
              <a:gd name="connsiteX1" fmla="*/ 3278029 w 6556152"/>
              <a:gd name="connsiteY1" fmla="*/ 1639062 h 3278028"/>
              <a:gd name="connsiteX2" fmla="*/ 4917091 w 6556152"/>
              <a:gd name="connsiteY2" fmla="*/ 0 h 3278028"/>
              <a:gd name="connsiteX3" fmla="*/ 6556153 w 6556152"/>
              <a:gd name="connsiteY3" fmla="*/ 0 h 3278028"/>
              <a:gd name="connsiteX4" fmla="*/ 6556153 w 6556152"/>
              <a:gd name="connsiteY4" fmla="*/ 3278029 h 3278028"/>
              <a:gd name="connsiteX5" fmla="*/ 0 w 6556152"/>
              <a:gd name="connsiteY5" fmla="*/ 3278029 h 3278028"/>
              <a:gd name="connsiteX6" fmla="*/ 0 w 6556152"/>
              <a:gd name="connsiteY6" fmla="*/ 0 h 3278028"/>
              <a:gd name="connsiteX7" fmla="*/ 1639062 w 6556152"/>
              <a:gd name="connsiteY7" fmla="*/ 0 h 3278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6152" h="3278028">
                <a:moveTo>
                  <a:pt x="1639062" y="0"/>
                </a:moveTo>
                <a:cubicBezTo>
                  <a:pt x="2544223" y="0"/>
                  <a:pt x="3278029" y="733806"/>
                  <a:pt x="3278029" y="1639062"/>
                </a:cubicBezTo>
                <a:cubicBezTo>
                  <a:pt x="3278029" y="733806"/>
                  <a:pt x="4011835" y="0"/>
                  <a:pt x="4917091" y="0"/>
                </a:cubicBezTo>
                <a:lnTo>
                  <a:pt x="6556153" y="0"/>
                </a:lnTo>
                <a:lnTo>
                  <a:pt x="6556153" y="3278029"/>
                </a:lnTo>
                <a:lnTo>
                  <a:pt x="0" y="3278029"/>
                </a:lnTo>
                <a:lnTo>
                  <a:pt x="0" y="0"/>
                </a:lnTo>
                <a:lnTo>
                  <a:pt x="1639062" y="0"/>
                </a:lnTo>
                <a:close/>
              </a:path>
            </a:pathLst>
          </a:custGeom>
          <a:solidFill>
            <a:srgbClr val="00B2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0286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287">
          <p15:clr>
            <a:srgbClr val="FBAE40"/>
          </p15:clr>
        </p15:guide>
        <p15:guide id="5" orient="horz" pos="414">
          <p15:clr>
            <a:srgbClr val="FBAE40"/>
          </p15:clr>
        </p15:guide>
        <p15:guide id="6" orient="horz" pos="1049">
          <p15:clr>
            <a:srgbClr val="FBAE40"/>
          </p15:clr>
        </p15:guide>
        <p15:guide id="7" orient="horz" pos="1162">
          <p15:clr>
            <a:srgbClr val="FBAE40"/>
          </p15:clr>
        </p15:guide>
        <p15:guide id="8" orient="horz" pos="4020">
          <p15:clr>
            <a:srgbClr val="FBAE40"/>
          </p15:clr>
        </p15:guide>
        <p15:guide id="9" orient="horz" pos="30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de Título">
    <p:bg>
      <p:bgPr>
        <a:solidFill>
          <a:srgbClr val="FC7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áfico 67">
            <a:extLst>
              <a:ext uri="{FF2B5EF4-FFF2-40B4-BE49-F238E27FC236}">
                <a16:creationId xmlns:a16="http://schemas.microsoft.com/office/drawing/2014/main" id="{4BB66236-03E4-0F9D-F4C1-D95A3DD47A0C}"/>
              </a:ext>
            </a:extLst>
          </p:cNvPr>
          <p:cNvSpPr/>
          <p:nvPr userDrawn="1"/>
        </p:nvSpPr>
        <p:spPr>
          <a:xfrm>
            <a:off x="11043776" y="214085"/>
            <a:ext cx="524337" cy="262165"/>
          </a:xfrm>
          <a:custGeom>
            <a:avLst/>
            <a:gdLst>
              <a:gd name="connsiteX0" fmla="*/ 1639062 w 6556152"/>
              <a:gd name="connsiteY0" fmla="*/ 0 h 3278028"/>
              <a:gd name="connsiteX1" fmla="*/ 3278029 w 6556152"/>
              <a:gd name="connsiteY1" fmla="*/ 1639062 h 3278028"/>
              <a:gd name="connsiteX2" fmla="*/ 4917091 w 6556152"/>
              <a:gd name="connsiteY2" fmla="*/ 0 h 3278028"/>
              <a:gd name="connsiteX3" fmla="*/ 6556153 w 6556152"/>
              <a:gd name="connsiteY3" fmla="*/ 0 h 3278028"/>
              <a:gd name="connsiteX4" fmla="*/ 6556153 w 6556152"/>
              <a:gd name="connsiteY4" fmla="*/ 3278029 h 3278028"/>
              <a:gd name="connsiteX5" fmla="*/ 0 w 6556152"/>
              <a:gd name="connsiteY5" fmla="*/ 3278029 h 3278028"/>
              <a:gd name="connsiteX6" fmla="*/ 0 w 6556152"/>
              <a:gd name="connsiteY6" fmla="*/ 0 h 3278028"/>
              <a:gd name="connsiteX7" fmla="*/ 1639062 w 6556152"/>
              <a:gd name="connsiteY7" fmla="*/ 0 h 3278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6152" h="3278028">
                <a:moveTo>
                  <a:pt x="1639062" y="0"/>
                </a:moveTo>
                <a:cubicBezTo>
                  <a:pt x="2544223" y="0"/>
                  <a:pt x="3278029" y="733806"/>
                  <a:pt x="3278029" y="1639062"/>
                </a:cubicBezTo>
                <a:cubicBezTo>
                  <a:pt x="3278029" y="733806"/>
                  <a:pt x="4011835" y="0"/>
                  <a:pt x="4917091" y="0"/>
                </a:cubicBezTo>
                <a:lnTo>
                  <a:pt x="6556153" y="0"/>
                </a:lnTo>
                <a:lnTo>
                  <a:pt x="6556153" y="3278029"/>
                </a:lnTo>
                <a:lnTo>
                  <a:pt x="0" y="3278029"/>
                </a:lnTo>
                <a:lnTo>
                  <a:pt x="0" y="0"/>
                </a:lnTo>
                <a:lnTo>
                  <a:pt x="1639062" y="0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F73EFE87-6361-084B-1934-5D89BBB48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657225"/>
            <a:ext cx="10944225" cy="1010937"/>
          </a:xfrm>
        </p:spPr>
        <p:txBody>
          <a:bodyPr lIns="0" tIns="0" rIns="0" bIns="0" anchor="t">
            <a:normAutofit/>
          </a:bodyPr>
          <a:lstStyle>
            <a:lvl1pPr>
              <a:defRPr sz="3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639E5656-07BC-BDC0-A694-1C85181FF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844675"/>
            <a:ext cx="10944226" cy="4608513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5446950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287">
          <p15:clr>
            <a:srgbClr val="FBAE40"/>
          </p15:clr>
        </p15:guide>
        <p15:guide id="5" orient="horz" pos="414">
          <p15:clr>
            <a:srgbClr val="FBAE40"/>
          </p15:clr>
        </p15:guide>
        <p15:guide id="6" orient="horz" pos="1049">
          <p15:clr>
            <a:srgbClr val="FBAE40"/>
          </p15:clr>
        </p15:guide>
        <p15:guide id="7" orient="horz" pos="1162">
          <p15:clr>
            <a:srgbClr val="FBAE40"/>
          </p15:clr>
        </p15:guide>
        <p15:guide id="8" orient="horz" pos="4020">
          <p15:clr>
            <a:srgbClr val="FBAE40"/>
          </p15:clr>
        </p15:guide>
        <p15:guide id="9" orient="horz" pos="30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de Título">
    <p:bg>
      <p:bgPr>
        <a:solidFill>
          <a:srgbClr val="FC7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áfico 67">
            <a:extLst>
              <a:ext uri="{FF2B5EF4-FFF2-40B4-BE49-F238E27FC236}">
                <a16:creationId xmlns:a16="http://schemas.microsoft.com/office/drawing/2014/main" id="{4BB66236-03E4-0F9D-F4C1-D95A3DD47A0C}"/>
              </a:ext>
            </a:extLst>
          </p:cNvPr>
          <p:cNvSpPr/>
          <p:nvPr userDrawn="1"/>
        </p:nvSpPr>
        <p:spPr>
          <a:xfrm>
            <a:off x="623888" y="214085"/>
            <a:ext cx="524337" cy="262165"/>
          </a:xfrm>
          <a:custGeom>
            <a:avLst/>
            <a:gdLst>
              <a:gd name="connsiteX0" fmla="*/ 1639062 w 6556152"/>
              <a:gd name="connsiteY0" fmla="*/ 0 h 3278028"/>
              <a:gd name="connsiteX1" fmla="*/ 3278029 w 6556152"/>
              <a:gd name="connsiteY1" fmla="*/ 1639062 h 3278028"/>
              <a:gd name="connsiteX2" fmla="*/ 4917091 w 6556152"/>
              <a:gd name="connsiteY2" fmla="*/ 0 h 3278028"/>
              <a:gd name="connsiteX3" fmla="*/ 6556153 w 6556152"/>
              <a:gd name="connsiteY3" fmla="*/ 0 h 3278028"/>
              <a:gd name="connsiteX4" fmla="*/ 6556153 w 6556152"/>
              <a:gd name="connsiteY4" fmla="*/ 3278029 h 3278028"/>
              <a:gd name="connsiteX5" fmla="*/ 0 w 6556152"/>
              <a:gd name="connsiteY5" fmla="*/ 3278029 h 3278028"/>
              <a:gd name="connsiteX6" fmla="*/ 0 w 6556152"/>
              <a:gd name="connsiteY6" fmla="*/ 0 h 3278028"/>
              <a:gd name="connsiteX7" fmla="*/ 1639062 w 6556152"/>
              <a:gd name="connsiteY7" fmla="*/ 0 h 3278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6152" h="3278028">
                <a:moveTo>
                  <a:pt x="1639062" y="0"/>
                </a:moveTo>
                <a:cubicBezTo>
                  <a:pt x="2544223" y="0"/>
                  <a:pt x="3278029" y="733806"/>
                  <a:pt x="3278029" y="1639062"/>
                </a:cubicBezTo>
                <a:cubicBezTo>
                  <a:pt x="3278029" y="733806"/>
                  <a:pt x="4011835" y="0"/>
                  <a:pt x="4917091" y="0"/>
                </a:cubicBezTo>
                <a:lnTo>
                  <a:pt x="6556153" y="0"/>
                </a:lnTo>
                <a:lnTo>
                  <a:pt x="6556153" y="3278029"/>
                </a:lnTo>
                <a:lnTo>
                  <a:pt x="0" y="3278029"/>
                </a:lnTo>
                <a:lnTo>
                  <a:pt x="0" y="0"/>
                </a:lnTo>
                <a:lnTo>
                  <a:pt x="1639062" y="0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F73EFE87-6361-084B-1934-5D89BBB48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657225"/>
            <a:ext cx="10944225" cy="1010937"/>
          </a:xfrm>
        </p:spPr>
        <p:txBody>
          <a:bodyPr lIns="0" tIns="0" rIns="0" bIns="0" anchor="t">
            <a:normAutofit/>
          </a:bodyPr>
          <a:lstStyle>
            <a:lvl1pPr>
              <a:defRPr sz="3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639E5656-07BC-BDC0-A694-1C85181FF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1844675"/>
            <a:ext cx="10944226" cy="4608513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2192799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287">
          <p15:clr>
            <a:srgbClr val="FBAE40"/>
          </p15:clr>
        </p15:guide>
        <p15:guide id="5" orient="horz" pos="414">
          <p15:clr>
            <a:srgbClr val="FBAE40"/>
          </p15:clr>
        </p15:guide>
        <p15:guide id="6" orient="horz" pos="1049">
          <p15:clr>
            <a:srgbClr val="FBAE40"/>
          </p15:clr>
        </p15:guide>
        <p15:guide id="7" orient="horz" pos="1162">
          <p15:clr>
            <a:srgbClr val="FBAE40"/>
          </p15:clr>
        </p15:guide>
        <p15:guide id="8" orient="horz" pos="4020">
          <p15:clr>
            <a:srgbClr val="FBAE40"/>
          </p15:clr>
        </p15:guide>
        <p15:guide id="9" orient="horz" pos="30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D8B74E-944D-0677-3923-38265FD49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BCAD54-D3AB-D7F1-A85D-268F58EBC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D90AFF-EDCE-D238-FE7B-ACE407ACB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486E-85E9-4B23-B18C-E6900943AB8B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1101D6-EC3C-90CE-AD53-F6C4265B0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728FF2-37B2-CB06-F0BB-F333695A2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C1814-BDB1-442E-A1B1-EF0820D5A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4329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CBE0BA-867B-51D3-C8E7-3AFAE2FF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BB9378-811E-0B03-6797-B5168588C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079EF4-9331-C93C-9996-528C6B23C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486E-85E9-4B23-B18C-E6900943AB8B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9641B0-7E24-275B-DD0D-9B75F88D7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4C9E32-38A4-5FBA-ABBD-9164060D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C1814-BDB1-442E-A1B1-EF0820D5A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27563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9FC00B-A3C5-0AFD-B967-AB3382F24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D389DF-4261-7EA1-7AFF-C12DD5D4AC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309CC37-F2DA-CBB2-2AAB-5EBDB5F26E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5E31DA7-948E-AAA3-6B9A-F0AAE22C2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486E-85E9-4B23-B18C-E6900943AB8B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4D74F40-8343-4CF5-0C33-E180BA463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F1B718D-718A-5D41-3846-1A71A16D5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C1814-BDB1-442E-A1B1-EF0820D5A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8326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99FF96-BD7E-6EAF-3DA6-2FC7FAE04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7D1F838-07BD-870C-8170-237E80D95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74694FC-426E-3631-8235-BD8DD5BC7D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D192B98-DE35-2CEC-3ED9-A894F7DFC5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F1C7622-52AA-3C07-7528-673A15FB1A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519CE34-193E-3820-BC24-4F1E08A18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486E-85E9-4B23-B18C-E6900943AB8B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2261780-7415-BDD5-E569-D58327FE3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1435138-FA78-4EC4-DCE4-F6B233DDD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C1814-BDB1-442E-A1B1-EF0820D5A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671608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2FC6F3-A806-C2F1-4961-B6E2A04CA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789DA8B-B64B-6FCB-A559-E160D4628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486E-85E9-4B23-B18C-E6900943AB8B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9AA449B-28BD-6AAD-2347-A62FFCDFD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B0D9F60-74E7-24E2-A185-86B6AC870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C1814-BDB1-442E-A1B1-EF0820D5A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912184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FA2ABB2-E15C-5AA3-4C14-8D49D79B1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486E-85E9-4B23-B18C-E6900943AB8B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F1C519-1EB0-0290-FFAE-31147AB0D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BBFE231-7D4E-6B00-A6BB-211378EFC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C1814-BDB1-442E-A1B1-EF0820D5A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8041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1A7AE3-59DE-C0FD-E90D-F7F815DF5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01C6C1-A4F8-FB3A-C3EF-368E9CEB5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E001784-F76A-84C2-3DC7-2B6876724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D5BF017-81F3-D96D-189B-BA33FEACF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486E-85E9-4B23-B18C-E6900943AB8B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580F62B-BB81-5147-E8A4-5676C5E29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4C6781F-5C20-41B2-E22A-6E8FF751F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C1814-BDB1-442E-A1B1-EF0820D5A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080381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667C2D-B929-42E9-0B71-9F7F777BD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EB7D0F8-23CA-8220-125F-E90D888CF6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1A2CF8F-AC4F-74B8-FFDF-DF2FFE7E7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2A1AA63-CDCF-FCB4-C618-858684ECF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486E-85E9-4B23-B18C-E6900943AB8B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B8731C5-09E2-DD75-120F-00373C4C9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6EC626A-CC88-F530-C9B0-4B841E520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C1814-BDB1-442E-A1B1-EF0820D5A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336420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125D1C-743E-AD08-938F-980738473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E07DE43-1BA7-5AED-EAAE-D1EB147572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388F37-805B-F2CD-968B-DF7471A6C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486E-85E9-4B23-B18C-E6900943AB8B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43482D-FC00-4E00-2A89-D59CE1142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DA9ACBF-B109-5627-6B4E-D846925D7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C1814-BDB1-442E-A1B1-EF0820D5A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030898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B59D6D3-7A58-EE51-A844-BC5A57B9A8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95F564D-52C1-88C4-3588-C33DFE88EC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623B11-6424-10EE-AAFF-345200998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39486E-85E9-4B23-B18C-E6900943AB8B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E40897-4691-E105-906F-23EDB67DA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172E7E-9A45-492B-A83D-0E0505825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C1814-BDB1-442E-A1B1-EF0820D5A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425837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488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3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2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9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8.xml"/><Relationship Id="rId26" Type="http://schemas.openxmlformats.org/officeDocument/2006/relationships/slideLayout" Target="../slideLayouts/slideLayout66.xml"/><Relationship Id="rId3" Type="http://schemas.openxmlformats.org/officeDocument/2006/relationships/slideLayout" Target="../slideLayouts/slideLayout43.xml"/><Relationship Id="rId21" Type="http://schemas.openxmlformats.org/officeDocument/2006/relationships/slideLayout" Target="../slideLayouts/slideLayout61.xml"/><Relationship Id="rId7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7.xml"/><Relationship Id="rId25" Type="http://schemas.openxmlformats.org/officeDocument/2006/relationships/slideLayout" Target="../slideLayouts/slideLayout65.xml"/><Relationship Id="rId2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56.xml"/><Relationship Id="rId20" Type="http://schemas.openxmlformats.org/officeDocument/2006/relationships/slideLayout" Target="../slideLayouts/slideLayout60.xml"/><Relationship Id="rId29" Type="http://schemas.openxmlformats.org/officeDocument/2006/relationships/slideLayout" Target="../slideLayouts/slideLayout69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51.xml"/><Relationship Id="rId24" Type="http://schemas.openxmlformats.org/officeDocument/2006/relationships/slideLayout" Target="../slideLayouts/slideLayout64.xml"/><Relationship Id="rId5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55.xml"/><Relationship Id="rId23" Type="http://schemas.openxmlformats.org/officeDocument/2006/relationships/slideLayout" Target="../slideLayouts/slideLayout63.xml"/><Relationship Id="rId28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50.xml"/><Relationship Id="rId19" Type="http://schemas.openxmlformats.org/officeDocument/2006/relationships/slideLayout" Target="../slideLayouts/slideLayout59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54.xml"/><Relationship Id="rId22" Type="http://schemas.openxmlformats.org/officeDocument/2006/relationships/slideLayout" Target="../slideLayouts/slideLayout62.xml"/><Relationship Id="rId27" Type="http://schemas.openxmlformats.org/officeDocument/2006/relationships/slideLayout" Target="../slideLayouts/slideLayout67.xml"/><Relationship Id="rId30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A2CF92E-D801-6A80-B577-84D1C72D6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AF18283-78BF-68D1-5EBE-0ED595A47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741B0A-7C76-0F95-AD5B-92BAE4351C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39486E-85E9-4B23-B18C-E6900943AB8B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5454D3-643E-7E04-C0F5-2BE12CFC5B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BE4F66-5B44-2523-2EEF-11D4BBDFE5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C1814-BDB1-442E-A1B1-EF0820D5A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6277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68" r:id="rId3"/>
    <p:sldLayoutId id="2147483666" r:id="rId4"/>
    <p:sldLayoutId id="2147483667" r:id="rId5"/>
    <p:sldLayoutId id="2147483661" r:id="rId6"/>
    <p:sldLayoutId id="2147483662" r:id="rId7"/>
    <p:sldLayoutId id="2147483663" r:id="rId8"/>
    <p:sldLayoutId id="2147483664" r:id="rId9"/>
    <p:sldLayoutId id="2147483650" r:id="rId10"/>
    <p:sldLayoutId id="2147483651" r:id="rId11"/>
    <p:sldLayoutId id="2147483652" r:id="rId12"/>
    <p:sldLayoutId id="2147483653" r:id="rId13"/>
    <p:sldLayoutId id="2147483654" r:id="rId14"/>
    <p:sldLayoutId id="2147483655" r:id="rId15"/>
    <p:sldLayoutId id="2147483656" r:id="rId16"/>
    <p:sldLayoutId id="2147483657" r:id="rId17"/>
    <p:sldLayoutId id="2147483658" r:id="rId18"/>
    <p:sldLayoutId id="2147483659" r:id="rId19"/>
    <p:sldLayoutId id="2147483669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A2CF92E-D801-6A80-B577-84D1C72D6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AF18283-78BF-68D1-5EBE-0ED595A47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741B0A-7C76-0F95-AD5B-92BAE4351C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39486E-85E9-4B23-B18C-E6900943AB8B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5454D3-643E-7E04-C0F5-2BE12CFC5B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BE4F66-5B44-2523-2EEF-11D4BBDFE5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C1814-BDB1-442E-A1B1-EF0820D5A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7842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  <p:sldLayoutId id="2147483707" r:id="rId18"/>
    <p:sldLayoutId id="2147483708" r:id="rId19"/>
    <p:sldLayoutId id="2147483709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A2CF92E-D801-6A80-B577-84D1C72D6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AF18283-78BF-68D1-5EBE-0ED595A47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741B0A-7C76-0F95-AD5B-92BAE4351C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39486E-85E9-4B23-B18C-E6900943AB8B}" type="datetimeFigureOut">
              <a:rPr lang="pt-BR" smtClean="0"/>
              <a:t>12/06/2026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5454D3-643E-7E04-C0F5-2BE12CFC5B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BE4F66-5B44-2523-2EEF-11D4BBDFE5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C1814-BDB1-442E-A1B1-EF0820D5ACD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8923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  <p:sldLayoutId id="2147483722" r:id="rId12"/>
    <p:sldLayoutId id="2147483723" r:id="rId13"/>
    <p:sldLayoutId id="2147483724" r:id="rId14"/>
    <p:sldLayoutId id="2147483725" r:id="rId15"/>
    <p:sldLayoutId id="2147483726" r:id="rId16"/>
    <p:sldLayoutId id="2147483727" r:id="rId17"/>
    <p:sldLayoutId id="2147483728" r:id="rId18"/>
    <p:sldLayoutId id="2147483729" r:id="rId19"/>
    <p:sldLayoutId id="2147483730" r:id="rId20"/>
    <p:sldLayoutId id="2147483731" r:id="rId21"/>
    <p:sldLayoutId id="2147483732" r:id="rId22"/>
    <p:sldLayoutId id="2147483733" r:id="rId23"/>
    <p:sldLayoutId id="2147483734" r:id="rId24"/>
    <p:sldLayoutId id="2147483735" r:id="rId25"/>
    <p:sldLayoutId id="2147483736" r:id="rId26"/>
    <p:sldLayoutId id="2147483737" r:id="rId27"/>
    <p:sldLayoutId id="2147483738" r:id="rId28"/>
    <p:sldLayoutId id="2147483739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8.svg"/><Relationship Id="rId4" Type="http://schemas.openxmlformats.org/officeDocument/2006/relationships/image" Target="../media/image20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29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nstagram.com/madronaadvogados/" TargetMode="External"/><Relationship Id="rId3" Type="http://schemas.openxmlformats.org/officeDocument/2006/relationships/slideLayout" Target="../slideLayouts/slideLayout35.xml"/><Relationship Id="rId7" Type="http://schemas.openxmlformats.org/officeDocument/2006/relationships/hyperlink" Target="https://www.linkedin.com/company/madronaadvogados/?originalSubdomain=br" TargetMode="Externa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hyperlink" Target="https://www.youtube.com/channel/UCqDZllZ7ZkA3bUKUwfnbgNw" TargetMode="External"/><Relationship Id="rId5" Type="http://schemas.openxmlformats.org/officeDocument/2006/relationships/hyperlink" Target="https://madronaadvogados.com.br/" TargetMode="External"/><Relationship Id="rId4" Type="http://schemas.openxmlformats.org/officeDocument/2006/relationships/image" Target="../media/image30.png"/><Relationship Id="rId9" Type="http://schemas.openxmlformats.org/officeDocument/2006/relationships/image" Target="../media/image3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4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702FC2B-DA31-2402-2ADE-4D5E60CC34C2}"/>
              </a:ext>
            </a:extLst>
          </p:cNvPr>
          <p:cNvSpPr txBox="1"/>
          <p:nvPr/>
        </p:nvSpPr>
        <p:spPr>
          <a:xfrm>
            <a:off x="531936" y="2470577"/>
            <a:ext cx="6101946" cy="20313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228611">
              <a:defRPr/>
            </a:pPr>
            <a:r>
              <a:rPr lang="pt-BR" sz="4400" b="1" dirty="0">
                <a:solidFill>
                  <a:srgbClr val="FFFFF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CISPAR | CONCESSÃO DE RESÍDUOS SÓLIDOS URBANOS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071A8E2-7E30-2942-D56A-7C5E84B332E0}"/>
              </a:ext>
            </a:extLst>
          </p:cNvPr>
          <p:cNvSpPr txBox="1"/>
          <p:nvPr/>
        </p:nvSpPr>
        <p:spPr>
          <a:xfrm>
            <a:off x="531936" y="4734065"/>
            <a:ext cx="5319794" cy="8002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2286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Concorrência nº 01/2026</a:t>
            </a:r>
          </a:p>
          <a:p>
            <a:pPr marL="0" marR="0" lvl="0" indent="0" algn="l" defTabSz="22861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D2FAF980-7F89-3EA4-216D-FBE13401E4F2}"/>
              </a:ext>
            </a:extLst>
          </p:cNvPr>
          <p:cNvSpPr/>
          <p:nvPr/>
        </p:nvSpPr>
        <p:spPr>
          <a:xfrm>
            <a:off x="8764429" y="1717691"/>
            <a:ext cx="1713437" cy="1713437"/>
          </a:xfrm>
          <a:custGeom>
            <a:avLst/>
            <a:gdLst>
              <a:gd name="connsiteX0" fmla="*/ 1141525 w 1141525"/>
              <a:gd name="connsiteY0" fmla="*/ 1141525 h 1141525"/>
              <a:gd name="connsiteX1" fmla="*/ 0 w 1141525"/>
              <a:gd name="connsiteY1" fmla="*/ 1141525 h 1141525"/>
              <a:gd name="connsiteX2" fmla="*/ 0 w 1141525"/>
              <a:gd name="connsiteY2" fmla="*/ 0 h 1141525"/>
              <a:gd name="connsiteX3" fmla="*/ 570762 w 1141525"/>
              <a:gd name="connsiteY3" fmla="*/ 0 h 1141525"/>
              <a:gd name="connsiteX4" fmla="*/ 1141525 w 1141525"/>
              <a:gd name="connsiteY4" fmla="*/ 570763 h 1141525"/>
              <a:gd name="connsiteX5" fmla="*/ 1141525 w 1141525"/>
              <a:gd name="connsiteY5" fmla="*/ 1141525 h 114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1525" h="1141525">
                <a:moveTo>
                  <a:pt x="1141525" y="1141525"/>
                </a:moveTo>
                <a:lnTo>
                  <a:pt x="0" y="1141525"/>
                </a:lnTo>
                <a:lnTo>
                  <a:pt x="0" y="0"/>
                </a:lnTo>
                <a:lnTo>
                  <a:pt x="570762" y="0"/>
                </a:lnTo>
                <a:cubicBezTo>
                  <a:pt x="886009" y="0"/>
                  <a:pt x="1141525" y="255516"/>
                  <a:pt x="1141525" y="570763"/>
                </a:cubicBezTo>
                <a:lnTo>
                  <a:pt x="1141525" y="1141525"/>
                </a:lnTo>
                <a:close/>
              </a:path>
            </a:pathLst>
          </a:custGeom>
          <a:noFill/>
          <a:ln w="19050" cap="flat">
            <a:solidFill>
              <a:srgbClr val="5E5E5E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Forma Livre: Forma 16">
            <a:extLst>
              <a:ext uri="{FF2B5EF4-FFF2-40B4-BE49-F238E27FC236}">
                <a16:creationId xmlns:a16="http://schemas.microsoft.com/office/drawing/2014/main" id="{D2874E49-6E97-9ACD-DCF2-0A70178B6C69}"/>
              </a:ext>
            </a:extLst>
          </p:cNvPr>
          <p:cNvSpPr/>
          <p:nvPr/>
        </p:nvSpPr>
        <p:spPr>
          <a:xfrm rot="10800000" flipH="1">
            <a:off x="7049563" y="3431127"/>
            <a:ext cx="1713437" cy="1713437"/>
          </a:xfrm>
          <a:custGeom>
            <a:avLst/>
            <a:gdLst>
              <a:gd name="connsiteX0" fmla="*/ 0 w 1141525"/>
              <a:gd name="connsiteY0" fmla="*/ 0 h 1141525"/>
              <a:gd name="connsiteX1" fmla="*/ 0 w 1141525"/>
              <a:gd name="connsiteY1" fmla="*/ 1141525 h 1141525"/>
              <a:gd name="connsiteX2" fmla="*/ 570762 w 1141525"/>
              <a:gd name="connsiteY2" fmla="*/ 1141525 h 1141525"/>
              <a:gd name="connsiteX3" fmla="*/ 1141525 w 1141525"/>
              <a:gd name="connsiteY3" fmla="*/ 570762 h 1141525"/>
              <a:gd name="connsiteX4" fmla="*/ 570762 w 1141525"/>
              <a:gd name="connsiteY4" fmla="*/ 0 h 1141525"/>
              <a:gd name="connsiteX5" fmla="*/ 0 w 1141525"/>
              <a:gd name="connsiteY5" fmla="*/ 0 h 114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1525" h="1141525">
                <a:moveTo>
                  <a:pt x="0" y="0"/>
                </a:moveTo>
                <a:lnTo>
                  <a:pt x="0" y="1141525"/>
                </a:lnTo>
                <a:lnTo>
                  <a:pt x="570762" y="1141525"/>
                </a:lnTo>
                <a:cubicBezTo>
                  <a:pt x="886009" y="1141525"/>
                  <a:pt x="1141525" y="886009"/>
                  <a:pt x="1141525" y="570762"/>
                </a:cubicBezTo>
                <a:cubicBezTo>
                  <a:pt x="1141525" y="255516"/>
                  <a:pt x="886009" y="0"/>
                  <a:pt x="570762" y="0"/>
                </a:cubicBezTo>
                <a:lnTo>
                  <a:pt x="0" y="0"/>
                </a:lnTo>
                <a:close/>
              </a:path>
            </a:pathLst>
          </a:custGeom>
          <a:noFill/>
          <a:ln w="19050" cap="flat">
            <a:solidFill>
              <a:srgbClr val="5E5E5E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Forma Livre: Forma 30">
            <a:extLst>
              <a:ext uri="{FF2B5EF4-FFF2-40B4-BE49-F238E27FC236}">
                <a16:creationId xmlns:a16="http://schemas.microsoft.com/office/drawing/2014/main" id="{5C5D11C3-6015-3560-1A56-5BF2DE07C24C}"/>
              </a:ext>
            </a:extLst>
          </p:cNvPr>
          <p:cNvSpPr/>
          <p:nvPr/>
        </p:nvSpPr>
        <p:spPr>
          <a:xfrm>
            <a:off x="8760592" y="5144564"/>
            <a:ext cx="1713437" cy="1713437"/>
          </a:xfrm>
          <a:custGeom>
            <a:avLst/>
            <a:gdLst>
              <a:gd name="connsiteX0" fmla="*/ 0 w 1141525"/>
              <a:gd name="connsiteY0" fmla="*/ 0 h 1141525"/>
              <a:gd name="connsiteX1" fmla="*/ 0 w 1141525"/>
              <a:gd name="connsiteY1" fmla="*/ 1141525 h 1141525"/>
              <a:gd name="connsiteX2" fmla="*/ 570763 w 1141525"/>
              <a:gd name="connsiteY2" fmla="*/ 1141525 h 1141525"/>
              <a:gd name="connsiteX3" fmla="*/ 1141525 w 1141525"/>
              <a:gd name="connsiteY3" fmla="*/ 570762 h 1141525"/>
              <a:gd name="connsiteX4" fmla="*/ 570763 w 1141525"/>
              <a:gd name="connsiteY4" fmla="*/ 0 h 1141525"/>
              <a:gd name="connsiteX5" fmla="*/ 0 w 1141525"/>
              <a:gd name="connsiteY5" fmla="*/ 0 h 114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1525" h="1141525">
                <a:moveTo>
                  <a:pt x="0" y="0"/>
                </a:moveTo>
                <a:lnTo>
                  <a:pt x="0" y="1141525"/>
                </a:lnTo>
                <a:lnTo>
                  <a:pt x="570763" y="1141525"/>
                </a:lnTo>
                <a:cubicBezTo>
                  <a:pt x="886009" y="1141525"/>
                  <a:pt x="1141525" y="886009"/>
                  <a:pt x="1141525" y="570762"/>
                </a:cubicBezTo>
                <a:cubicBezTo>
                  <a:pt x="1141525" y="255516"/>
                  <a:pt x="886009" y="0"/>
                  <a:pt x="570763" y="0"/>
                </a:cubicBezTo>
                <a:lnTo>
                  <a:pt x="0" y="0"/>
                </a:lnTo>
                <a:close/>
              </a:path>
            </a:pathLst>
          </a:custGeom>
          <a:noFill/>
          <a:ln w="19050" cap="flat">
            <a:solidFill>
              <a:srgbClr val="5E5E5E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Forma Livre: Forma 31">
            <a:extLst>
              <a:ext uri="{FF2B5EF4-FFF2-40B4-BE49-F238E27FC236}">
                <a16:creationId xmlns:a16="http://schemas.microsoft.com/office/drawing/2014/main" id="{061F9BD9-DCE5-1720-82A5-6E29C5A6B1AF}"/>
              </a:ext>
            </a:extLst>
          </p:cNvPr>
          <p:cNvSpPr/>
          <p:nvPr/>
        </p:nvSpPr>
        <p:spPr>
          <a:xfrm>
            <a:off x="7041962" y="0"/>
            <a:ext cx="1713437" cy="1713437"/>
          </a:xfrm>
          <a:custGeom>
            <a:avLst/>
            <a:gdLst>
              <a:gd name="connsiteX0" fmla="*/ 0 w 1141525"/>
              <a:gd name="connsiteY0" fmla="*/ 0 h 1141525"/>
              <a:gd name="connsiteX1" fmla="*/ 0 w 1141525"/>
              <a:gd name="connsiteY1" fmla="*/ 1141525 h 1141525"/>
              <a:gd name="connsiteX2" fmla="*/ 570763 w 1141525"/>
              <a:gd name="connsiteY2" fmla="*/ 1141525 h 1141525"/>
              <a:gd name="connsiteX3" fmla="*/ 1141525 w 1141525"/>
              <a:gd name="connsiteY3" fmla="*/ 570763 h 1141525"/>
              <a:gd name="connsiteX4" fmla="*/ 570763 w 1141525"/>
              <a:gd name="connsiteY4" fmla="*/ 0 h 1141525"/>
              <a:gd name="connsiteX5" fmla="*/ 0 w 1141525"/>
              <a:gd name="connsiteY5" fmla="*/ 0 h 114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1525" h="1141525">
                <a:moveTo>
                  <a:pt x="0" y="0"/>
                </a:moveTo>
                <a:lnTo>
                  <a:pt x="0" y="1141525"/>
                </a:lnTo>
                <a:lnTo>
                  <a:pt x="570763" y="1141525"/>
                </a:lnTo>
                <a:cubicBezTo>
                  <a:pt x="886009" y="1141525"/>
                  <a:pt x="1141525" y="886009"/>
                  <a:pt x="1141525" y="570763"/>
                </a:cubicBezTo>
                <a:cubicBezTo>
                  <a:pt x="1141525" y="255516"/>
                  <a:pt x="886009" y="0"/>
                  <a:pt x="570763" y="0"/>
                </a:cubicBezTo>
                <a:lnTo>
                  <a:pt x="0" y="0"/>
                </a:lnTo>
                <a:close/>
              </a:path>
            </a:pathLst>
          </a:custGeom>
          <a:noFill/>
          <a:ln w="19050" cap="flat">
            <a:solidFill>
              <a:srgbClr val="5E5E5E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4D2F7FBC-9320-3B6E-147F-FC8654F098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741" y="544952"/>
            <a:ext cx="2377733" cy="623532"/>
          </a:xfrm>
          <a:prstGeom prst="rect">
            <a:avLst/>
          </a:prstGeom>
        </p:spPr>
      </p:pic>
      <p:sp>
        <p:nvSpPr>
          <p:cNvPr id="77" name="Forma Livre: Forma 76">
            <a:extLst>
              <a:ext uri="{FF2B5EF4-FFF2-40B4-BE49-F238E27FC236}">
                <a16:creationId xmlns:a16="http://schemas.microsoft.com/office/drawing/2014/main" id="{81D21032-7B0A-0828-47C9-1AB041630E27}"/>
              </a:ext>
            </a:extLst>
          </p:cNvPr>
          <p:cNvSpPr/>
          <p:nvPr/>
        </p:nvSpPr>
        <p:spPr>
          <a:xfrm rot="10800000" flipH="1">
            <a:off x="7050711" y="5137243"/>
            <a:ext cx="1713437" cy="1713437"/>
          </a:xfrm>
          <a:custGeom>
            <a:avLst/>
            <a:gdLst>
              <a:gd name="connsiteX0" fmla="*/ 0 w 1141525"/>
              <a:gd name="connsiteY0" fmla="*/ 0 h 1141525"/>
              <a:gd name="connsiteX1" fmla="*/ 0 w 1141525"/>
              <a:gd name="connsiteY1" fmla="*/ 1141525 h 1141525"/>
              <a:gd name="connsiteX2" fmla="*/ 570762 w 1141525"/>
              <a:gd name="connsiteY2" fmla="*/ 1141525 h 1141525"/>
              <a:gd name="connsiteX3" fmla="*/ 1141525 w 1141525"/>
              <a:gd name="connsiteY3" fmla="*/ 570762 h 1141525"/>
              <a:gd name="connsiteX4" fmla="*/ 570762 w 1141525"/>
              <a:gd name="connsiteY4" fmla="*/ 0 h 1141525"/>
              <a:gd name="connsiteX5" fmla="*/ 0 w 1141525"/>
              <a:gd name="connsiteY5" fmla="*/ 0 h 114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1525" h="1141525">
                <a:moveTo>
                  <a:pt x="0" y="0"/>
                </a:moveTo>
                <a:lnTo>
                  <a:pt x="0" y="1141525"/>
                </a:lnTo>
                <a:lnTo>
                  <a:pt x="570762" y="1141525"/>
                </a:lnTo>
                <a:cubicBezTo>
                  <a:pt x="886009" y="1141525"/>
                  <a:pt x="1141525" y="886009"/>
                  <a:pt x="1141525" y="570762"/>
                </a:cubicBezTo>
                <a:cubicBezTo>
                  <a:pt x="1141525" y="255516"/>
                  <a:pt x="886009" y="0"/>
                  <a:pt x="570762" y="0"/>
                </a:cubicBezTo>
                <a:lnTo>
                  <a:pt x="0" y="0"/>
                </a:lnTo>
                <a:close/>
              </a:path>
            </a:pathLst>
          </a:custGeom>
          <a:noFill/>
          <a:ln w="19050" cap="flat">
            <a:solidFill>
              <a:srgbClr val="5E5E5E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Forma Livre: Forma 77">
            <a:extLst>
              <a:ext uri="{FF2B5EF4-FFF2-40B4-BE49-F238E27FC236}">
                <a16:creationId xmlns:a16="http://schemas.microsoft.com/office/drawing/2014/main" id="{4022C938-A934-B551-0451-F0E5E7643977}"/>
              </a:ext>
            </a:extLst>
          </p:cNvPr>
          <p:cNvSpPr/>
          <p:nvPr/>
        </p:nvSpPr>
        <p:spPr>
          <a:xfrm rot="16200000" flipH="1">
            <a:off x="10465080" y="5139890"/>
            <a:ext cx="1713437" cy="1713437"/>
          </a:xfrm>
          <a:custGeom>
            <a:avLst/>
            <a:gdLst>
              <a:gd name="connsiteX0" fmla="*/ 0 w 1141525"/>
              <a:gd name="connsiteY0" fmla="*/ 0 h 1141525"/>
              <a:gd name="connsiteX1" fmla="*/ 0 w 1141525"/>
              <a:gd name="connsiteY1" fmla="*/ 1141525 h 1141525"/>
              <a:gd name="connsiteX2" fmla="*/ 570763 w 1141525"/>
              <a:gd name="connsiteY2" fmla="*/ 1141525 h 1141525"/>
              <a:gd name="connsiteX3" fmla="*/ 1141525 w 1141525"/>
              <a:gd name="connsiteY3" fmla="*/ 570763 h 1141525"/>
              <a:gd name="connsiteX4" fmla="*/ 570763 w 1141525"/>
              <a:gd name="connsiteY4" fmla="*/ 0 h 1141525"/>
              <a:gd name="connsiteX5" fmla="*/ 0 w 1141525"/>
              <a:gd name="connsiteY5" fmla="*/ 0 h 114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1525" h="1141525">
                <a:moveTo>
                  <a:pt x="0" y="0"/>
                </a:moveTo>
                <a:lnTo>
                  <a:pt x="0" y="1141525"/>
                </a:lnTo>
                <a:lnTo>
                  <a:pt x="570763" y="1141525"/>
                </a:lnTo>
                <a:cubicBezTo>
                  <a:pt x="886009" y="1141525"/>
                  <a:pt x="1141525" y="886009"/>
                  <a:pt x="1141525" y="570763"/>
                </a:cubicBezTo>
                <a:cubicBezTo>
                  <a:pt x="1141525" y="255516"/>
                  <a:pt x="885924" y="0"/>
                  <a:pt x="570763" y="0"/>
                </a:cubicBezTo>
                <a:lnTo>
                  <a:pt x="0" y="0"/>
                </a:lnTo>
                <a:close/>
              </a:path>
            </a:pathLst>
          </a:custGeom>
          <a:noFill/>
          <a:ln w="1905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9" name="Forma Livre: Forma 78">
            <a:extLst>
              <a:ext uri="{FF2B5EF4-FFF2-40B4-BE49-F238E27FC236}">
                <a16:creationId xmlns:a16="http://schemas.microsoft.com/office/drawing/2014/main" id="{5C259990-2A82-71C3-A2B0-708656E5DD9B}"/>
              </a:ext>
            </a:extLst>
          </p:cNvPr>
          <p:cNvSpPr/>
          <p:nvPr/>
        </p:nvSpPr>
        <p:spPr>
          <a:xfrm>
            <a:off x="7039136" y="1721944"/>
            <a:ext cx="1713437" cy="1713437"/>
          </a:xfrm>
          <a:custGeom>
            <a:avLst/>
            <a:gdLst>
              <a:gd name="connsiteX0" fmla="*/ 1141525 w 1141525"/>
              <a:gd name="connsiteY0" fmla="*/ 1141525 h 1141525"/>
              <a:gd name="connsiteX1" fmla="*/ 0 w 1141525"/>
              <a:gd name="connsiteY1" fmla="*/ 1141525 h 1141525"/>
              <a:gd name="connsiteX2" fmla="*/ 0 w 1141525"/>
              <a:gd name="connsiteY2" fmla="*/ 0 h 1141525"/>
              <a:gd name="connsiteX3" fmla="*/ 570762 w 1141525"/>
              <a:gd name="connsiteY3" fmla="*/ 0 h 1141525"/>
              <a:gd name="connsiteX4" fmla="*/ 1141525 w 1141525"/>
              <a:gd name="connsiteY4" fmla="*/ 570763 h 1141525"/>
              <a:gd name="connsiteX5" fmla="*/ 1141525 w 1141525"/>
              <a:gd name="connsiteY5" fmla="*/ 1141525 h 114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1525" h="1141525">
                <a:moveTo>
                  <a:pt x="1141525" y="1141525"/>
                </a:moveTo>
                <a:lnTo>
                  <a:pt x="0" y="1141525"/>
                </a:lnTo>
                <a:lnTo>
                  <a:pt x="0" y="0"/>
                </a:lnTo>
                <a:lnTo>
                  <a:pt x="570762" y="0"/>
                </a:lnTo>
                <a:cubicBezTo>
                  <a:pt x="886009" y="0"/>
                  <a:pt x="1141525" y="255516"/>
                  <a:pt x="1141525" y="570763"/>
                </a:cubicBezTo>
                <a:lnTo>
                  <a:pt x="1141525" y="1141525"/>
                </a:lnTo>
                <a:close/>
              </a:path>
            </a:pathLst>
          </a:custGeom>
          <a:noFill/>
          <a:ln w="1905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0" name="Forma Livre: Forma 79">
            <a:extLst>
              <a:ext uri="{FF2B5EF4-FFF2-40B4-BE49-F238E27FC236}">
                <a16:creationId xmlns:a16="http://schemas.microsoft.com/office/drawing/2014/main" id="{452A14AF-BAF2-1D04-69DA-7F2A81602261}"/>
              </a:ext>
            </a:extLst>
          </p:cNvPr>
          <p:cNvSpPr/>
          <p:nvPr/>
        </p:nvSpPr>
        <p:spPr>
          <a:xfrm>
            <a:off x="8774156" y="-8507"/>
            <a:ext cx="1713437" cy="1713437"/>
          </a:xfrm>
          <a:custGeom>
            <a:avLst/>
            <a:gdLst>
              <a:gd name="connsiteX0" fmla="*/ 0 w 1141525"/>
              <a:gd name="connsiteY0" fmla="*/ 0 h 1141525"/>
              <a:gd name="connsiteX1" fmla="*/ 0 w 1141525"/>
              <a:gd name="connsiteY1" fmla="*/ 1141525 h 1141525"/>
              <a:gd name="connsiteX2" fmla="*/ 570763 w 1141525"/>
              <a:gd name="connsiteY2" fmla="*/ 1141525 h 1141525"/>
              <a:gd name="connsiteX3" fmla="*/ 1141525 w 1141525"/>
              <a:gd name="connsiteY3" fmla="*/ 570762 h 1141525"/>
              <a:gd name="connsiteX4" fmla="*/ 570763 w 1141525"/>
              <a:gd name="connsiteY4" fmla="*/ 0 h 1141525"/>
              <a:gd name="connsiteX5" fmla="*/ 0 w 1141525"/>
              <a:gd name="connsiteY5" fmla="*/ 0 h 114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1525" h="1141525">
                <a:moveTo>
                  <a:pt x="0" y="0"/>
                </a:moveTo>
                <a:lnTo>
                  <a:pt x="0" y="1141525"/>
                </a:lnTo>
                <a:lnTo>
                  <a:pt x="570763" y="1141525"/>
                </a:lnTo>
                <a:cubicBezTo>
                  <a:pt x="886009" y="1141525"/>
                  <a:pt x="1141525" y="886009"/>
                  <a:pt x="1141525" y="570762"/>
                </a:cubicBezTo>
                <a:cubicBezTo>
                  <a:pt x="1141525" y="255516"/>
                  <a:pt x="886009" y="0"/>
                  <a:pt x="570763" y="0"/>
                </a:cubicBezTo>
                <a:lnTo>
                  <a:pt x="0" y="0"/>
                </a:lnTo>
                <a:close/>
              </a:path>
            </a:pathLst>
          </a:custGeom>
          <a:noFill/>
          <a:ln w="19050" cap="flat">
            <a:solidFill>
              <a:srgbClr val="5E5E5E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Forma Livre: Forma 15">
            <a:extLst>
              <a:ext uri="{FF2B5EF4-FFF2-40B4-BE49-F238E27FC236}">
                <a16:creationId xmlns:a16="http://schemas.microsoft.com/office/drawing/2014/main" id="{4FB88301-D738-5DB3-3173-1CD2F169A9C6}"/>
              </a:ext>
            </a:extLst>
          </p:cNvPr>
          <p:cNvSpPr/>
          <p:nvPr/>
        </p:nvSpPr>
        <p:spPr>
          <a:xfrm>
            <a:off x="8766774" y="3420738"/>
            <a:ext cx="1713437" cy="1713437"/>
          </a:xfrm>
          <a:custGeom>
            <a:avLst/>
            <a:gdLst>
              <a:gd name="connsiteX0" fmla="*/ 1141525 w 1141525"/>
              <a:gd name="connsiteY0" fmla="*/ 1141525 h 1141525"/>
              <a:gd name="connsiteX1" fmla="*/ 0 w 1141525"/>
              <a:gd name="connsiteY1" fmla="*/ 1141525 h 1141525"/>
              <a:gd name="connsiteX2" fmla="*/ 0 w 1141525"/>
              <a:gd name="connsiteY2" fmla="*/ 0 h 1141525"/>
              <a:gd name="connsiteX3" fmla="*/ 570762 w 1141525"/>
              <a:gd name="connsiteY3" fmla="*/ 0 h 1141525"/>
              <a:gd name="connsiteX4" fmla="*/ 1141525 w 1141525"/>
              <a:gd name="connsiteY4" fmla="*/ 570762 h 1141525"/>
              <a:gd name="connsiteX5" fmla="*/ 1141525 w 1141525"/>
              <a:gd name="connsiteY5" fmla="*/ 1141525 h 114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1525" h="1141525">
                <a:moveTo>
                  <a:pt x="1141525" y="1141525"/>
                </a:moveTo>
                <a:lnTo>
                  <a:pt x="0" y="1141525"/>
                </a:lnTo>
                <a:lnTo>
                  <a:pt x="0" y="0"/>
                </a:lnTo>
                <a:lnTo>
                  <a:pt x="570762" y="0"/>
                </a:lnTo>
                <a:cubicBezTo>
                  <a:pt x="886009" y="0"/>
                  <a:pt x="1141525" y="255516"/>
                  <a:pt x="1141525" y="570762"/>
                </a:cubicBezTo>
                <a:lnTo>
                  <a:pt x="1141525" y="1141525"/>
                </a:lnTo>
                <a:close/>
              </a:path>
            </a:pathLst>
          </a:custGeom>
          <a:noFill/>
          <a:ln w="1905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Forma Livre: Forma 26">
            <a:extLst>
              <a:ext uri="{FF2B5EF4-FFF2-40B4-BE49-F238E27FC236}">
                <a16:creationId xmlns:a16="http://schemas.microsoft.com/office/drawing/2014/main" id="{FCBA1C04-55B6-BBC6-5BB4-874DF9D2014E}"/>
              </a:ext>
            </a:extLst>
          </p:cNvPr>
          <p:cNvSpPr/>
          <p:nvPr/>
        </p:nvSpPr>
        <p:spPr>
          <a:xfrm rot="5400000" flipH="1" flipV="1">
            <a:off x="5309580" y="0"/>
            <a:ext cx="1713437" cy="1713437"/>
          </a:xfrm>
          <a:custGeom>
            <a:avLst/>
            <a:gdLst>
              <a:gd name="connsiteX0" fmla="*/ 0 w 1141525"/>
              <a:gd name="connsiteY0" fmla="*/ 0 h 1141525"/>
              <a:gd name="connsiteX1" fmla="*/ 0 w 1141525"/>
              <a:gd name="connsiteY1" fmla="*/ 1141525 h 1141525"/>
              <a:gd name="connsiteX2" fmla="*/ 570763 w 1141525"/>
              <a:gd name="connsiteY2" fmla="*/ 1141525 h 1141525"/>
              <a:gd name="connsiteX3" fmla="*/ 1141525 w 1141525"/>
              <a:gd name="connsiteY3" fmla="*/ 570763 h 1141525"/>
              <a:gd name="connsiteX4" fmla="*/ 570763 w 1141525"/>
              <a:gd name="connsiteY4" fmla="*/ 0 h 1141525"/>
              <a:gd name="connsiteX5" fmla="*/ 0 w 1141525"/>
              <a:gd name="connsiteY5" fmla="*/ 0 h 114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41525" h="1141525">
                <a:moveTo>
                  <a:pt x="0" y="0"/>
                </a:moveTo>
                <a:lnTo>
                  <a:pt x="0" y="1141525"/>
                </a:lnTo>
                <a:lnTo>
                  <a:pt x="570763" y="1141525"/>
                </a:lnTo>
                <a:cubicBezTo>
                  <a:pt x="886009" y="1141525"/>
                  <a:pt x="1141525" y="886009"/>
                  <a:pt x="1141525" y="570763"/>
                </a:cubicBezTo>
                <a:cubicBezTo>
                  <a:pt x="1141525" y="255516"/>
                  <a:pt x="885924" y="0"/>
                  <a:pt x="570763" y="0"/>
                </a:cubicBezTo>
                <a:lnTo>
                  <a:pt x="0" y="0"/>
                </a:lnTo>
                <a:close/>
              </a:path>
            </a:pathLst>
          </a:custGeom>
          <a:noFill/>
          <a:ln w="19050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44444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9071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C87BE-B849-BF68-4AD8-6B6DF361A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7A6C5A12-4FE8-A245-CFD4-4F0355AA8A9D}"/>
              </a:ext>
            </a:extLst>
          </p:cNvPr>
          <p:cNvSpPr txBox="1"/>
          <p:nvPr/>
        </p:nvSpPr>
        <p:spPr>
          <a:xfrm>
            <a:off x="4596954" y="3012876"/>
            <a:ext cx="7041605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defRPr/>
            </a:pPr>
            <a:r>
              <a:rPr lang="pt-BR" sz="4800" b="1" noProof="0" dirty="0">
                <a:solidFill>
                  <a:schemeClr val="bg1"/>
                </a:solidFill>
                <a:latin typeface="+mj-lt"/>
                <a:ea typeface="Calibri Light" panose="020F0302020204030204" pitchFamily="34" charset="0"/>
                <a:cs typeface="Segoe UI" panose="020B0502040204020203" pitchFamily="34" charset="0"/>
              </a:rPr>
              <a:t>Informações Gerais</a:t>
            </a:r>
          </a:p>
        </p:txBody>
      </p:sp>
      <p:sp>
        <p:nvSpPr>
          <p:cNvPr id="36" name="Forma Livre: Forma 35">
            <a:extLst>
              <a:ext uri="{FF2B5EF4-FFF2-40B4-BE49-F238E27FC236}">
                <a16:creationId xmlns:a16="http://schemas.microsoft.com/office/drawing/2014/main" id="{7537052B-5239-3016-9B78-997772FA86D1}"/>
              </a:ext>
            </a:extLst>
          </p:cNvPr>
          <p:cNvSpPr/>
          <p:nvPr/>
        </p:nvSpPr>
        <p:spPr>
          <a:xfrm>
            <a:off x="2751024" y="1380119"/>
            <a:ext cx="1372953" cy="1372953"/>
          </a:xfrm>
          <a:custGeom>
            <a:avLst/>
            <a:gdLst>
              <a:gd name="connsiteX0" fmla="*/ 1372954 w 1372953"/>
              <a:gd name="connsiteY0" fmla="*/ 1372954 h 1372953"/>
              <a:gd name="connsiteX1" fmla="*/ 0 w 1372953"/>
              <a:gd name="connsiteY1" fmla="*/ 1372954 h 1372953"/>
              <a:gd name="connsiteX2" fmla="*/ 0 w 1372953"/>
              <a:gd name="connsiteY2" fmla="*/ 0 h 1372953"/>
              <a:gd name="connsiteX3" fmla="*/ 686477 w 1372953"/>
              <a:gd name="connsiteY3" fmla="*/ 0 h 1372953"/>
              <a:gd name="connsiteX4" fmla="*/ 1372954 w 1372953"/>
              <a:gd name="connsiteY4" fmla="*/ 686477 h 1372953"/>
              <a:gd name="connsiteX5" fmla="*/ 1372954 w 1372953"/>
              <a:gd name="connsiteY5" fmla="*/ 1372954 h 1372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2953" h="1372953">
                <a:moveTo>
                  <a:pt x="1372954" y="1372954"/>
                </a:moveTo>
                <a:lnTo>
                  <a:pt x="0" y="1372954"/>
                </a:lnTo>
                <a:lnTo>
                  <a:pt x="0" y="0"/>
                </a:lnTo>
                <a:lnTo>
                  <a:pt x="686477" y="0"/>
                </a:lnTo>
                <a:cubicBezTo>
                  <a:pt x="1065636" y="0"/>
                  <a:pt x="1372954" y="307318"/>
                  <a:pt x="1372954" y="686477"/>
                </a:cubicBezTo>
                <a:lnTo>
                  <a:pt x="1372954" y="1372954"/>
                </a:lnTo>
                <a:close/>
              </a:path>
            </a:pathLst>
          </a:custGeom>
          <a:noFill/>
          <a:ln w="10210" cap="flat">
            <a:solidFill>
              <a:srgbClr val="5E5E5E"/>
            </a:solidFill>
            <a:prstDash val="solid"/>
            <a:miter/>
          </a:ln>
        </p:spPr>
        <p:txBody>
          <a:bodyPr rtlCol="0" anchor="ctr"/>
          <a:lstStyle/>
          <a:p>
            <a:endParaRPr lang="pt-BR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7" name="Forma Livre: Forma 36">
            <a:extLst>
              <a:ext uri="{FF2B5EF4-FFF2-40B4-BE49-F238E27FC236}">
                <a16:creationId xmlns:a16="http://schemas.microsoft.com/office/drawing/2014/main" id="{FE7BB4C8-91C8-F1A6-B698-3650A9FFAAC1}"/>
              </a:ext>
            </a:extLst>
          </p:cNvPr>
          <p:cNvSpPr/>
          <p:nvPr/>
        </p:nvSpPr>
        <p:spPr>
          <a:xfrm rot="16200000">
            <a:off x="2751024" y="4103572"/>
            <a:ext cx="1372953" cy="1372953"/>
          </a:xfrm>
          <a:custGeom>
            <a:avLst/>
            <a:gdLst>
              <a:gd name="connsiteX0" fmla="*/ 0 w 1372953"/>
              <a:gd name="connsiteY0" fmla="*/ 0 h 1372953"/>
              <a:gd name="connsiteX1" fmla="*/ 0 w 1372953"/>
              <a:gd name="connsiteY1" fmla="*/ 1372954 h 1372953"/>
              <a:gd name="connsiteX2" fmla="*/ 686477 w 1372953"/>
              <a:gd name="connsiteY2" fmla="*/ 1372954 h 1372953"/>
              <a:gd name="connsiteX3" fmla="*/ 1372954 w 1372953"/>
              <a:gd name="connsiteY3" fmla="*/ 686477 h 1372953"/>
              <a:gd name="connsiteX4" fmla="*/ 686477 w 1372953"/>
              <a:gd name="connsiteY4" fmla="*/ 0 h 1372953"/>
              <a:gd name="connsiteX5" fmla="*/ 0 w 1372953"/>
              <a:gd name="connsiteY5" fmla="*/ 0 h 1372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2953" h="1372953">
                <a:moveTo>
                  <a:pt x="0" y="0"/>
                </a:moveTo>
                <a:lnTo>
                  <a:pt x="0" y="1372954"/>
                </a:lnTo>
                <a:lnTo>
                  <a:pt x="686477" y="1372954"/>
                </a:lnTo>
                <a:cubicBezTo>
                  <a:pt x="1065636" y="1372954"/>
                  <a:pt x="1372954" y="1065636"/>
                  <a:pt x="1372954" y="686477"/>
                </a:cubicBezTo>
                <a:cubicBezTo>
                  <a:pt x="1372954" y="307318"/>
                  <a:pt x="1065636" y="0"/>
                  <a:pt x="686477" y="0"/>
                </a:cubicBezTo>
                <a:lnTo>
                  <a:pt x="0" y="0"/>
                </a:lnTo>
                <a:close/>
              </a:path>
            </a:pathLst>
          </a:custGeom>
          <a:noFill/>
          <a:ln w="10210" cap="flat">
            <a:solidFill>
              <a:srgbClr val="5E5E5E"/>
            </a:solidFill>
            <a:prstDash val="solid"/>
            <a:miter/>
          </a:ln>
        </p:spPr>
        <p:txBody>
          <a:bodyPr rtlCol="0" anchor="ctr"/>
          <a:lstStyle/>
          <a:p>
            <a:endParaRPr lang="pt-BR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8" name="Forma Livre: Forma 37">
            <a:extLst>
              <a:ext uri="{FF2B5EF4-FFF2-40B4-BE49-F238E27FC236}">
                <a16:creationId xmlns:a16="http://schemas.microsoft.com/office/drawing/2014/main" id="{F3D2681F-6B6E-71A1-61C9-297A99C86991}"/>
              </a:ext>
            </a:extLst>
          </p:cNvPr>
          <p:cNvSpPr/>
          <p:nvPr/>
        </p:nvSpPr>
        <p:spPr>
          <a:xfrm>
            <a:off x="2751023" y="2733608"/>
            <a:ext cx="1372953" cy="1368404"/>
          </a:xfrm>
          <a:custGeom>
            <a:avLst/>
            <a:gdLst>
              <a:gd name="connsiteX0" fmla="*/ 0 w 1372953"/>
              <a:gd name="connsiteY0" fmla="*/ 686477 h 1372953"/>
              <a:gd name="connsiteX1" fmla="*/ 0 w 1372953"/>
              <a:gd name="connsiteY1" fmla="*/ 686477 h 1372953"/>
              <a:gd name="connsiteX2" fmla="*/ 686477 w 1372953"/>
              <a:gd name="connsiteY2" fmla="*/ 1372954 h 1372953"/>
              <a:gd name="connsiteX3" fmla="*/ 1372954 w 1372953"/>
              <a:gd name="connsiteY3" fmla="*/ 686477 h 1372953"/>
              <a:gd name="connsiteX4" fmla="*/ 686477 w 1372953"/>
              <a:gd name="connsiteY4" fmla="*/ 0 h 1372953"/>
              <a:gd name="connsiteX5" fmla="*/ 0 w 1372953"/>
              <a:gd name="connsiteY5" fmla="*/ 686477 h 1372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2953" h="1372953">
                <a:moveTo>
                  <a:pt x="0" y="686477"/>
                </a:moveTo>
                <a:lnTo>
                  <a:pt x="0" y="686477"/>
                </a:lnTo>
                <a:cubicBezTo>
                  <a:pt x="0" y="1065636"/>
                  <a:pt x="307318" y="1372954"/>
                  <a:pt x="686477" y="1372954"/>
                </a:cubicBezTo>
                <a:cubicBezTo>
                  <a:pt x="1065636" y="1372954"/>
                  <a:pt x="1372954" y="1065636"/>
                  <a:pt x="1372954" y="686477"/>
                </a:cubicBezTo>
                <a:cubicBezTo>
                  <a:pt x="1372954" y="307318"/>
                  <a:pt x="1065636" y="0"/>
                  <a:pt x="686477" y="0"/>
                </a:cubicBezTo>
                <a:cubicBezTo>
                  <a:pt x="307318" y="0"/>
                  <a:pt x="0" y="307318"/>
                  <a:pt x="0" y="686477"/>
                </a:cubicBezTo>
                <a:close/>
              </a:path>
            </a:pathLst>
          </a:custGeom>
          <a:solidFill>
            <a:srgbClr val="04B0FF"/>
          </a:solidFill>
          <a:ln w="1021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noProof="0" dirty="0">
              <a:solidFill>
                <a:srgbClr val="04B0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BE239011-37C3-C993-D738-667679E3CA73}"/>
              </a:ext>
            </a:extLst>
          </p:cNvPr>
          <p:cNvSpPr/>
          <p:nvPr/>
        </p:nvSpPr>
        <p:spPr>
          <a:xfrm>
            <a:off x="2751024" y="-13933"/>
            <a:ext cx="1372953" cy="1372953"/>
          </a:xfrm>
          <a:custGeom>
            <a:avLst/>
            <a:gdLst>
              <a:gd name="connsiteX0" fmla="*/ 0 w 1372953"/>
              <a:gd name="connsiteY0" fmla="*/ 686477 h 1372953"/>
              <a:gd name="connsiteX1" fmla="*/ 0 w 1372953"/>
              <a:gd name="connsiteY1" fmla="*/ 686477 h 1372953"/>
              <a:gd name="connsiteX2" fmla="*/ 686477 w 1372953"/>
              <a:gd name="connsiteY2" fmla="*/ 1372954 h 1372953"/>
              <a:gd name="connsiteX3" fmla="*/ 1372954 w 1372953"/>
              <a:gd name="connsiteY3" fmla="*/ 686477 h 1372953"/>
              <a:gd name="connsiteX4" fmla="*/ 686477 w 1372953"/>
              <a:gd name="connsiteY4" fmla="*/ 0 h 1372953"/>
              <a:gd name="connsiteX5" fmla="*/ 0 w 1372953"/>
              <a:gd name="connsiteY5" fmla="*/ 686477 h 1372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2953" h="1372953">
                <a:moveTo>
                  <a:pt x="0" y="686477"/>
                </a:moveTo>
                <a:lnTo>
                  <a:pt x="0" y="686477"/>
                </a:lnTo>
                <a:cubicBezTo>
                  <a:pt x="0" y="1065636"/>
                  <a:pt x="307318" y="1372954"/>
                  <a:pt x="686477" y="1372954"/>
                </a:cubicBezTo>
                <a:cubicBezTo>
                  <a:pt x="1065636" y="1372954"/>
                  <a:pt x="1372954" y="1065636"/>
                  <a:pt x="1372954" y="686477"/>
                </a:cubicBezTo>
                <a:cubicBezTo>
                  <a:pt x="1372954" y="307318"/>
                  <a:pt x="1065533" y="0"/>
                  <a:pt x="686477" y="0"/>
                </a:cubicBezTo>
                <a:cubicBezTo>
                  <a:pt x="307420" y="0"/>
                  <a:pt x="0" y="307318"/>
                  <a:pt x="0" y="686477"/>
                </a:cubicBezTo>
                <a:close/>
              </a:path>
            </a:pathLst>
          </a:custGeom>
          <a:noFill/>
          <a:ln w="10210" cap="flat">
            <a:solidFill>
              <a:srgbClr val="5E5E5E"/>
            </a:solidFill>
            <a:prstDash val="solid"/>
            <a:miter/>
          </a:ln>
        </p:spPr>
        <p:txBody>
          <a:bodyPr rtlCol="0" anchor="ctr"/>
          <a:lstStyle/>
          <a:p>
            <a:endParaRPr lang="pt-BR" noProof="0" dirty="0"/>
          </a:p>
        </p:txBody>
      </p:sp>
      <p:sp>
        <p:nvSpPr>
          <p:cNvPr id="40" name="Forma Livre: Forma 39">
            <a:extLst>
              <a:ext uri="{FF2B5EF4-FFF2-40B4-BE49-F238E27FC236}">
                <a16:creationId xmlns:a16="http://schemas.microsoft.com/office/drawing/2014/main" id="{7DA73AD2-D114-AAC5-BA8A-C4DF40DAC49C}"/>
              </a:ext>
            </a:extLst>
          </p:cNvPr>
          <p:cNvSpPr/>
          <p:nvPr/>
        </p:nvSpPr>
        <p:spPr>
          <a:xfrm>
            <a:off x="2751024" y="5477882"/>
            <a:ext cx="1372953" cy="1372953"/>
          </a:xfrm>
          <a:custGeom>
            <a:avLst/>
            <a:gdLst>
              <a:gd name="connsiteX0" fmla="*/ 1372954 w 1372953"/>
              <a:gd name="connsiteY0" fmla="*/ 1372954 h 1372953"/>
              <a:gd name="connsiteX1" fmla="*/ 0 w 1372953"/>
              <a:gd name="connsiteY1" fmla="*/ 1372954 h 1372953"/>
              <a:gd name="connsiteX2" fmla="*/ 0 w 1372953"/>
              <a:gd name="connsiteY2" fmla="*/ 0 h 1372953"/>
              <a:gd name="connsiteX3" fmla="*/ 686477 w 1372953"/>
              <a:gd name="connsiteY3" fmla="*/ 0 h 1372953"/>
              <a:gd name="connsiteX4" fmla="*/ 1372954 w 1372953"/>
              <a:gd name="connsiteY4" fmla="*/ 686477 h 1372953"/>
              <a:gd name="connsiteX5" fmla="*/ 1372954 w 1372953"/>
              <a:gd name="connsiteY5" fmla="*/ 1372954 h 1372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2953" h="1372953">
                <a:moveTo>
                  <a:pt x="1372954" y="1372954"/>
                </a:moveTo>
                <a:lnTo>
                  <a:pt x="0" y="1372954"/>
                </a:lnTo>
                <a:lnTo>
                  <a:pt x="0" y="0"/>
                </a:lnTo>
                <a:lnTo>
                  <a:pt x="686477" y="0"/>
                </a:lnTo>
                <a:cubicBezTo>
                  <a:pt x="1065636" y="0"/>
                  <a:pt x="1372954" y="307318"/>
                  <a:pt x="1372954" y="686477"/>
                </a:cubicBezTo>
                <a:lnTo>
                  <a:pt x="1372954" y="1372954"/>
                </a:lnTo>
                <a:close/>
              </a:path>
            </a:pathLst>
          </a:custGeom>
          <a:noFill/>
          <a:ln w="10210" cap="flat">
            <a:solidFill>
              <a:srgbClr val="5E5E5E"/>
            </a:solidFill>
            <a:prstDash val="solid"/>
            <a:miter/>
          </a:ln>
        </p:spPr>
        <p:txBody>
          <a:bodyPr rtlCol="0" anchor="ctr"/>
          <a:lstStyle/>
          <a:p>
            <a:endParaRPr lang="pt-BR" noProof="0" dirty="0"/>
          </a:p>
        </p:txBody>
      </p:sp>
      <p:sp>
        <p:nvSpPr>
          <p:cNvPr id="41" name="Forma Livre: Forma 40">
            <a:extLst>
              <a:ext uri="{FF2B5EF4-FFF2-40B4-BE49-F238E27FC236}">
                <a16:creationId xmlns:a16="http://schemas.microsoft.com/office/drawing/2014/main" id="{87383775-CDCE-8A40-9E4E-F4CCD9B167A2}"/>
              </a:ext>
            </a:extLst>
          </p:cNvPr>
          <p:cNvSpPr/>
          <p:nvPr/>
        </p:nvSpPr>
        <p:spPr>
          <a:xfrm>
            <a:off x="5116" y="2731974"/>
            <a:ext cx="1372953" cy="1372953"/>
          </a:xfrm>
          <a:custGeom>
            <a:avLst/>
            <a:gdLst>
              <a:gd name="connsiteX0" fmla="*/ 0 w 1372953"/>
              <a:gd name="connsiteY0" fmla="*/ 1372954 h 1372953"/>
              <a:gd name="connsiteX1" fmla="*/ 1372954 w 1372953"/>
              <a:gd name="connsiteY1" fmla="*/ 1372954 h 1372953"/>
              <a:gd name="connsiteX2" fmla="*/ 1372954 w 1372953"/>
              <a:gd name="connsiteY2" fmla="*/ 0 h 1372953"/>
              <a:gd name="connsiteX3" fmla="*/ 686477 w 1372953"/>
              <a:gd name="connsiteY3" fmla="*/ 0 h 1372953"/>
              <a:gd name="connsiteX4" fmla="*/ 0 w 1372953"/>
              <a:gd name="connsiteY4" fmla="*/ 686477 h 1372953"/>
              <a:gd name="connsiteX5" fmla="*/ 0 w 1372953"/>
              <a:gd name="connsiteY5" fmla="*/ 1372954 h 1372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2953" h="1372953">
                <a:moveTo>
                  <a:pt x="0" y="1372954"/>
                </a:moveTo>
                <a:lnTo>
                  <a:pt x="1372954" y="1372954"/>
                </a:lnTo>
                <a:lnTo>
                  <a:pt x="1372954" y="0"/>
                </a:lnTo>
                <a:lnTo>
                  <a:pt x="686477" y="0"/>
                </a:lnTo>
                <a:cubicBezTo>
                  <a:pt x="307318" y="0"/>
                  <a:pt x="0" y="307318"/>
                  <a:pt x="0" y="686477"/>
                </a:cubicBezTo>
                <a:lnTo>
                  <a:pt x="0" y="1372954"/>
                </a:lnTo>
                <a:close/>
              </a:path>
            </a:pathLst>
          </a:custGeom>
          <a:noFill/>
          <a:ln w="10210" cap="flat">
            <a:solidFill>
              <a:srgbClr val="5E5E5E"/>
            </a:solidFill>
            <a:prstDash val="solid"/>
            <a:miter/>
          </a:ln>
        </p:spPr>
        <p:txBody>
          <a:bodyPr rtlCol="0" anchor="ctr"/>
          <a:lstStyle/>
          <a:p>
            <a:endParaRPr lang="pt-BR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" name="Forma Livre: Forma 41">
            <a:extLst>
              <a:ext uri="{FF2B5EF4-FFF2-40B4-BE49-F238E27FC236}">
                <a16:creationId xmlns:a16="http://schemas.microsoft.com/office/drawing/2014/main" id="{B73691C4-5A0D-55B2-DAA6-E0D4FAECB5E9}"/>
              </a:ext>
            </a:extLst>
          </p:cNvPr>
          <p:cNvSpPr/>
          <p:nvPr/>
        </p:nvSpPr>
        <p:spPr>
          <a:xfrm>
            <a:off x="5116" y="4104928"/>
            <a:ext cx="1372953" cy="1372953"/>
          </a:xfrm>
          <a:custGeom>
            <a:avLst/>
            <a:gdLst>
              <a:gd name="connsiteX0" fmla="*/ 0 w 1372953"/>
              <a:gd name="connsiteY0" fmla="*/ 0 h 1372953"/>
              <a:gd name="connsiteX1" fmla="*/ 0 w 1372953"/>
              <a:gd name="connsiteY1" fmla="*/ 1372954 h 1372953"/>
              <a:gd name="connsiteX2" fmla="*/ 686477 w 1372953"/>
              <a:gd name="connsiteY2" fmla="*/ 1372954 h 1372953"/>
              <a:gd name="connsiteX3" fmla="*/ 1372954 w 1372953"/>
              <a:gd name="connsiteY3" fmla="*/ 686477 h 1372953"/>
              <a:gd name="connsiteX4" fmla="*/ 686477 w 1372953"/>
              <a:gd name="connsiteY4" fmla="*/ 0 h 1372953"/>
              <a:gd name="connsiteX5" fmla="*/ 0 w 1372953"/>
              <a:gd name="connsiteY5" fmla="*/ 0 h 1372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2953" h="1372953">
                <a:moveTo>
                  <a:pt x="0" y="0"/>
                </a:moveTo>
                <a:lnTo>
                  <a:pt x="0" y="1372954"/>
                </a:lnTo>
                <a:lnTo>
                  <a:pt x="686477" y="1372954"/>
                </a:lnTo>
                <a:cubicBezTo>
                  <a:pt x="1065636" y="1372954"/>
                  <a:pt x="1372954" y="1065636"/>
                  <a:pt x="1372954" y="686477"/>
                </a:cubicBezTo>
                <a:cubicBezTo>
                  <a:pt x="1372954" y="307318"/>
                  <a:pt x="1065636" y="0"/>
                  <a:pt x="686477" y="0"/>
                </a:cubicBezTo>
                <a:lnTo>
                  <a:pt x="0" y="0"/>
                </a:lnTo>
                <a:close/>
              </a:path>
            </a:pathLst>
          </a:custGeom>
          <a:noFill/>
          <a:ln w="10210" cap="flat">
            <a:solidFill>
              <a:srgbClr val="5E5E5E"/>
            </a:solidFill>
            <a:prstDash val="solid"/>
            <a:miter/>
          </a:ln>
        </p:spPr>
        <p:txBody>
          <a:bodyPr rtlCol="0" anchor="ctr"/>
          <a:lstStyle/>
          <a:p>
            <a:endParaRPr lang="pt-BR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3" name="Forma Livre: Forma 42">
            <a:extLst>
              <a:ext uri="{FF2B5EF4-FFF2-40B4-BE49-F238E27FC236}">
                <a16:creationId xmlns:a16="http://schemas.microsoft.com/office/drawing/2014/main" id="{4CC6A5C6-55D0-2136-04FA-C4B5148BE137}"/>
              </a:ext>
            </a:extLst>
          </p:cNvPr>
          <p:cNvSpPr/>
          <p:nvPr/>
        </p:nvSpPr>
        <p:spPr>
          <a:xfrm>
            <a:off x="5526" y="-13933"/>
            <a:ext cx="1372953" cy="1372953"/>
          </a:xfrm>
          <a:custGeom>
            <a:avLst/>
            <a:gdLst>
              <a:gd name="connsiteX0" fmla="*/ 0 w 1372953"/>
              <a:gd name="connsiteY0" fmla="*/ 0 h 1372953"/>
              <a:gd name="connsiteX1" fmla="*/ 0 w 1372953"/>
              <a:gd name="connsiteY1" fmla="*/ 1372954 h 1372953"/>
              <a:gd name="connsiteX2" fmla="*/ 686477 w 1372953"/>
              <a:gd name="connsiteY2" fmla="*/ 1372954 h 1372953"/>
              <a:gd name="connsiteX3" fmla="*/ 1372954 w 1372953"/>
              <a:gd name="connsiteY3" fmla="*/ 686477 h 1372953"/>
              <a:gd name="connsiteX4" fmla="*/ 686477 w 1372953"/>
              <a:gd name="connsiteY4" fmla="*/ 0 h 1372953"/>
              <a:gd name="connsiteX5" fmla="*/ 0 w 1372953"/>
              <a:gd name="connsiteY5" fmla="*/ 0 h 1372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2953" h="1372953">
                <a:moveTo>
                  <a:pt x="0" y="0"/>
                </a:moveTo>
                <a:lnTo>
                  <a:pt x="0" y="1372954"/>
                </a:lnTo>
                <a:lnTo>
                  <a:pt x="686477" y="1372954"/>
                </a:lnTo>
                <a:cubicBezTo>
                  <a:pt x="1065636" y="1372954"/>
                  <a:pt x="1372954" y="1065636"/>
                  <a:pt x="1372954" y="686477"/>
                </a:cubicBezTo>
                <a:cubicBezTo>
                  <a:pt x="1372954" y="307318"/>
                  <a:pt x="1065533" y="0"/>
                  <a:pt x="686477" y="0"/>
                </a:cubicBezTo>
                <a:lnTo>
                  <a:pt x="0" y="0"/>
                </a:lnTo>
                <a:close/>
              </a:path>
            </a:pathLst>
          </a:custGeom>
          <a:noFill/>
          <a:ln w="10210" cap="flat">
            <a:solidFill>
              <a:srgbClr val="5E5E5E"/>
            </a:solidFill>
            <a:prstDash val="solid"/>
            <a:miter/>
          </a:ln>
        </p:spPr>
        <p:txBody>
          <a:bodyPr rtlCol="0" anchor="ctr"/>
          <a:lstStyle/>
          <a:p>
            <a:endParaRPr lang="pt-BR" noProof="0" dirty="0"/>
          </a:p>
        </p:txBody>
      </p:sp>
      <p:sp>
        <p:nvSpPr>
          <p:cNvPr id="44" name="Forma Livre: Forma 43">
            <a:extLst>
              <a:ext uri="{FF2B5EF4-FFF2-40B4-BE49-F238E27FC236}">
                <a16:creationId xmlns:a16="http://schemas.microsoft.com/office/drawing/2014/main" id="{EEFF6B5D-2781-602B-45ED-8473B459461F}"/>
              </a:ext>
            </a:extLst>
          </p:cNvPr>
          <p:cNvSpPr/>
          <p:nvPr/>
        </p:nvSpPr>
        <p:spPr>
          <a:xfrm>
            <a:off x="5116" y="1380119"/>
            <a:ext cx="1372953" cy="1372953"/>
          </a:xfrm>
          <a:custGeom>
            <a:avLst/>
            <a:gdLst>
              <a:gd name="connsiteX0" fmla="*/ 1372954 w 1372953"/>
              <a:gd name="connsiteY0" fmla="*/ 1372954 h 1372953"/>
              <a:gd name="connsiteX1" fmla="*/ 0 w 1372953"/>
              <a:gd name="connsiteY1" fmla="*/ 1372954 h 1372953"/>
              <a:gd name="connsiteX2" fmla="*/ 0 w 1372953"/>
              <a:gd name="connsiteY2" fmla="*/ 0 h 1372953"/>
              <a:gd name="connsiteX3" fmla="*/ 686477 w 1372953"/>
              <a:gd name="connsiteY3" fmla="*/ 0 h 1372953"/>
              <a:gd name="connsiteX4" fmla="*/ 1372954 w 1372953"/>
              <a:gd name="connsiteY4" fmla="*/ 686477 h 1372953"/>
              <a:gd name="connsiteX5" fmla="*/ 1372954 w 1372953"/>
              <a:gd name="connsiteY5" fmla="*/ 1372954 h 1372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2953" h="1372953">
                <a:moveTo>
                  <a:pt x="1372954" y="1372954"/>
                </a:moveTo>
                <a:lnTo>
                  <a:pt x="0" y="1372954"/>
                </a:lnTo>
                <a:lnTo>
                  <a:pt x="0" y="0"/>
                </a:lnTo>
                <a:lnTo>
                  <a:pt x="686477" y="0"/>
                </a:lnTo>
                <a:cubicBezTo>
                  <a:pt x="1065636" y="0"/>
                  <a:pt x="1372954" y="307318"/>
                  <a:pt x="1372954" y="686477"/>
                </a:cubicBezTo>
                <a:lnTo>
                  <a:pt x="1372954" y="1372954"/>
                </a:lnTo>
                <a:close/>
              </a:path>
            </a:pathLst>
          </a:custGeom>
          <a:noFill/>
          <a:ln w="10210" cap="flat">
            <a:solidFill>
              <a:srgbClr val="5E5E5E"/>
            </a:solidFill>
            <a:prstDash val="solid"/>
            <a:miter/>
          </a:ln>
        </p:spPr>
        <p:txBody>
          <a:bodyPr rtlCol="0" anchor="ctr"/>
          <a:lstStyle/>
          <a:p>
            <a:endParaRPr lang="pt-BR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5" name="Forma Livre: Forma 44">
            <a:extLst>
              <a:ext uri="{FF2B5EF4-FFF2-40B4-BE49-F238E27FC236}">
                <a16:creationId xmlns:a16="http://schemas.microsoft.com/office/drawing/2014/main" id="{D4DCB977-EB30-BCD4-0B45-545B8A35269F}"/>
              </a:ext>
            </a:extLst>
          </p:cNvPr>
          <p:cNvSpPr/>
          <p:nvPr/>
        </p:nvSpPr>
        <p:spPr>
          <a:xfrm>
            <a:off x="5116" y="5477882"/>
            <a:ext cx="1372953" cy="1372953"/>
          </a:xfrm>
          <a:custGeom>
            <a:avLst/>
            <a:gdLst>
              <a:gd name="connsiteX0" fmla="*/ 1372954 w 1372953"/>
              <a:gd name="connsiteY0" fmla="*/ 1372954 h 1372953"/>
              <a:gd name="connsiteX1" fmla="*/ 0 w 1372953"/>
              <a:gd name="connsiteY1" fmla="*/ 1372954 h 1372953"/>
              <a:gd name="connsiteX2" fmla="*/ 0 w 1372953"/>
              <a:gd name="connsiteY2" fmla="*/ 0 h 1372953"/>
              <a:gd name="connsiteX3" fmla="*/ 686477 w 1372953"/>
              <a:gd name="connsiteY3" fmla="*/ 0 h 1372953"/>
              <a:gd name="connsiteX4" fmla="*/ 1372954 w 1372953"/>
              <a:gd name="connsiteY4" fmla="*/ 686477 h 1372953"/>
              <a:gd name="connsiteX5" fmla="*/ 1372954 w 1372953"/>
              <a:gd name="connsiteY5" fmla="*/ 1372954 h 1372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2953" h="1372953">
                <a:moveTo>
                  <a:pt x="1372954" y="1372954"/>
                </a:moveTo>
                <a:lnTo>
                  <a:pt x="0" y="1372954"/>
                </a:lnTo>
                <a:lnTo>
                  <a:pt x="0" y="0"/>
                </a:lnTo>
                <a:lnTo>
                  <a:pt x="686477" y="0"/>
                </a:lnTo>
                <a:cubicBezTo>
                  <a:pt x="1065636" y="0"/>
                  <a:pt x="1372954" y="307318"/>
                  <a:pt x="1372954" y="686477"/>
                </a:cubicBezTo>
                <a:lnTo>
                  <a:pt x="1372954" y="1372954"/>
                </a:lnTo>
                <a:close/>
              </a:path>
            </a:pathLst>
          </a:custGeom>
          <a:noFill/>
          <a:ln w="10210" cap="flat">
            <a:solidFill>
              <a:srgbClr val="5E5E5E"/>
            </a:solidFill>
            <a:prstDash val="solid"/>
            <a:miter/>
          </a:ln>
        </p:spPr>
        <p:txBody>
          <a:bodyPr rtlCol="0" anchor="ctr"/>
          <a:lstStyle/>
          <a:p>
            <a:endParaRPr lang="pt-BR" noProof="0" dirty="0"/>
          </a:p>
        </p:txBody>
      </p:sp>
      <p:sp>
        <p:nvSpPr>
          <p:cNvPr id="46" name="Forma Livre: Forma 45">
            <a:extLst>
              <a:ext uri="{FF2B5EF4-FFF2-40B4-BE49-F238E27FC236}">
                <a16:creationId xmlns:a16="http://schemas.microsoft.com/office/drawing/2014/main" id="{2A82D87E-B3E8-8241-9564-30966AA22338}"/>
              </a:ext>
            </a:extLst>
          </p:cNvPr>
          <p:cNvSpPr/>
          <p:nvPr/>
        </p:nvSpPr>
        <p:spPr>
          <a:xfrm>
            <a:off x="1378070" y="2731974"/>
            <a:ext cx="1372953" cy="1372953"/>
          </a:xfrm>
          <a:custGeom>
            <a:avLst/>
            <a:gdLst>
              <a:gd name="connsiteX0" fmla="*/ 0 w 1372953"/>
              <a:gd name="connsiteY0" fmla="*/ 1372954 h 1372953"/>
              <a:gd name="connsiteX1" fmla="*/ 1372954 w 1372953"/>
              <a:gd name="connsiteY1" fmla="*/ 1372954 h 1372953"/>
              <a:gd name="connsiteX2" fmla="*/ 1372954 w 1372953"/>
              <a:gd name="connsiteY2" fmla="*/ 686477 h 1372953"/>
              <a:gd name="connsiteX3" fmla="*/ 686477 w 1372953"/>
              <a:gd name="connsiteY3" fmla="*/ 0 h 1372953"/>
              <a:gd name="connsiteX4" fmla="*/ 0 w 1372953"/>
              <a:gd name="connsiteY4" fmla="*/ 686477 h 1372953"/>
              <a:gd name="connsiteX5" fmla="*/ 0 w 1372953"/>
              <a:gd name="connsiteY5" fmla="*/ 1372954 h 1372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2953" h="1372953">
                <a:moveTo>
                  <a:pt x="0" y="1372954"/>
                </a:moveTo>
                <a:lnTo>
                  <a:pt x="1372954" y="1372954"/>
                </a:lnTo>
                <a:lnTo>
                  <a:pt x="1372954" y="686477"/>
                </a:lnTo>
                <a:cubicBezTo>
                  <a:pt x="1372954" y="307318"/>
                  <a:pt x="1065636" y="0"/>
                  <a:pt x="686477" y="0"/>
                </a:cubicBezTo>
                <a:cubicBezTo>
                  <a:pt x="307318" y="0"/>
                  <a:pt x="0" y="307318"/>
                  <a:pt x="0" y="686477"/>
                </a:cubicBezTo>
                <a:lnTo>
                  <a:pt x="0" y="1372954"/>
                </a:lnTo>
                <a:close/>
              </a:path>
            </a:pathLst>
          </a:custGeom>
          <a:noFill/>
          <a:ln w="10210" cap="flat">
            <a:solidFill>
              <a:srgbClr val="5E5E5E"/>
            </a:solidFill>
            <a:prstDash val="solid"/>
            <a:miter/>
          </a:ln>
        </p:spPr>
        <p:txBody>
          <a:bodyPr rtlCol="0" anchor="ctr"/>
          <a:lstStyle/>
          <a:p>
            <a:endParaRPr lang="pt-BR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7" name="Forma Livre: Forma 46">
            <a:extLst>
              <a:ext uri="{FF2B5EF4-FFF2-40B4-BE49-F238E27FC236}">
                <a16:creationId xmlns:a16="http://schemas.microsoft.com/office/drawing/2014/main" id="{02762446-5DE0-87D7-8B0A-EDCBD1FF9D62}"/>
              </a:ext>
            </a:extLst>
          </p:cNvPr>
          <p:cNvSpPr/>
          <p:nvPr/>
        </p:nvSpPr>
        <p:spPr>
          <a:xfrm>
            <a:off x="1378070" y="4104928"/>
            <a:ext cx="1372953" cy="1372953"/>
          </a:xfrm>
          <a:custGeom>
            <a:avLst/>
            <a:gdLst>
              <a:gd name="connsiteX0" fmla="*/ 0 w 1372953"/>
              <a:gd name="connsiteY0" fmla="*/ 0 h 1372953"/>
              <a:gd name="connsiteX1" fmla="*/ 0 w 1372953"/>
              <a:gd name="connsiteY1" fmla="*/ 1372954 h 1372953"/>
              <a:gd name="connsiteX2" fmla="*/ 686477 w 1372953"/>
              <a:gd name="connsiteY2" fmla="*/ 1372954 h 1372953"/>
              <a:gd name="connsiteX3" fmla="*/ 1372954 w 1372953"/>
              <a:gd name="connsiteY3" fmla="*/ 686477 h 1372953"/>
              <a:gd name="connsiteX4" fmla="*/ 686477 w 1372953"/>
              <a:gd name="connsiteY4" fmla="*/ 0 h 1372953"/>
              <a:gd name="connsiteX5" fmla="*/ 0 w 1372953"/>
              <a:gd name="connsiteY5" fmla="*/ 0 h 1372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2953" h="1372953">
                <a:moveTo>
                  <a:pt x="0" y="0"/>
                </a:moveTo>
                <a:lnTo>
                  <a:pt x="0" y="1372954"/>
                </a:lnTo>
                <a:lnTo>
                  <a:pt x="686477" y="1372954"/>
                </a:lnTo>
                <a:cubicBezTo>
                  <a:pt x="1065636" y="1372954"/>
                  <a:pt x="1372954" y="1065636"/>
                  <a:pt x="1372954" y="686477"/>
                </a:cubicBezTo>
                <a:cubicBezTo>
                  <a:pt x="1372954" y="307318"/>
                  <a:pt x="1065636" y="0"/>
                  <a:pt x="686477" y="0"/>
                </a:cubicBezTo>
                <a:lnTo>
                  <a:pt x="0" y="0"/>
                </a:lnTo>
                <a:close/>
              </a:path>
            </a:pathLst>
          </a:custGeom>
          <a:noFill/>
          <a:ln w="10210" cap="flat">
            <a:solidFill>
              <a:srgbClr val="5E5E5E"/>
            </a:solidFill>
            <a:prstDash val="solid"/>
            <a:miter/>
          </a:ln>
        </p:spPr>
        <p:txBody>
          <a:bodyPr rtlCol="0" anchor="ctr"/>
          <a:lstStyle/>
          <a:p>
            <a:endParaRPr lang="pt-BR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8" name="Forma Livre: Forma 47">
            <a:extLst>
              <a:ext uri="{FF2B5EF4-FFF2-40B4-BE49-F238E27FC236}">
                <a16:creationId xmlns:a16="http://schemas.microsoft.com/office/drawing/2014/main" id="{9333BFA2-17B5-F39A-FA51-2066B2AF69AE}"/>
              </a:ext>
            </a:extLst>
          </p:cNvPr>
          <p:cNvSpPr/>
          <p:nvPr/>
        </p:nvSpPr>
        <p:spPr>
          <a:xfrm>
            <a:off x="1378070" y="-13933"/>
            <a:ext cx="1372953" cy="1372953"/>
          </a:xfrm>
          <a:custGeom>
            <a:avLst/>
            <a:gdLst>
              <a:gd name="connsiteX0" fmla="*/ 0 w 1372953"/>
              <a:gd name="connsiteY0" fmla="*/ 0 h 1372953"/>
              <a:gd name="connsiteX1" fmla="*/ 0 w 1372953"/>
              <a:gd name="connsiteY1" fmla="*/ 1372954 h 1372953"/>
              <a:gd name="connsiteX2" fmla="*/ 686477 w 1372953"/>
              <a:gd name="connsiteY2" fmla="*/ 1372954 h 1372953"/>
              <a:gd name="connsiteX3" fmla="*/ 1372954 w 1372953"/>
              <a:gd name="connsiteY3" fmla="*/ 686477 h 1372953"/>
              <a:gd name="connsiteX4" fmla="*/ 686477 w 1372953"/>
              <a:gd name="connsiteY4" fmla="*/ 0 h 1372953"/>
              <a:gd name="connsiteX5" fmla="*/ 0 w 1372953"/>
              <a:gd name="connsiteY5" fmla="*/ 0 h 1372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2953" h="1372953">
                <a:moveTo>
                  <a:pt x="0" y="0"/>
                </a:moveTo>
                <a:lnTo>
                  <a:pt x="0" y="1372954"/>
                </a:lnTo>
                <a:lnTo>
                  <a:pt x="686477" y="1372954"/>
                </a:lnTo>
                <a:cubicBezTo>
                  <a:pt x="1065636" y="1372954"/>
                  <a:pt x="1372954" y="1065636"/>
                  <a:pt x="1372954" y="686477"/>
                </a:cubicBezTo>
                <a:cubicBezTo>
                  <a:pt x="1372954" y="307318"/>
                  <a:pt x="1065636" y="0"/>
                  <a:pt x="686477" y="0"/>
                </a:cubicBezTo>
                <a:lnTo>
                  <a:pt x="0" y="0"/>
                </a:lnTo>
                <a:close/>
              </a:path>
            </a:pathLst>
          </a:custGeom>
          <a:noFill/>
          <a:ln w="10210" cap="flat">
            <a:solidFill>
              <a:srgbClr val="5E5E5E"/>
            </a:solidFill>
            <a:prstDash val="solid"/>
            <a:miter/>
          </a:ln>
        </p:spPr>
        <p:txBody>
          <a:bodyPr rtlCol="0" anchor="ctr"/>
          <a:lstStyle/>
          <a:p>
            <a:endParaRPr lang="pt-BR" noProof="0" dirty="0"/>
          </a:p>
        </p:txBody>
      </p:sp>
      <p:sp>
        <p:nvSpPr>
          <p:cNvPr id="49" name="Forma Livre: Forma 48">
            <a:extLst>
              <a:ext uri="{FF2B5EF4-FFF2-40B4-BE49-F238E27FC236}">
                <a16:creationId xmlns:a16="http://schemas.microsoft.com/office/drawing/2014/main" id="{B8A7C497-D880-C964-0AD0-F97953B566F2}"/>
              </a:ext>
            </a:extLst>
          </p:cNvPr>
          <p:cNvSpPr/>
          <p:nvPr/>
        </p:nvSpPr>
        <p:spPr>
          <a:xfrm>
            <a:off x="1378070" y="1380119"/>
            <a:ext cx="1372953" cy="1372953"/>
          </a:xfrm>
          <a:custGeom>
            <a:avLst/>
            <a:gdLst>
              <a:gd name="connsiteX0" fmla="*/ 0 w 1372953"/>
              <a:gd name="connsiteY0" fmla="*/ 1372954 h 1372953"/>
              <a:gd name="connsiteX1" fmla="*/ 1372954 w 1372953"/>
              <a:gd name="connsiteY1" fmla="*/ 1372954 h 1372953"/>
              <a:gd name="connsiteX2" fmla="*/ 1372954 w 1372953"/>
              <a:gd name="connsiteY2" fmla="*/ 686477 h 1372953"/>
              <a:gd name="connsiteX3" fmla="*/ 686477 w 1372953"/>
              <a:gd name="connsiteY3" fmla="*/ 0 h 1372953"/>
              <a:gd name="connsiteX4" fmla="*/ 0 w 1372953"/>
              <a:gd name="connsiteY4" fmla="*/ 686477 h 1372953"/>
              <a:gd name="connsiteX5" fmla="*/ 0 w 1372953"/>
              <a:gd name="connsiteY5" fmla="*/ 1372954 h 1372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2953" h="1372953">
                <a:moveTo>
                  <a:pt x="0" y="1372954"/>
                </a:moveTo>
                <a:lnTo>
                  <a:pt x="1372954" y="1372954"/>
                </a:lnTo>
                <a:lnTo>
                  <a:pt x="1372954" y="686477"/>
                </a:lnTo>
                <a:cubicBezTo>
                  <a:pt x="1372954" y="307318"/>
                  <a:pt x="1065636" y="0"/>
                  <a:pt x="686477" y="0"/>
                </a:cubicBezTo>
                <a:cubicBezTo>
                  <a:pt x="307318" y="0"/>
                  <a:pt x="0" y="307318"/>
                  <a:pt x="0" y="686477"/>
                </a:cubicBezTo>
                <a:lnTo>
                  <a:pt x="0" y="1372954"/>
                </a:lnTo>
                <a:close/>
              </a:path>
            </a:pathLst>
          </a:custGeom>
          <a:noFill/>
          <a:ln w="10210" cap="flat">
            <a:solidFill>
              <a:srgbClr val="5E5E5E"/>
            </a:solidFill>
            <a:prstDash val="solid"/>
            <a:miter/>
          </a:ln>
        </p:spPr>
        <p:txBody>
          <a:bodyPr rtlCol="0" anchor="ctr"/>
          <a:lstStyle/>
          <a:p>
            <a:endParaRPr lang="pt-BR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0" name="Forma Livre: Forma 49">
            <a:extLst>
              <a:ext uri="{FF2B5EF4-FFF2-40B4-BE49-F238E27FC236}">
                <a16:creationId xmlns:a16="http://schemas.microsoft.com/office/drawing/2014/main" id="{D9528337-0BF3-C492-E8C0-C276CE70AC4C}"/>
              </a:ext>
            </a:extLst>
          </p:cNvPr>
          <p:cNvSpPr/>
          <p:nvPr/>
        </p:nvSpPr>
        <p:spPr>
          <a:xfrm>
            <a:off x="1378070" y="5477882"/>
            <a:ext cx="1372953" cy="1372953"/>
          </a:xfrm>
          <a:custGeom>
            <a:avLst/>
            <a:gdLst>
              <a:gd name="connsiteX0" fmla="*/ 0 w 1372953"/>
              <a:gd name="connsiteY0" fmla="*/ 1372954 h 1372953"/>
              <a:gd name="connsiteX1" fmla="*/ 1372954 w 1372953"/>
              <a:gd name="connsiteY1" fmla="*/ 1372954 h 1372953"/>
              <a:gd name="connsiteX2" fmla="*/ 1372954 w 1372953"/>
              <a:gd name="connsiteY2" fmla="*/ 686477 h 1372953"/>
              <a:gd name="connsiteX3" fmla="*/ 686477 w 1372953"/>
              <a:gd name="connsiteY3" fmla="*/ 0 h 1372953"/>
              <a:gd name="connsiteX4" fmla="*/ 0 w 1372953"/>
              <a:gd name="connsiteY4" fmla="*/ 686477 h 1372953"/>
              <a:gd name="connsiteX5" fmla="*/ 0 w 1372953"/>
              <a:gd name="connsiteY5" fmla="*/ 1372954 h 1372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2953" h="1372953">
                <a:moveTo>
                  <a:pt x="0" y="1372954"/>
                </a:moveTo>
                <a:lnTo>
                  <a:pt x="1372954" y="1372954"/>
                </a:lnTo>
                <a:lnTo>
                  <a:pt x="1372954" y="686477"/>
                </a:lnTo>
                <a:cubicBezTo>
                  <a:pt x="1372954" y="307318"/>
                  <a:pt x="1065636" y="0"/>
                  <a:pt x="686477" y="0"/>
                </a:cubicBezTo>
                <a:cubicBezTo>
                  <a:pt x="307318" y="0"/>
                  <a:pt x="0" y="307318"/>
                  <a:pt x="0" y="686477"/>
                </a:cubicBezTo>
                <a:lnTo>
                  <a:pt x="0" y="1372954"/>
                </a:lnTo>
                <a:close/>
              </a:path>
            </a:pathLst>
          </a:custGeom>
          <a:noFill/>
          <a:ln w="10210" cap="flat">
            <a:solidFill>
              <a:srgbClr val="5E5E5E"/>
            </a:solidFill>
            <a:prstDash val="solid"/>
            <a:miter/>
          </a:ln>
        </p:spPr>
        <p:txBody>
          <a:bodyPr rtlCol="0" anchor="ctr"/>
          <a:lstStyle/>
          <a:p>
            <a:endParaRPr lang="pt-BR" noProof="0" dirty="0"/>
          </a:p>
        </p:txBody>
      </p:sp>
      <p:sp>
        <p:nvSpPr>
          <p:cNvPr id="8" name="Título 3">
            <a:extLst>
              <a:ext uri="{FF2B5EF4-FFF2-40B4-BE49-F238E27FC236}">
                <a16:creationId xmlns:a16="http://schemas.microsoft.com/office/drawing/2014/main" id="{D807DC0B-B217-7D86-42B5-C125F6E60953}"/>
              </a:ext>
            </a:extLst>
          </p:cNvPr>
          <p:cNvSpPr txBox="1">
            <a:spLocks/>
          </p:cNvSpPr>
          <p:nvPr/>
        </p:nvSpPr>
        <p:spPr>
          <a:xfrm>
            <a:off x="3119885" y="2936787"/>
            <a:ext cx="635229" cy="116522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pt-BR" sz="8000" b="1" noProof="0" dirty="0">
                <a:solidFill>
                  <a:srgbClr val="44444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233379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0">
            <a:extLst>
              <a:ext uri="{FF2B5EF4-FFF2-40B4-BE49-F238E27FC236}">
                <a16:creationId xmlns:a16="http://schemas.microsoft.com/office/drawing/2014/main" id="{356A876C-8485-1D6F-F6B6-836BE659CE23}"/>
              </a:ext>
            </a:extLst>
          </p:cNvPr>
          <p:cNvSpPr txBox="1"/>
          <p:nvPr/>
        </p:nvSpPr>
        <p:spPr>
          <a:xfrm>
            <a:off x="623887" y="174878"/>
            <a:ext cx="10102169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buClr>
                <a:srgbClr val="00B2FF"/>
              </a:buClr>
              <a:buSzPct val="100000"/>
            </a:pPr>
            <a:r>
              <a:rPr lang="pt-BR" sz="4000" b="1" noProof="0" dirty="0">
                <a:solidFill>
                  <a:srgbClr val="04B0FF"/>
                </a:solidFill>
                <a:ea typeface="Calibri" panose="020F0502020204030204" pitchFamily="34" charset="0"/>
                <a:cs typeface="Segoe UI" panose="020B0502040204020203" pitchFamily="34" charset="0"/>
              </a:rPr>
              <a:t>Informações gerais da concessão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859616F5-78B8-D834-990E-2E82772849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34396"/>
              </p:ext>
            </p:extLst>
          </p:nvPr>
        </p:nvGraphicFramePr>
        <p:xfrm>
          <a:off x="565943" y="905592"/>
          <a:ext cx="11060114" cy="577753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554211">
                  <a:extLst>
                    <a:ext uri="{9D8B030D-6E8A-4147-A177-3AD203B41FA5}">
                      <a16:colId xmlns:a16="http://schemas.microsoft.com/office/drawing/2014/main" val="777472981"/>
                    </a:ext>
                  </a:extLst>
                </a:gridCol>
                <a:gridCol w="8505903">
                  <a:extLst>
                    <a:ext uri="{9D8B030D-6E8A-4147-A177-3AD203B41FA5}">
                      <a16:colId xmlns:a16="http://schemas.microsoft.com/office/drawing/2014/main" val="695708267"/>
                    </a:ext>
                  </a:extLst>
                </a:gridCol>
              </a:tblGrid>
              <a:tr h="321610">
                <a:tc gridSpan="2">
                  <a:txBody>
                    <a:bodyPr/>
                    <a:lstStyle/>
                    <a:p>
                      <a:pPr algn="ctr"/>
                      <a:r>
                        <a:rPr lang="pt-BR" sz="1500" noProof="0" dirty="0">
                          <a:latin typeface="+mn-lt"/>
                          <a:cs typeface="Segoe UI" panose="020B0502040204020203" pitchFamily="34" charset="0"/>
                        </a:rPr>
                        <a:t>Informações gerais</a:t>
                      </a:r>
                    </a:p>
                  </a:txBody>
                  <a:tcPr anchor="ctr">
                    <a:solidFill>
                      <a:srgbClr val="04B0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1876486"/>
                  </a:ext>
                </a:extLst>
              </a:tr>
              <a:tr h="301703">
                <a:tc>
                  <a:txBody>
                    <a:bodyPr/>
                    <a:lstStyle/>
                    <a:p>
                      <a:pPr algn="ctr"/>
                      <a:r>
                        <a:rPr lang="pt-BR" sz="1500" b="1" noProof="0" dirty="0">
                          <a:solidFill>
                            <a:schemeClr val="bg1"/>
                          </a:solidFill>
                          <a:latin typeface="+mn-lt"/>
                          <a:cs typeface="Segoe UI" panose="020B0502040204020203" pitchFamily="34" charset="0"/>
                        </a:rPr>
                        <a:t>Regime jurídico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00" noProof="0" dirty="0">
                          <a:solidFill>
                            <a:srgbClr val="444444"/>
                          </a:solidFill>
                          <a:latin typeface="+mn-lt"/>
                          <a:cs typeface="Segoe UI" panose="020B0502040204020203" pitchFamily="34" charset="0"/>
                        </a:rPr>
                        <a:t>Concessão comum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137508"/>
                  </a:ext>
                </a:extLst>
              </a:tr>
              <a:tr h="310551">
                <a:tc>
                  <a:txBody>
                    <a:bodyPr/>
                    <a:lstStyle/>
                    <a:p>
                      <a:pPr algn="ctr"/>
                      <a:r>
                        <a:rPr lang="pt-BR" sz="1500" b="1" noProof="0" dirty="0">
                          <a:solidFill>
                            <a:schemeClr val="bg1"/>
                          </a:solidFill>
                          <a:latin typeface="+mn-lt"/>
                          <a:cs typeface="Segoe UI" panose="020B0502040204020203" pitchFamily="34" charset="0"/>
                        </a:rPr>
                        <a:t>Poder Concedente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00" noProof="0" dirty="0">
                          <a:solidFill>
                            <a:srgbClr val="444444"/>
                          </a:solidFill>
                          <a:latin typeface="+mn-lt"/>
                          <a:cs typeface="Segoe UI" panose="020B0502040204020203" pitchFamily="34" charset="0"/>
                        </a:rPr>
                        <a:t>Consórcio Público Intermunicipal de Desenvolvimento Sustentável do Alto Paranaíba (CISPAR)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7031413"/>
                  </a:ext>
                </a:extLst>
              </a:tr>
              <a:tr h="241540">
                <a:tc>
                  <a:txBody>
                    <a:bodyPr/>
                    <a:lstStyle/>
                    <a:p>
                      <a:pPr algn="ctr"/>
                      <a:r>
                        <a:rPr lang="pt-BR" sz="1500" b="1" noProof="0" dirty="0">
                          <a:solidFill>
                            <a:schemeClr val="bg1"/>
                          </a:solidFill>
                          <a:latin typeface="+mn-lt"/>
                          <a:cs typeface="Segoe UI" panose="020B0502040204020203" pitchFamily="34" charset="0"/>
                        </a:rPr>
                        <a:t>Prazo da Concessão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00" noProof="0" dirty="0">
                          <a:solidFill>
                            <a:srgbClr val="444444"/>
                          </a:solidFill>
                          <a:latin typeface="+mn-lt"/>
                          <a:cs typeface="Segoe UI" panose="020B0502040204020203" pitchFamily="34" charset="0"/>
                        </a:rPr>
                        <a:t>30 anos a partir da emissão o da primeira Ordem de Serviço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34462"/>
                  </a:ext>
                </a:extLst>
              </a:tr>
              <a:tr h="141473">
                <a:tc>
                  <a:txBody>
                    <a:bodyPr/>
                    <a:lstStyle/>
                    <a:p>
                      <a:pPr algn="ctr"/>
                      <a:r>
                        <a:rPr lang="pt-BR" sz="1500" b="1" noProof="0" dirty="0">
                          <a:solidFill>
                            <a:schemeClr val="bg1"/>
                          </a:solidFill>
                          <a:latin typeface="+mn-lt"/>
                          <a:cs typeface="Segoe UI" panose="020B0502040204020203" pitchFamily="34" charset="0"/>
                        </a:rPr>
                        <a:t>Critério de julgamento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00" noProof="0" dirty="0">
                          <a:solidFill>
                            <a:srgbClr val="444444"/>
                          </a:solidFill>
                          <a:latin typeface="+mn-lt"/>
                          <a:cs typeface="Segoe UI" panose="020B0502040204020203" pitchFamily="34" charset="0"/>
                        </a:rPr>
                        <a:t>Maior desconto sobre a tarifa base referencial máxima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344756"/>
                  </a:ext>
                </a:extLst>
              </a:tr>
              <a:tr h="1414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500" b="1" noProof="0" dirty="0">
                          <a:solidFill>
                            <a:schemeClr val="bg1"/>
                          </a:solidFill>
                          <a:latin typeface="+mn-lt"/>
                          <a:cs typeface="Segoe UI" panose="020B0502040204020203" pitchFamily="34" charset="0"/>
                        </a:rPr>
                        <a:t>Modo de disputa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00" noProof="0" dirty="0">
                          <a:solidFill>
                            <a:srgbClr val="444444"/>
                          </a:solidFill>
                          <a:latin typeface="+mn-lt"/>
                          <a:cs typeface="Segoe UI" panose="020B0502040204020203" pitchFamily="34" charset="0"/>
                        </a:rPr>
                        <a:t>Fechado (com possibilidade de disputa por lances)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4992691"/>
                  </a:ext>
                </a:extLst>
              </a:tr>
              <a:tr h="1414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500" b="1" noProof="0" dirty="0">
                          <a:solidFill>
                            <a:schemeClr val="bg1"/>
                          </a:solidFill>
                          <a:latin typeface="+mn-lt"/>
                          <a:cs typeface="Segoe UI" panose="020B0502040204020203" pitchFamily="34" charset="0"/>
                        </a:rPr>
                        <a:t>Objeto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500" b="0" kern="1200" noProof="0" dirty="0">
                          <a:solidFill>
                            <a:srgbClr val="444444"/>
                          </a:solidFill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Prestação dos serviços de: </a:t>
                      </a:r>
                      <a:r>
                        <a:rPr lang="pt-BR" sz="1500" b="1" kern="1200" noProof="0" dirty="0">
                          <a:solidFill>
                            <a:srgbClr val="444444"/>
                          </a:solidFill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(i)</a:t>
                      </a:r>
                      <a:r>
                        <a:rPr lang="pt-BR" sz="1500" b="0" kern="1200" noProof="0" dirty="0">
                          <a:solidFill>
                            <a:srgbClr val="444444"/>
                          </a:solidFill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 coleta*, transbordo, transporte, triagem para reutilização ou reciclagem, tratamento e destinação final dos </a:t>
                      </a:r>
                      <a:r>
                        <a:rPr lang="pt-BR" sz="1500" b="1" kern="1200" noProof="0" dirty="0">
                          <a:solidFill>
                            <a:srgbClr val="444444"/>
                          </a:solidFill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resíduos sólidos domésticos </a:t>
                      </a:r>
                      <a:r>
                        <a:rPr lang="pt-BR" sz="1500" b="0" kern="1200" noProof="0" dirty="0">
                          <a:solidFill>
                            <a:srgbClr val="444444"/>
                          </a:solidFill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(e equiparados aos domésticos); e</a:t>
                      </a:r>
                      <a:r>
                        <a:rPr lang="pt-BR" sz="1500" b="1" kern="1200" noProof="0" dirty="0">
                          <a:solidFill>
                            <a:srgbClr val="444444"/>
                          </a:solidFill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 (</a:t>
                      </a:r>
                      <a:r>
                        <a:rPr lang="pt-BR" sz="1500" b="1" kern="1200" noProof="0" dirty="0" err="1">
                          <a:solidFill>
                            <a:srgbClr val="444444"/>
                          </a:solidFill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ii</a:t>
                      </a:r>
                      <a:r>
                        <a:rPr lang="pt-BR" sz="1500" b="1" kern="1200" noProof="0" dirty="0">
                          <a:solidFill>
                            <a:srgbClr val="444444"/>
                          </a:solidFill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) </a:t>
                      </a:r>
                      <a:r>
                        <a:rPr lang="pt-BR" sz="1500" b="0" kern="1200" noProof="0" dirty="0">
                          <a:solidFill>
                            <a:srgbClr val="444444"/>
                          </a:solidFill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transbordo, transporte, triagem, tratamento e destinação final dos </a:t>
                      </a:r>
                      <a:r>
                        <a:rPr lang="pt-BR" sz="1500" b="1" kern="1200" noProof="0" dirty="0">
                          <a:solidFill>
                            <a:srgbClr val="444444"/>
                          </a:solidFill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resíduos de limpeza urbana</a:t>
                      </a:r>
                      <a:r>
                        <a:rPr lang="pt-BR" sz="1500" b="0" kern="1200" noProof="0" dirty="0">
                          <a:solidFill>
                            <a:srgbClr val="444444"/>
                          </a:solidFill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.</a:t>
                      </a:r>
                    </a:p>
                    <a:p>
                      <a:pPr marL="0" marR="0" lvl="0" indent="0" algn="just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500" b="0" kern="1200" noProof="0" dirty="0">
                          <a:solidFill>
                            <a:srgbClr val="444444"/>
                          </a:solidFill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*Os serviços de coleta estão excluídos do Município de Presidente Olegário (cl. 6.4 da Minuta de Contrato)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0878026"/>
                  </a:ext>
                </a:extLst>
              </a:tr>
              <a:tr h="1414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500" b="1" noProof="0" dirty="0">
                          <a:solidFill>
                            <a:schemeClr val="bg1"/>
                          </a:solidFill>
                          <a:latin typeface="+mn-lt"/>
                          <a:cs typeface="Segoe UI" panose="020B0502040204020203" pitchFamily="34" charset="0"/>
                        </a:rPr>
                        <a:t>Área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500" b="0" kern="1200" noProof="0" dirty="0">
                          <a:solidFill>
                            <a:srgbClr val="444444"/>
                          </a:solidFill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9 municípios integrantes do CISPAR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500" b="0" kern="1200" noProof="0" dirty="0">
                          <a:solidFill>
                            <a:srgbClr val="444444"/>
                          </a:solidFill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A Concessionária poderá prestar os serviços de MRSU em munícipios que não integram o CISPAR, após aprovação do Poder Concedente (cl. 23.10 da Minuta de Contrato)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735453"/>
                  </a:ext>
                </a:extLst>
              </a:tr>
              <a:tr h="1414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500" b="1" noProof="0" dirty="0">
                          <a:solidFill>
                            <a:schemeClr val="bg1"/>
                          </a:solidFill>
                          <a:latin typeface="+mn-lt"/>
                          <a:cs typeface="Segoe UI" panose="020B0502040204020203" pitchFamily="34" charset="0"/>
                        </a:rPr>
                        <a:t>Valor estimado do contrato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500" b="0" kern="1200" noProof="0" dirty="0">
                          <a:solidFill>
                            <a:srgbClr val="444444"/>
                          </a:solidFill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R$ 1.743.398.724,09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806318"/>
                  </a:ext>
                </a:extLst>
              </a:tr>
              <a:tr h="1414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500" b="1" noProof="0" dirty="0">
                          <a:solidFill>
                            <a:schemeClr val="bg1"/>
                          </a:solidFill>
                          <a:latin typeface="+mn-lt"/>
                          <a:cs typeface="Segoe UI" panose="020B0502040204020203" pitchFamily="34" charset="0"/>
                        </a:rPr>
                        <a:t>CAPEX total estimado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500" b="0" kern="1200" noProof="0" dirty="0">
                          <a:solidFill>
                            <a:srgbClr val="444444"/>
                          </a:solidFill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R$ 144.967.729,68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3108984"/>
                  </a:ext>
                </a:extLst>
              </a:tr>
              <a:tr h="1414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500" b="1" noProof="0" dirty="0">
                          <a:solidFill>
                            <a:schemeClr val="bg1"/>
                          </a:solidFill>
                          <a:latin typeface="+mn-lt"/>
                          <a:cs typeface="Segoe UI" panose="020B0502040204020203" pitchFamily="34" charset="0"/>
                        </a:rPr>
                        <a:t>Outorga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500" b="0" kern="1200" noProof="0" dirty="0">
                          <a:solidFill>
                            <a:srgbClr val="444444"/>
                          </a:solidFill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R$ 50.000,00 / mês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056708"/>
                  </a:ext>
                </a:extLst>
              </a:tr>
              <a:tr h="1414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500" b="1" noProof="0" dirty="0">
                          <a:solidFill>
                            <a:schemeClr val="bg1"/>
                          </a:solidFill>
                          <a:latin typeface="+mn-lt"/>
                          <a:cs typeface="Segoe UI" panose="020B0502040204020203" pitchFamily="34" charset="0"/>
                        </a:rPr>
                        <a:t>WACC do projeto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500" b="0" kern="1200" noProof="0" dirty="0">
                          <a:solidFill>
                            <a:srgbClr val="444444"/>
                          </a:solidFill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11,69%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3471336"/>
                  </a:ext>
                </a:extLst>
              </a:tr>
              <a:tr h="1414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500" b="1" noProof="0" dirty="0">
                          <a:solidFill>
                            <a:schemeClr val="bg1"/>
                          </a:solidFill>
                          <a:latin typeface="+mn-lt"/>
                          <a:cs typeface="Segoe UI" panose="020B0502040204020203" pitchFamily="34" charset="0"/>
                        </a:rPr>
                        <a:t>Entrega dos envelopes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500" b="1" kern="1200" noProof="0" dirty="0">
                          <a:solidFill>
                            <a:srgbClr val="444444"/>
                          </a:solidFill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14/08/2026</a:t>
                      </a:r>
                      <a:r>
                        <a:rPr lang="pt-BR" sz="1500" b="0" kern="1200" noProof="0" dirty="0">
                          <a:solidFill>
                            <a:srgbClr val="444444"/>
                          </a:solidFill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 (10h00 às 12h00)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5987123"/>
                  </a:ext>
                </a:extLst>
              </a:tr>
              <a:tr h="14147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500" b="1" noProof="0" dirty="0">
                          <a:solidFill>
                            <a:schemeClr val="bg1"/>
                          </a:solidFill>
                          <a:latin typeface="+mn-lt"/>
                          <a:cs typeface="Segoe UI" panose="020B0502040204020203" pitchFamily="34" charset="0"/>
                        </a:rPr>
                        <a:t>Sessão pública</a:t>
                      </a:r>
                    </a:p>
                  </a:txBody>
                  <a:tcP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500" b="1" kern="1200" noProof="0" dirty="0">
                          <a:solidFill>
                            <a:srgbClr val="444444"/>
                          </a:solidFill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21/08/2026 </a:t>
                      </a:r>
                      <a:r>
                        <a:rPr lang="pt-BR" sz="1500" b="0" kern="1200" noProof="0" dirty="0">
                          <a:solidFill>
                            <a:srgbClr val="444444"/>
                          </a:solidFill>
                          <a:latin typeface="+mn-lt"/>
                          <a:ea typeface="+mn-ea"/>
                          <a:cs typeface="Segoe UI" panose="020B0502040204020203" pitchFamily="34" charset="0"/>
                        </a:rPr>
                        <a:t>(14h00)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3912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414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5CA3A-DE83-FE01-5376-627224CDB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7F4B396F-D48B-F700-C29B-508DDCCF1DD8}"/>
              </a:ext>
            </a:extLst>
          </p:cNvPr>
          <p:cNvSpPr txBox="1"/>
          <p:nvPr/>
        </p:nvSpPr>
        <p:spPr>
          <a:xfrm>
            <a:off x="4596954" y="2712834"/>
            <a:ext cx="7041605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defRPr/>
            </a:pPr>
            <a:r>
              <a:rPr lang="pt-BR" sz="4800" b="1" noProof="0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Aspectos Jurídicos Estratégicos do Projeto</a:t>
            </a:r>
            <a:endParaRPr lang="pt-BR" sz="4000" b="1" noProof="0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Forma Livre: Forma 2">
            <a:extLst>
              <a:ext uri="{FF2B5EF4-FFF2-40B4-BE49-F238E27FC236}">
                <a16:creationId xmlns:a16="http://schemas.microsoft.com/office/drawing/2014/main" id="{4588D49B-E5A0-73C0-F3A0-CC24E5AC2588}"/>
              </a:ext>
            </a:extLst>
          </p:cNvPr>
          <p:cNvSpPr/>
          <p:nvPr/>
        </p:nvSpPr>
        <p:spPr>
          <a:xfrm>
            <a:off x="2751024" y="1380119"/>
            <a:ext cx="1372953" cy="1372953"/>
          </a:xfrm>
          <a:custGeom>
            <a:avLst/>
            <a:gdLst>
              <a:gd name="connsiteX0" fmla="*/ 1372954 w 1372953"/>
              <a:gd name="connsiteY0" fmla="*/ 1372954 h 1372953"/>
              <a:gd name="connsiteX1" fmla="*/ 0 w 1372953"/>
              <a:gd name="connsiteY1" fmla="*/ 1372954 h 1372953"/>
              <a:gd name="connsiteX2" fmla="*/ 0 w 1372953"/>
              <a:gd name="connsiteY2" fmla="*/ 0 h 1372953"/>
              <a:gd name="connsiteX3" fmla="*/ 686477 w 1372953"/>
              <a:gd name="connsiteY3" fmla="*/ 0 h 1372953"/>
              <a:gd name="connsiteX4" fmla="*/ 1372954 w 1372953"/>
              <a:gd name="connsiteY4" fmla="*/ 686477 h 1372953"/>
              <a:gd name="connsiteX5" fmla="*/ 1372954 w 1372953"/>
              <a:gd name="connsiteY5" fmla="*/ 1372954 h 1372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2953" h="1372953">
                <a:moveTo>
                  <a:pt x="1372954" y="1372954"/>
                </a:moveTo>
                <a:lnTo>
                  <a:pt x="0" y="1372954"/>
                </a:lnTo>
                <a:lnTo>
                  <a:pt x="0" y="0"/>
                </a:lnTo>
                <a:lnTo>
                  <a:pt x="686477" y="0"/>
                </a:lnTo>
                <a:cubicBezTo>
                  <a:pt x="1065636" y="0"/>
                  <a:pt x="1372954" y="307318"/>
                  <a:pt x="1372954" y="686477"/>
                </a:cubicBezTo>
                <a:lnTo>
                  <a:pt x="1372954" y="1372954"/>
                </a:lnTo>
                <a:close/>
              </a:path>
            </a:pathLst>
          </a:custGeom>
          <a:noFill/>
          <a:ln w="10210" cap="flat">
            <a:solidFill>
              <a:srgbClr val="5E5E5E"/>
            </a:solidFill>
            <a:prstDash val="solid"/>
            <a:miter/>
          </a:ln>
        </p:spPr>
        <p:txBody>
          <a:bodyPr rtlCol="0" anchor="ctr"/>
          <a:lstStyle/>
          <a:p>
            <a:endParaRPr lang="pt-BR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Forma Livre: Forma 4">
            <a:extLst>
              <a:ext uri="{FF2B5EF4-FFF2-40B4-BE49-F238E27FC236}">
                <a16:creationId xmlns:a16="http://schemas.microsoft.com/office/drawing/2014/main" id="{BFE31864-EE4C-DBCC-0A28-A4364CD4BA98}"/>
              </a:ext>
            </a:extLst>
          </p:cNvPr>
          <p:cNvSpPr/>
          <p:nvPr/>
        </p:nvSpPr>
        <p:spPr>
          <a:xfrm rot="16200000">
            <a:off x="2751024" y="4103572"/>
            <a:ext cx="1372953" cy="1372953"/>
          </a:xfrm>
          <a:custGeom>
            <a:avLst/>
            <a:gdLst>
              <a:gd name="connsiteX0" fmla="*/ 0 w 1372953"/>
              <a:gd name="connsiteY0" fmla="*/ 0 h 1372953"/>
              <a:gd name="connsiteX1" fmla="*/ 0 w 1372953"/>
              <a:gd name="connsiteY1" fmla="*/ 1372954 h 1372953"/>
              <a:gd name="connsiteX2" fmla="*/ 686477 w 1372953"/>
              <a:gd name="connsiteY2" fmla="*/ 1372954 h 1372953"/>
              <a:gd name="connsiteX3" fmla="*/ 1372954 w 1372953"/>
              <a:gd name="connsiteY3" fmla="*/ 686477 h 1372953"/>
              <a:gd name="connsiteX4" fmla="*/ 686477 w 1372953"/>
              <a:gd name="connsiteY4" fmla="*/ 0 h 1372953"/>
              <a:gd name="connsiteX5" fmla="*/ 0 w 1372953"/>
              <a:gd name="connsiteY5" fmla="*/ 0 h 1372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2953" h="1372953">
                <a:moveTo>
                  <a:pt x="0" y="0"/>
                </a:moveTo>
                <a:lnTo>
                  <a:pt x="0" y="1372954"/>
                </a:lnTo>
                <a:lnTo>
                  <a:pt x="686477" y="1372954"/>
                </a:lnTo>
                <a:cubicBezTo>
                  <a:pt x="1065636" y="1372954"/>
                  <a:pt x="1372954" y="1065636"/>
                  <a:pt x="1372954" y="686477"/>
                </a:cubicBezTo>
                <a:cubicBezTo>
                  <a:pt x="1372954" y="307318"/>
                  <a:pt x="1065636" y="0"/>
                  <a:pt x="686477" y="0"/>
                </a:cubicBezTo>
                <a:lnTo>
                  <a:pt x="0" y="0"/>
                </a:lnTo>
                <a:close/>
              </a:path>
            </a:pathLst>
          </a:custGeom>
          <a:noFill/>
          <a:ln w="10210" cap="flat">
            <a:solidFill>
              <a:srgbClr val="5E5E5E"/>
            </a:solidFill>
            <a:prstDash val="solid"/>
            <a:miter/>
          </a:ln>
        </p:spPr>
        <p:txBody>
          <a:bodyPr rtlCol="0" anchor="ctr"/>
          <a:lstStyle/>
          <a:p>
            <a:endParaRPr lang="pt-BR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Forma Livre: Forma 6">
            <a:extLst>
              <a:ext uri="{FF2B5EF4-FFF2-40B4-BE49-F238E27FC236}">
                <a16:creationId xmlns:a16="http://schemas.microsoft.com/office/drawing/2014/main" id="{A85B8A86-9072-A450-38FA-D6D1941AA2EA}"/>
              </a:ext>
            </a:extLst>
          </p:cNvPr>
          <p:cNvSpPr/>
          <p:nvPr/>
        </p:nvSpPr>
        <p:spPr>
          <a:xfrm>
            <a:off x="2751023" y="2733608"/>
            <a:ext cx="1372953" cy="1368404"/>
          </a:xfrm>
          <a:custGeom>
            <a:avLst/>
            <a:gdLst>
              <a:gd name="connsiteX0" fmla="*/ 0 w 1372953"/>
              <a:gd name="connsiteY0" fmla="*/ 686477 h 1372953"/>
              <a:gd name="connsiteX1" fmla="*/ 0 w 1372953"/>
              <a:gd name="connsiteY1" fmla="*/ 686477 h 1372953"/>
              <a:gd name="connsiteX2" fmla="*/ 686477 w 1372953"/>
              <a:gd name="connsiteY2" fmla="*/ 1372954 h 1372953"/>
              <a:gd name="connsiteX3" fmla="*/ 1372954 w 1372953"/>
              <a:gd name="connsiteY3" fmla="*/ 686477 h 1372953"/>
              <a:gd name="connsiteX4" fmla="*/ 686477 w 1372953"/>
              <a:gd name="connsiteY4" fmla="*/ 0 h 1372953"/>
              <a:gd name="connsiteX5" fmla="*/ 0 w 1372953"/>
              <a:gd name="connsiteY5" fmla="*/ 686477 h 1372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2953" h="1372953">
                <a:moveTo>
                  <a:pt x="0" y="686477"/>
                </a:moveTo>
                <a:lnTo>
                  <a:pt x="0" y="686477"/>
                </a:lnTo>
                <a:cubicBezTo>
                  <a:pt x="0" y="1065636"/>
                  <a:pt x="307318" y="1372954"/>
                  <a:pt x="686477" y="1372954"/>
                </a:cubicBezTo>
                <a:cubicBezTo>
                  <a:pt x="1065636" y="1372954"/>
                  <a:pt x="1372954" y="1065636"/>
                  <a:pt x="1372954" y="686477"/>
                </a:cubicBezTo>
                <a:cubicBezTo>
                  <a:pt x="1372954" y="307318"/>
                  <a:pt x="1065636" y="0"/>
                  <a:pt x="686477" y="0"/>
                </a:cubicBezTo>
                <a:cubicBezTo>
                  <a:pt x="307318" y="0"/>
                  <a:pt x="0" y="307318"/>
                  <a:pt x="0" y="686477"/>
                </a:cubicBezTo>
                <a:close/>
              </a:path>
            </a:pathLst>
          </a:custGeom>
          <a:solidFill>
            <a:srgbClr val="04B0FF"/>
          </a:solidFill>
          <a:ln w="1021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noProof="0" dirty="0">
              <a:solidFill>
                <a:srgbClr val="04B0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DE699B8B-FBFA-D9E1-4399-A54C12E05683}"/>
              </a:ext>
            </a:extLst>
          </p:cNvPr>
          <p:cNvSpPr/>
          <p:nvPr/>
        </p:nvSpPr>
        <p:spPr>
          <a:xfrm>
            <a:off x="2751024" y="-13933"/>
            <a:ext cx="1372953" cy="1372953"/>
          </a:xfrm>
          <a:custGeom>
            <a:avLst/>
            <a:gdLst>
              <a:gd name="connsiteX0" fmla="*/ 0 w 1372953"/>
              <a:gd name="connsiteY0" fmla="*/ 686477 h 1372953"/>
              <a:gd name="connsiteX1" fmla="*/ 0 w 1372953"/>
              <a:gd name="connsiteY1" fmla="*/ 686477 h 1372953"/>
              <a:gd name="connsiteX2" fmla="*/ 686477 w 1372953"/>
              <a:gd name="connsiteY2" fmla="*/ 1372954 h 1372953"/>
              <a:gd name="connsiteX3" fmla="*/ 1372954 w 1372953"/>
              <a:gd name="connsiteY3" fmla="*/ 686477 h 1372953"/>
              <a:gd name="connsiteX4" fmla="*/ 686477 w 1372953"/>
              <a:gd name="connsiteY4" fmla="*/ 0 h 1372953"/>
              <a:gd name="connsiteX5" fmla="*/ 0 w 1372953"/>
              <a:gd name="connsiteY5" fmla="*/ 686477 h 1372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2953" h="1372953">
                <a:moveTo>
                  <a:pt x="0" y="686477"/>
                </a:moveTo>
                <a:lnTo>
                  <a:pt x="0" y="686477"/>
                </a:lnTo>
                <a:cubicBezTo>
                  <a:pt x="0" y="1065636"/>
                  <a:pt x="307318" y="1372954"/>
                  <a:pt x="686477" y="1372954"/>
                </a:cubicBezTo>
                <a:cubicBezTo>
                  <a:pt x="1065636" y="1372954"/>
                  <a:pt x="1372954" y="1065636"/>
                  <a:pt x="1372954" y="686477"/>
                </a:cubicBezTo>
                <a:cubicBezTo>
                  <a:pt x="1372954" y="307318"/>
                  <a:pt x="1065533" y="0"/>
                  <a:pt x="686477" y="0"/>
                </a:cubicBezTo>
                <a:cubicBezTo>
                  <a:pt x="307420" y="0"/>
                  <a:pt x="0" y="307318"/>
                  <a:pt x="0" y="686477"/>
                </a:cubicBezTo>
                <a:close/>
              </a:path>
            </a:pathLst>
          </a:custGeom>
          <a:noFill/>
          <a:ln w="10210" cap="flat">
            <a:solidFill>
              <a:srgbClr val="5E5E5E"/>
            </a:solidFill>
            <a:prstDash val="solid"/>
            <a:miter/>
          </a:ln>
        </p:spPr>
        <p:txBody>
          <a:bodyPr rtlCol="0" anchor="ctr"/>
          <a:lstStyle/>
          <a:p>
            <a:endParaRPr lang="pt-BR" noProof="0" dirty="0"/>
          </a:p>
        </p:txBody>
      </p:sp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A566388E-9677-634A-2A73-4D6206E0A6C2}"/>
              </a:ext>
            </a:extLst>
          </p:cNvPr>
          <p:cNvSpPr/>
          <p:nvPr/>
        </p:nvSpPr>
        <p:spPr>
          <a:xfrm>
            <a:off x="2751024" y="5477882"/>
            <a:ext cx="1372953" cy="1372953"/>
          </a:xfrm>
          <a:custGeom>
            <a:avLst/>
            <a:gdLst>
              <a:gd name="connsiteX0" fmla="*/ 1372954 w 1372953"/>
              <a:gd name="connsiteY0" fmla="*/ 1372954 h 1372953"/>
              <a:gd name="connsiteX1" fmla="*/ 0 w 1372953"/>
              <a:gd name="connsiteY1" fmla="*/ 1372954 h 1372953"/>
              <a:gd name="connsiteX2" fmla="*/ 0 w 1372953"/>
              <a:gd name="connsiteY2" fmla="*/ 0 h 1372953"/>
              <a:gd name="connsiteX3" fmla="*/ 686477 w 1372953"/>
              <a:gd name="connsiteY3" fmla="*/ 0 h 1372953"/>
              <a:gd name="connsiteX4" fmla="*/ 1372954 w 1372953"/>
              <a:gd name="connsiteY4" fmla="*/ 686477 h 1372953"/>
              <a:gd name="connsiteX5" fmla="*/ 1372954 w 1372953"/>
              <a:gd name="connsiteY5" fmla="*/ 1372954 h 1372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2953" h="1372953">
                <a:moveTo>
                  <a:pt x="1372954" y="1372954"/>
                </a:moveTo>
                <a:lnTo>
                  <a:pt x="0" y="1372954"/>
                </a:lnTo>
                <a:lnTo>
                  <a:pt x="0" y="0"/>
                </a:lnTo>
                <a:lnTo>
                  <a:pt x="686477" y="0"/>
                </a:lnTo>
                <a:cubicBezTo>
                  <a:pt x="1065636" y="0"/>
                  <a:pt x="1372954" y="307318"/>
                  <a:pt x="1372954" y="686477"/>
                </a:cubicBezTo>
                <a:lnTo>
                  <a:pt x="1372954" y="1372954"/>
                </a:lnTo>
                <a:close/>
              </a:path>
            </a:pathLst>
          </a:custGeom>
          <a:noFill/>
          <a:ln w="10210" cap="flat">
            <a:solidFill>
              <a:srgbClr val="5E5E5E"/>
            </a:solidFill>
            <a:prstDash val="solid"/>
            <a:miter/>
          </a:ln>
        </p:spPr>
        <p:txBody>
          <a:bodyPr rtlCol="0" anchor="ctr"/>
          <a:lstStyle/>
          <a:p>
            <a:endParaRPr lang="pt-BR" noProof="0" dirty="0"/>
          </a:p>
        </p:txBody>
      </p:sp>
      <p:sp>
        <p:nvSpPr>
          <p:cNvPr id="15" name="Forma Livre: Forma 14">
            <a:extLst>
              <a:ext uri="{FF2B5EF4-FFF2-40B4-BE49-F238E27FC236}">
                <a16:creationId xmlns:a16="http://schemas.microsoft.com/office/drawing/2014/main" id="{4D5D04FF-8FF5-1363-A054-0884F4F95F8F}"/>
              </a:ext>
            </a:extLst>
          </p:cNvPr>
          <p:cNvSpPr/>
          <p:nvPr/>
        </p:nvSpPr>
        <p:spPr>
          <a:xfrm>
            <a:off x="5116" y="2731974"/>
            <a:ext cx="1372953" cy="1372953"/>
          </a:xfrm>
          <a:custGeom>
            <a:avLst/>
            <a:gdLst>
              <a:gd name="connsiteX0" fmla="*/ 0 w 1372953"/>
              <a:gd name="connsiteY0" fmla="*/ 1372954 h 1372953"/>
              <a:gd name="connsiteX1" fmla="*/ 1372954 w 1372953"/>
              <a:gd name="connsiteY1" fmla="*/ 1372954 h 1372953"/>
              <a:gd name="connsiteX2" fmla="*/ 1372954 w 1372953"/>
              <a:gd name="connsiteY2" fmla="*/ 0 h 1372953"/>
              <a:gd name="connsiteX3" fmla="*/ 686477 w 1372953"/>
              <a:gd name="connsiteY3" fmla="*/ 0 h 1372953"/>
              <a:gd name="connsiteX4" fmla="*/ 0 w 1372953"/>
              <a:gd name="connsiteY4" fmla="*/ 686477 h 1372953"/>
              <a:gd name="connsiteX5" fmla="*/ 0 w 1372953"/>
              <a:gd name="connsiteY5" fmla="*/ 1372954 h 1372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2953" h="1372953">
                <a:moveTo>
                  <a:pt x="0" y="1372954"/>
                </a:moveTo>
                <a:lnTo>
                  <a:pt x="1372954" y="1372954"/>
                </a:lnTo>
                <a:lnTo>
                  <a:pt x="1372954" y="0"/>
                </a:lnTo>
                <a:lnTo>
                  <a:pt x="686477" y="0"/>
                </a:lnTo>
                <a:cubicBezTo>
                  <a:pt x="307318" y="0"/>
                  <a:pt x="0" y="307318"/>
                  <a:pt x="0" y="686477"/>
                </a:cubicBezTo>
                <a:lnTo>
                  <a:pt x="0" y="1372954"/>
                </a:lnTo>
                <a:close/>
              </a:path>
            </a:pathLst>
          </a:custGeom>
          <a:noFill/>
          <a:ln w="10210" cap="flat">
            <a:solidFill>
              <a:srgbClr val="5E5E5E"/>
            </a:solidFill>
            <a:prstDash val="solid"/>
            <a:miter/>
          </a:ln>
        </p:spPr>
        <p:txBody>
          <a:bodyPr rtlCol="0" anchor="ctr"/>
          <a:lstStyle/>
          <a:p>
            <a:endParaRPr lang="pt-BR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Forma Livre: Forma 16">
            <a:extLst>
              <a:ext uri="{FF2B5EF4-FFF2-40B4-BE49-F238E27FC236}">
                <a16:creationId xmlns:a16="http://schemas.microsoft.com/office/drawing/2014/main" id="{D52F0386-81E4-AF9C-6EF8-0FD2B9C2DBC3}"/>
              </a:ext>
            </a:extLst>
          </p:cNvPr>
          <p:cNvSpPr/>
          <p:nvPr/>
        </p:nvSpPr>
        <p:spPr>
          <a:xfrm>
            <a:off x="5116" y="4104928"/>
            <a:ext cx="1372953" cy="1372953"/>
          </a:xfrm>
          <a:custGeom>
            <a:avLst/>
            <a:gdLst>
              <a:gd name="connsiteX0" fmla="*/ 0 w 1372953"/>
              <a:gd name="connsiteY0" fmla="*/ 0 h 1372953"/>
              <a:gd name="connsiteX1" fmla="*/ 0 w 1372953"/>
              <a:gd name="connsiteY1" fmla="*/ 1372954 h 1372953"/>
              <a:gd name="connsiteX2" fmla="*/ 686477 w 1372953"/>
              <a:gd name="connsiteY2" fmla="*/ 1372954 h 1372953"/>
              <a:gd name="connsiteX3" fmla="*/ 1372954 w 1372953"/>
              <a:gd name="connsiteY3" fmla="*/ 686477 h 1372953"/>
              <a:gd name="connsiteX4" fmla="*/ 686477 w 1372953"/>
              <a:gd name="connsiteY4" fmla="*/ 0 h 1372953"/>
              <a:gd name="connsiteX5" fmla="*/ 0 w 1372953"/>
              <a:gd name="connsiteY5" fmla="*/ 0 h 1372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2953" h="1372953">
                <a:moveTo>
                  <a:pt x="0" y="0"/>
                </a:moveTo>
                <a:lnTo>
                  <a:pt x="0" y="1372954"/>
                </a:lnTo>
                <a:lnTo>
                  <a:pt x="686477" y="1372954"/>
                </a:lnTo>
                <a:cubicBezTo>
                  <a:pt x="1065636" y="1372954"/>
                  <a:pt x="1372954" y="1065636"/>
                  <a:pt x="1372954" y="686477"/>
                </a:cubicBezTo>
                <a:cubicBezTo>
                  <a:pt x="1372954" y="307318"/>
                  <a:pt x="1065636" y="0"/>
                  <a:pt x="686477" y="0"/>
                </a:cubicBezTo>
                <a:lnTo>
                  <a:pt x="0" y="0"/>
                </a:lnTo>
                <a:close/>
              </a:path>
            </a:pathLst>
          </a:custGeom>
          <a:noFill/>
          <a:ln w="10210" cap="flat">
            <a:solidFill>
              <a:srgbClr val="5E5E5E"/>
            </a:solidFill>
            <a:prstDash val="solid"/>
            <a:miter/>
          </a:ln>
        </p:spPr>
        <p:txBody>
          <a:bodyPr rtlCol="0" anchor="ctr"/>
          <a:lstStyle/>
          <a:p>
            <a:endParaRPr lang="pt-BR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901A9F81-109B-38F2-49A2-9221504F7F08}"/>
              </a:ext>
            </a:extLst>
          </p:cNvPr>
          <p:cNvSpPr/>
          <p:nvPr/>
        </p:nvSpPr>
        <p:spPr>
          <a:xfrm>
            <a:off x="5526" y="-13933"/>
            <a:ext cx="1372953" cy="1372953"/>
          </a:xfrm>
          <a:custGeom>
            <a:avLst/>
            <a:gdLst>
              <a:gd name="connsiteX0" fmla="*/ 0 w 1372953"/>
              <a:gd name="connsiteY0" fmla="*/ 0 h 1372953"/>
              <a:gd name="connsiteX1" fmla="*/ 0 w 1372953"/>
              <a:gd name="connsiteY1" fmla="*/ 1372954 h 1372953"/>
              <a:gd name="connsiteX2" fmla="*/ 686477 w 1372953"/>
              <a:gd name="connsiteY2" fmla="*/ 1372954 h 1372953"/>
              <a:gd name="connsiteX3" fmla="*/ 1372954 w 1372953"/>
              <a:gd name="connsiteY3" fmla="*/ 686477 h 1372953"/>
              <a:gd name="connsiteX4" fmla="*/ 686477 w 1372953"/>
              <a:gd name="connsiteY4" fmla="*/ 0 h 1372953"/>
              <a:gd name="connsiteX5" fmla="*/ 0 w 1372953"/>
              <a:gd name="connsiteY5" fmla="*/ 0 h 1372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2953" h="1372953">
                <a:moveTo>
                  <a:pt x="0" y="0"/>
                </a:moveTo>
                <a:lnTo>
                  <a:pt x="0" y="1372954"/>
                </a:lnTo>
                <a:lnTo>
                  <a:pt x="686477" y="1372954"/>
                </a:lnTo>
                <a:cubicBezTo>
                  <a:pt x="1065636" y="1372954"/>
                  <a:pt x="1372954" y="1065636"/>
                  <a:pt x="1372954" y="686477"/>
                </a:cubicBezTo>
                <a:cubicBezTo>
                  <a:pt x="1372954" y="307318"/>
                  <a:pt x="1065533" y="0"/>
                  <a:pt x="686477" y="0"/>
                </a:cubicBezTo>
                <a:lnTo>
                  <a:pt x="0" y="0"/>
                </a:lnTo>
                <a:close/>
              </a:path>
            </a:pathLst>
          </a:custGeom>
          <a:noFill/>
          <a:ln w="10210" cap="flat">
            <a:solidFill>
              <a:srgbClr val="5E5E5E"/>
            </a:solidFill>
            <a:prstDash val="solid"/>
            <a:miter/>
          </a:ln>
        </p:spPr>
        <p:txBody>
          <a:bodyPr rtlCol="0" anchor="ctr"/>
          <a:lstStyle/>
          <a:p>
            <a:endParaRPr lang="pt-BR" noProof="0" dirty="0"/>
          </a:p>
        </p:txBody>
      </p:sp>
      <p:sp>
        <p:nvSpPr>
          <p:cNvPr id="21" name="Forma Livre: Forma 20">
            <a:extLst>
              <a:ext uri="{FF2B5EF4-FFF2-40B4-BE49-F238E27FC236}">
                <a16:creationId xmlns:a16="http://schemas.microsoft.com/office/drawing/2014/main" id="{7F3A8EC8-E181-E04F-3494-8ADC73AAD9BF}"/>
              </a:ext>
            </a:extLst>
          </p:cNvPr>
          <p:cNvSpPr/>
          <p:nvPr/>
        </p:nvSpPr>
        <p:spPr>
          <a:xfrm>
            <a:off x="5116" y="1380119"/>
            <a:ext cx="1372953" cy="1372953"/>
          </a:xfrm>
          <a:custGeom>
            <a:avLst/>
            <a:gdLst>
              <a:gd name="connsiteX0" fmla="*/ 1372954 w 1372953"/>
              <a:gd name="connsiteY0" fmla="*/ 1372954 h 1372953"/>
              <a:gd name="connsiteX1" fmla="*/ 0 w 1372953"/>
              <a:gd name="connsiteY1" fmla="*/ 1372954 h 1372953"/>
              <a:gd name="connsiteX2" fmla="*/ 0 w 1372953"/>
              <a:gd name="connsiteY2" fmla="*/ 0 h 1372953"/>
              <a:gd name="connsiteX3" fmla="*/ 686477 w 1372953"/>
              <a:gd name="connsiteY3" fmla="*/ 0 h 1372953"/>
              <a:gd name="connsiteX4" fmla="*/ 1372954 w 1372953"/>
              <a:gd name="connsiteY4" fmla="*/ 686477 h 1372953"/>
              <a:gd name="connsiteX5" fmla="*/ 1372954 w 1372953"/>
              <a:gd name="connsiteY5" fmla="*/ 1372954 h 1372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2953" h="1372953">
                <a:moveTo>
                  <a:pt x="1372954" y="1372954"/>
                </a:moveTo>
                <a:lnTo>
                  <a:pt x="0" y="1372954"/>
                </a:lnTo>
                <a:lnTo>
                  <a:pt x="0" y="0"/>
                </a:lnTo>
                <a:lnTo>
                  <a:pt x="686477" y="0"/>
                </a:lnTo>
                <a:cubicBezTo>
                  <a:pt x="1065636" y="0"/>
                  <a:pt x="1372954" y="307318"/>
                  <a:pt x="1372954" y="686477"/>
                </a:cubicBezTo>
                <a:lnTo>
                  <a:pt x="1372954" y="1372954"/>
                </a:lnTo>
                <a:close/>
              </a:path>
            </a:pathLst>
          </a:custGeom>
          <a:noFill/>
          <a:ln w="10210" cap="flat">
            <a:solidFill>
              <a:srgbClr val="5E5E5E"/>
            </a:solidFill>
            <a:prstDash val="solid"/>
            <a:miter/>
          </a:ln>
        </p:spPr>
        <p:txBody>
          <a:bodyPr rtlCol="0" anchor="ctr"/>
          <a:lstStyle/>
          <a:p>
            <a:endParaRPr lang="pt-BR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Forma Livre: Forma 22">
            <a:extLst>
              <a:ext uri="{FF2B5EF4-FFF2-40B4-BE49-F238E27FC236}">
                <a16:creationId xmlns:a16="http://schemas.microsoft.com/office/drawing/2014/main" id="{D61F8858-E2FE-79DB-0647-AD53ED75D8AD}"/>
              </a:ext>
            </a:extLst>
          </p:cNvPr>
          <p:cNvSpPr/>
          <p:nvPr/>
        </p:nvSpPr>
        <p:spPr>
          <a:xfrm>
            <a:off x="5116" y="5477882"/>
            <a:ext cx="1372953" cy="1372953"/>
          </a:xfrm>
          <a:custGeom>
            <a:avLst/>
            <a:gdLst>
              <a:gd name="connsiteX0" fmla="*/ 1372954 w 1372953"/>
              <a:gd name="connsiteY0" fmla="*/ 1372954 h 1372953"/>
              <a:gd name="connsiteX1" fmla="*/ 0 w 1372953"/>
              <a:gd name="connsiteY1" fmla="*/ 1372954 h 1372953"/>
              <a:gd name="connsiteX2" fmla="*/ 0 w 1372953"/>
              <a:gd name="connsiteY2" fmla="*/ 0 h 1372953"/>
              <a:gd name="connsiteX3" fmla="*/ 686477 w 1372953"/>
              <a:gd name="connsiteY3" fmla="*/ 0 h 1372953"/>
              <a:gd name="connsiteX4" fmla="*/ 1372954 w 1372953"/>
              <a:gd name="connsiteY4" fmla="*/ 686477 h 1372953"/>
              <a:gd name="connsiteX5" fmla="*/ 1372954 w 1372953"/>
              <a:gd name="connsiteY5" fmla="*/ 1372954 h 1372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2953" h="1372953">
                <a:moveTo>
                  <a:pt x="1372954" y="1372954"/>
                </a:moveTo>
                <a:lnTo>
                  <a:pt x="0" y="1372954"/>
                </a:lnTo>
                <a:lnTo>
                  <a:pt x="0" y="0"/>
                </a:lnTo>
                <a:lnTo>
                  <a:pt x="686477" y="0"/>
                </a:lnTo>
                <a:cubicBezTo>
                  <a:pt x="1065636" y="0"/>
                  <a:pt x="1372954" y="307318"/>
                  <a:pt x="1372954" y="686477"/>
                </a:cubicBezTo>
                <a:lnTo>
                  <a:pt x="1372954" y="1372954"/>
                </a:lnTo>
                <a:close/>
              </a:path>
            </a:pathLst>
          </a:custGeom>
          <a:noFill/>
          <a:ln w="10210" cap="flat">
            <a:solidFill>
              <a:srgbClr val="5E5E5E"/>
            </a:solidFill>
            <a:prstDash val="solid"/>
            <a:miter/>
          </a:ln>
        </p:spPr>
        <p:txBody>
          <a:bodyPr rtlCol="0" anchor="ctr"/>
          <a:lstStyle/>
          <a:p>
            <a:endParaRPr lang="pt-BR" noProof="0" dirty="0"/>
          </a:p>
        </p:txBody>
      </p:sp>
      <p:sp>
        <p:nvSpPr>
          <p:cNvPr id="25" name="Forma Livre: Forma 24">
            <a:extLst>
              <a:ext uri="{FF2B5EF4-FFF2-40B4-BE49-F238E27FC236}">
                <a16:creationId xmlns:a16="http://schemas.microsoft.com/office/drawing/2014/main" id="{ED196ADD-9926-B0E5-CD39-8640FBD2A9ED}"/>
              </a:ext>
            </a:extLst>
          </p:cNvPr>
          <p:cNvSpPr/>
          <p:nvPr/>
        </p:nvSpPr>
        <p:spPr>
          <a:xfrm>
            <a:off x="1378070" y="2731974"/>
            <a:ext cx="1372953" cy="1372953"/>
          </a:xfrm>
          <a:custGeom>
            <a:avLst/>
            <a:gdLst>
              <a:gd name="connsiteX0" fmla="*/ 0 w 1372953"/>
              <a:gd name="connsiteY0" fmla="*/ 1372954 h 1372953"/>
              <a:gd name="connsiteX1" fmla="*/ 1372954 w 1372953"/>
              <a:gd name="connsiteY1" fmla="*/ 1372954 h 1372953"/>
              <a:gd name="connsiteX2" fmla="*/ 1372954 w 1372953"/>
              <a:gd name="connsiteY2" fmla="*/ 686477 h 1372953"/>
              <a:gd name="connsiteX3" fmla="*/ 686477 w 1372953"/>
              <a:gd name="connsiteY3" fmla="*/ 0 h 1372953"/>
              <a:gd name="connsiteX4" fmla="*/ 0 w 1372953"/>
              <a:gd name="connsiteY4" fmla="*/ 686477 h 1372953"/>
              <a:gd name="connsiteX5" fmla="*/ 0 w 1372953"/>
              <a:gd name="connsiteY5" fmla="*/ 1372954 h 1372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2953" h="1372953">
                <a:moveTo>
                  <a:pt x="0" y="1372954"/>
                </a:moveTo>
                <a:lnTo>
                  <a:pt x="1372954" y="1372954"/>
                </a:lnTo>
                <a:lnTo>
                  <a:pt x="1372954" y="686477"/>
                </a:lnTo>
                <a:cubicBezTo>
                  <a:pt x="1372954" y="307318"/>
                  <a:pt x="1065636" y="0"/>
                  <a:pt x="686477" y="0"/>
                </a:cubicBezTo>
                <a:cubicBezTo>
                  <a:pt x="307318" y="0"/>
                  <a:pt x="0" y="307318"/>
                  <a:pt x="0" y="686477"/>
                </a:cubicBezTo>
                <a:lnTo>
                  <a:pt x="0" y="1372954"/>
                </a:lnTo>
                <a:close/>
              </a:path>
            </a:pathLst>
          </a:custGeom>
          <a:noFill/>
          <a:ln w="10210" cap="flat">
            <a:solidFill>
              <a:srgbClr val="5E5E5E"/>
            </a:solidFill>
            <a:prstDash val="solid"/>
            <a:miter/>
          </a:ln>
        </p:spPr>
        <p:txBody>
          <a:bodyPr rtlCol="0" anchor="ctr"/>
          <a:lstStyle/>
          <a:p>
            <a:endParaRPr lang="pt-BR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Forma Livre: Forma 26">
            <a:extLst>
              <a:ext uri="{FF2B5EF4-FFF2-40B4-BE49-F238E27FC236}">
                <a16:creationId xmlns:a16="http://schemas.microsoft.com/office/drawing/2014/main" id="{FC68C2DB-1B96-150B-44C8-90577A60C32C}"/>
              </a:ext>
            </a:extLst>
          </p:cNvPr>
          <p:cNvSpPr/>
          <p:nvPr/>
        </p:nvSpPr>
        <p:spPr>
          <a:xfrm>
            <a:off x="1378070" y="4104928"/>
            <a:ext cx="1372953" cy="1372953"/>
          </a:xfrm>
          <a:custGeom>
            <a:avLst/>
            <a:gdLst>
              <a:gd name="connsiteX0" fmla="*/ 0 w 1372953"/>
              <a:gd name="connsiteY0" fmla="*/ 0 h 1372953"/>
              <a:gd name="connsiteX1" fmla="*/ 0 w 1372953"/>
              <a:gd name="connsiteY1" fmla="*/ 1372954 h 1372953"/>
              <a:gd name="connsiteX2" fmla="*/ 686477 w 1372953"/>
              <a:gd name="connsiteY2" fmla="*/ 1372954 h 1372953"/>
              <a:gd name="connsiteX3" fmla="*/ 1372954 w 1372953"/>
              <a:gd name="connsiteY3" fmla="*/ 686477 h 1372953"/>
              <a:gd name="connsiteX4" fmla="*/ 686477 w 1372953"/>
              <a:gd name="connsiteY4" fmla="*/ 0 h 1372953"/>
              <a:gd name="connsiteX5" fmla="*/ 0 w 1372953"/>
              <a:gd name="connsiteY5" fmla="*/ 0 h 1372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2953" h="1372953">
                <a:moveTo>
                  <a:pt x="0" y="0"/>
                </a:moveTo>
                <a:lnTo>
                  <a:pt x="0" y="1372954"/>
                </a:lnTo>
                <a:lnTo>
                  <a:pt x="686477" y="1372954"/>
                </a:lnTo>
                <a:cubicBezTo>
                  <a:pt x="1065636" y="1372954"/>
                  <a:pt x="1372954" y="1065636"/>
                  <a:pt x="1372954" y="686477"/>
                </a:cubicBezTo>
                <a:cubicBezTo>
                  <a:pt x="1372954" y="307318"/>
                  <a:pt x="1065636" y="0"/>
                  <a:pt x="686477" y="0"/>
                </a:cubicBezTo>
                <a:lnTo>
                  <a:pt x="0" y="0"/>
                </a:lnTo>
                <a:close/>
              </a:path>
            </a:pathLst>
          </a:custGeom>
          <a:noFill/>
          <a:ln w="10210" cap="flat">
            <a:solidFill>
              <a:srgbClr val="5E5E5E"/>
            </a:solidFill>
            <a:prstDash val="solid"/>
            <a:miter/>
          </a:ln>
        </p:spPr>
        <p:txBody>
          <a:bodyPr rtlCol="0" anchor="ctr"/>
          <a:lstStyle/>
          <a:p>
            <a:endParaRPr lang="pt-BR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9" name="Forma Livre: Forma 28">
            <a:extLst>
              <a:ext uri="{FF2B5EF4-FFF2-40B4-BE49-F238E27FC236}">
                <a16:creationId xmlns:a16="http://schemas.microsoft.com/office/drawing/2014/main" id="{65D62C42-81C2-437B-54F1-07E94B5C743B}"/>
              </a:ext>
            </a:extLst>
          </p:cNvPr>
          <p:cNvSpPr/>
          <p:nvPr/>
        </p:nvSpPr>
        <p:spPr>
          <a:xfrm>
            <a:off x="1378070" y="-13933"/>
            <a:ext cx="1372953" cy="1372953"/>
          </a:xfrm>
          <a:custGeom>
            <a:avLst/>
            <a:gdLst>
              <a:gd name="connsiteX0" fmla="*/ 0 w 1372953"/>
              <a:gd name="connsiteY0" fmla="*/ 0 h 1372953"/>
              <a:gd name="connsiteX1" fmla="*/ 0 w 1372953"/>
              <a:gd name="connsiteY1" fmla="*/ 1372954 h 1372953"/>
              <a:gd name="connsiteX2" fmla="*/ 686477 w 1372953"/>
              <a:gd name="connsiteY2" fmla="*/ 1372954 h 1372953"/>
              <a:gd name="connsiteX3" fmla="*/ 1372954 w 1372953"/>
              <a:gd name="connsiteY3" fmla="*/ 686477 h 1372953"/>
              <a:gd name="connsiteX4" fmla="*/ 686477 w 1372953"/>
              <a:gd name="connsiteY4" fmla="*/ 0 h 1372953"/>
              <a:gd name="connsiteX5" fmla="*/ 0 w 1372953"/>
              <a:gd name="connsiteY5" fmla="*/ 0 h 1372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2953" h="1372953">
                <a:moveTo>
                  <a:pt x="0" y="0"/>
                </a:moveTo>
                <a:lnTo>
                  <a:pt x="0" y="1372954"/>
                </a:lnTo>
                <a:lnTo>
                  <a:pt x="686477" y="1372954"/>
                </a:lnTo>
                <a:cubicBezTo>
                  <a:pt x="1065636" y="1372954"/>
                  <a:pt x="1372954" y="1065636"/>
                  <a:pt x="1372954" y="686477"/>
                </a:cubicBezTo>
                <a:cubicBezTo>
                  <a:pt x="1372954" y="307318"/>
                  <a:pt x="1065636" y="0"/>
                  <a:pt x="686477" y="0"/>
                </a:cubicBezTo>
                <a:lnTo>
                  <a:pt x="0" y="0"/>
                </a:lnTo>
                <a:close/>
              </a:path>
            </a:pathLst>
          </a:custGeom>
          <a:noFill/>
          <a:ln w="10210" cap="flat">
            <a:solidFill>
              <a:srgbClr val="5E5E5E"/>
            </a:solidFill>
            <a:prstDash val="solid"/>
            <a:miter/>
          </a:ln>
        </p:spPr>
        <p:txBody>
          <a:bodyPr rtlCol="0" anchor="ctr"/>
          <a:lstStyle/>
          <a:p>
            <a:endParaRPr lang="pt-BR" noProof="0" dirty="0"/>
          </a:p>
        </p:txBody>
      </p:sp>
      <p:sp>
        <p:nvSpPr>
          <p:cNvPr id="31" name="Forma Livre: Forma 30">
            <a:extLst>
              <a:ext uri="{FF2B5EF4-FFF2-40B4-BE49-F238E27FC236}">
                <a16:creationId xmlns:a16="http://schemas.microsoft.com/office/drawing/2014/main" id="{59CB4C65-1164-0ADE-C029-8B4F06AFE09B}"/>
              </a:ext>
            </a:extLst>
          </p:cNvPr>
          <p:cNvSpPr/>
          <p:nvPr/>
        </p:nvSpPr>
        <p:spPr>
          <a:xfrm>
            <a:off x="1378070" y="1380119"/>
            <a:ext cx="1372953" cy="1372953"/>
          </a:xfrm>
          <a:custGeom>
            <a:avLst/>
            <a:gdLst>
              <a:gd name="connsiteX0" fmla="*/ 0 w 1372953"/>
              <a:gd name="connsiteY0" fmla="*/ 1372954 h 1372953"/>
              <a:gd name="connsiteX1" fmla="*/ 1372954 w 1372953"/>
              <a:gd name="connsiteY1" fmla="*/ 1372954 h 1372953"/>
              <a:gd name="connsiteX2" fmla="*/ 1372954 w 1372953"/>
              <a:gd name="connsiteY2" fmla="*/ 686477 h 1372953"/>
              <a:gd name="connsiteX3" fmla="*/ 686477 w 1372953"/>
              <a:gd name="connsiteY3" fmla="*/ 0 h 1372953"/>
              <a:gd name="connsiteX4" fmla="*/ 0 w 1372953"/>
              <a:gd name="connsiteY4" fmla="*/ 686477 h 1372953"/>
              <a:gd name="connsiteX5" fmla="*/ 0 w 1372953"/>
              <a:gd name="connsiteY5" fmla="*/ 1372954 h 1372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2953" h="1372953">
                <a:moveTo>
                  <a:pt x="0" y="1372954"/>
                </a:moveTo>
                <a:lnTo>
                  <a:pt x="1372954" y="1372954"/>
                </a:lnTo>
                <a:lnTo>
                  <a:pt x="1372954" y="686477"/>
                </a:lnTo>
                <a:cubicBezTo>
                  <a:pt x="1372954" y="307318"/>
                  <a:pt x="1065636" y="0"/>
                  <a:pt x="686477" y="0"/>
                </a:cubicBezTo>
                <a:cubicBezTo>
                  <a:pt x="307318" y="0"/>
                  <a:pt x="0" y="307318"/>
                  <a:pt x="0" y="686477"/>
                </a:cubicBezTo>
                <a:lnTo>
                  <a:pt x="0" y="1372954"/>
                </a:lnTo>
                <a:close/>
              </a:path>
            </a:pathLst>
          </a:custGeom>
          <a:noFill/>
          <a:ln w="10210" cap="flat">
            <a:solidFill>
              <a:srgbClr val="5E5E5E"/>
            </a:solidFill>
            <a:prstDash val="solid"/>
            <a:miter/>
          </a:ln>
        </p:spPr>
        <p:txBody>
          <a:bodyPr rtlCol="0" anchor="ctr"/>
          <a:lstStyle/>
          <a:p>
            <a:endParaRPr lang="pt-BR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Forma Livre: Forma 32">
            <a:extLst>
              <a:ext uri="{FF2B5EF4-FFF2-40B4-BE49-F238E27FC236}">
                <a16:creationId xmlns:a16="http://schemas.microsoft.com/office/drawing/2014/main" id="{B87F2F5D-95E3-E3B9-98B0-79CBD7816246}"/>
              </a:ext>
            </a:extLst>
          </p:cNvPr>
          <p:cNvSpPr/>
          <p:nvPr/>
        </p:nvSpPr>
        <p:spPr>
          <a:xfrm>
            <a:off x="1378070" y="5477882"/>
            <a:ext cx="1372953" cy="1372953"/>
          </a:xfrm>
          <a:custGeom>
            <a:avLst/>
            <a:gdLst>
              <a:gd name="connsiteX0" fmla="*/ 0 w 1372953"/>
              <a:gd name="connsiteY0" fmla="*/ 1372954 h 1372953"/>
              <a:gd name="connsiteX1" fmla="*/ 1372954 w 1372953"/>
              <a:gd name="connsiteY1" fmla="*/ 1372954 h 1372953"/>
              <a:gd name="connsiteX2" fmla="*/ 1372954 w 1372953"/>
              <a:gd name="connsiteY2" fmla="*/ 686477 h 1372953"/>
              <a:gd name="connsiteX3" fmla="*/ 686477 w 1372953"/>
              <a:gd name="connsiteY3" fmla="*/ 0 h 1372953"/>
              <a:gd name="connsiteX4" fmla="*/ 0 w 1372953"/>
              <a:gd name="connsiteY4" fmla="*/ 686477 h 1372953"/>
              <a:gd name="connsiteX5" fmla="*/ 0 w 1372953"/>
              <a:gd name="connsiteY5" fmla="*/ 1372954 h 1372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2953" h="1372953">
                <a:moveTo>
                  <a:pt x="0" y="1372954"/>
                </a:moveTo>
                <a:lnTo>
                  <a:pt x="1372954" y="1372954"/>
                </a:lnTo>
                <a:lnTo>
                  <a:pt x="1372954" y="686477"/>
                </a:lnTo>
                <a:cubicBezTo>
                  <a:pt x="1372954" y="307318"/>
                  <a:pt x="1065636" y="0"/>
                  <a:pt x="686477" y="0"/>
                </a:cubicBezTo>
                <a:cubicBezTo>
                  <a:pt x="307318" y="0"/>
                  <a:pt x="0" y="307318"/>
                  <a:pt x="0" y="686477"/>
                </a:cubicBezTo>
                <a:lnTo>
                  <a:pt x="0" y="1372954"/>
                </a:lnTo>
                <a:close/>
              </a:path>
            </a:pathLst>
          </a:custGeom>
          <a:noFill/>
          <a:ln w="10210" cap="flat">
            <a:solidFill>
              <a:srgbClr val="5E5E5E"/>
            </a:solidFill>
            <a:prstDash val="solid"/>
            <a:miter/>
          </a:ln>
        </p:spPr>
        <p:txBody>
          <a:bodyPr rtlCol="0" anchor="ctr"/>
          <a:lstStyle/>
          <a:p>
            <a:endParaRPr lang="pt-BR" noProof="0" dirty="0"/>
          </a:p>
        </p:txBody>
      </p:sp>
      <p:sp>
        <p:nvSpPr>
          <p:cNvPr id="35" name="Título 3">
            <a:extLst>
              <a:ext uri="{FF2B5EF4-FFF2-40B4-BE49-F238E27FC236}">
                <a16:creationId xmlns:a16="http://schemas.microsoft.com/office/drawing/2014/main" id="{AC3C0D9B-A27D-F2A8-6001-72545262C7C8}"/>
              </a:ext>
            </a:extLst>
          </p:cNvPr>
          <p:cNvSpPr txBox="1">
            <a:spLocks/>
          </p:cNvSpPr>
          <p:nvPr/>
        </p:nvSpPr>
        <p:spPr>
          <a:xfrm>
            <a:off x="3119885" y="2936787"/>
            <a:ext cx="635229" cy="116522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pt-BR" sz="8000" b="1" noProof="0" dirty="0">
                <a:solidFill>
                  <a:srgbClr val="444444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217</a:t>
            </a:r>
          </a:p>
        </p:txBody>
      </p:sp>
    </p:spTree>
    <p:extLst>
      <p:ext uri="{BB962C8B-B14F-4D97-AF65-F5344CB8AC3E}">
        <p14:creationId xmlns:p14="http://schemas.microsoft.com/office/powerpoint/2010/main" val="724088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9CB54-79AD-686A-74F8-0E78F900B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Logotipo&#10;&#10;Descrição gerada automaticamente">
            <a:extLst>
              <a:ext uri="{FF2B5EF4-FFF2-40B4-BE49-F238E27FC236}">
                <a16:creationId xmlns:a16="http://schemas.microsoft.com/office/drawing/2014/main" id="{C744B855-6EAE-DFD5-FDC5-260473EB9A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8615" y="0"/>
            <a:ext cx="1123385" cy="1123385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EBA91939-9E3F-983C-4E86-167F1C9CAB7B}"/>
              </a:ext>
            </a:extLst>
          </p:cNvPr>
          <p:cNvSpPr txBox="1"/>
          <p:nvPr/>
        </p:nvSpPr>
        <p:spPr>
          <a:xfrm>
            <a:off x="403153" y="238526"/>
            <a:ext cx="107926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 algn="l">
              <a:defRPr sz="9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sz="3600" noProof="0" dirty="0">
                <a:solidFill>
                  <a:srgbClr val="04B0FF"/>
                </a:solidFill>
                <a:latin typeface="+mn-lt"/>
                <a:cs typeface="Segoe UI" panose="020B0502040204020203" pitchFamily="34" charset="0"/>
              </a:rPr>
              <a:t>Bens Reversíveis</a:t>
            </a:r>
            <a:endParaRPr lang="pt-BR" sz="3600" b="1" noProof="0" dirty="0">
              <a:solidFill>
                <a:srgbClr val="04B0FF"/>
              </a:solidFill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40" name="Text 4">
            <a:extLst>
              <a:ext uri="{FF2B5EF4-FFF2-40B4-BE49-F238E27FC236}">
                <a16:creationId xmlns:a16="http://schemas.microsoft.com/office/drawing/2014/main" id="{405D7E15-C138-D3FA-35A7-C2347CB8AEEC}"/>
              </a:ext>
            </a:extLst>
          </p:cNvPr>
          <p:cNvSpPr/>
          <p:nvPr/>
        </p:nvSpPr>
        <p:spPr>
          <a:xfrm>
            <a:off x="1008021" y="1090940"/>
            <a:ext cx="6369572" cy="686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35051">
              <a:lnSpc>
                <a:spcPct val="110000"/>
              </a:lnSpc>
            </a:pPr>
            <a:endParaRPr lang="pt-BR" sz="1945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0" name="Text 10">
            <a:extLst>
              <a:ext uri="{FF2B5EF4-FFF2-40B4-BE49-F238E27FC236}">
                <a16:creationId xmlns:a16="http://schemas.microsoft.com/office/drawing/2014/main" id="{88D5750D-E944-0246-D6E7-779F2B69E230}"/>
              </a:ext>
            </a:extLst>
          </p:cNvPr>
          <p:cNvSpPr/>
          <p:nvPr/>
        </p:nvSpPr>
        <p:spPr>
          <a:xfrm>
            <a:off x="626898" y="1132065"/>
            <a:ext cx="10910622" cy="698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38144" indent="-238144" algn="just">
              <a:buFont typeface="Arial" panose="020B0604020202020204" pitchFamily="34" charset="0"/>
              <a:buChar char="•"/>
            </a:pPr>
            <a:r>
              <a:rPr lang="pt-BR" sz="1600" noProof="0" dirty="0">
                <a:solidFill>
                  <a:srgbClr val="444444"/>
                </a:solidFill>
              </a:rPr>
              <a:t>O Edital não apresenta uma lista específica dos bens integrantes da concessão, mas as </a:t>
            </a:r>
            <a:r>
              <a:rPr lang="pt-BR" sz="1600" noProof="0" dirty="0" err="1">
                <a:solidFill>
                  <a:srgbClr val="444444"/>
                </a:solidFill>
              </a:rPr>
              <a:t>cls</a:t>
            </a:r>
            <a:r>
              <a:rPr lang="pt-BR" sz="1600" noProof="0" dirty="0">
                <a:solidFill>
                  <a:srgbClr val="444444"/>
                </a:solidFill>
              </a:rPr>
              <a:t>. 1.2.12 e 1.2.13 da Minuta de Contrato definem quais bens devem ser considerados reversíveis e não reversíveis. A cl. 48.29 do Contrato estabelece que o </a:t>
            </a:r>
            <a:r>
              <a:rPr lang="pt-BR" sz="1600" b="1" noProof="0" dirty="0">
                <a:solidFill>
                  <a:srgbClr val="444444"/>
                </a:solidFill>
              </a:rPr>
              <a:t>aterro sanitário não constitui bem reversível</a:t>
            </a:r>
            <a:r>
              <a:rPr lang="pt-BR" sz="1600" dirty="0">
                <a:solidFill>
                  <a:srgbClr val="444444"/>
                </a:solidFill>
              </a:rPr>
              <a:t>.</a:t>
            </a:r>
            <a:endParaRPr lang="pt-BR" sz="1600" noProof="0" dirty="0">
              <a:solidFill>
                <a:srgbClr val="444444"/>
              </a:solidFill>
            </a:endParaRPr>
          </a:p>
        </p:txBody>
      </p:sp>
      <p:sp>
        <p:nvSpPr>
          <p:cNvPr id="57" name="Text 4">
            <a:extLst>
              <a:ext uri="{FF2B5EF4-FFF2-40B4-BE49-F238E27FC236}">
                <a16:creationId xmlns:a16="http://schemas.microsoft.com/office/drawing/2014/main" id="{A5DD5E25-EE9F-D0F9-10EE-FD000BBDEC47}"/>
              </a:ext>
            </a:extLst>
          </p:cNvPr>
          <p:cNvSpPr/>
          <p:nvPr/>
        </p:nvSpPr>
        <p:spPr>
          <a:xfrm>
            <a:off x="1070559" y="5863993"/>
            <a:ext cx="6086143" cy="686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35051">
              <a:lnSpc>
                <a:spcPct val="110000"/>
              </a:lnSpc>
            </a:pPr>
            <a:endParaRPr lang="pt-BR" sz="1945" noProof="0" dirty="0">
              <a:latin typeface="+mj-lt"/>
            </a:endParaRPr>
          </a:p>
        </p:txBody>
      </p:sp>
      <p:sp>
        <p:nvSpPr>
          <p:cNvPr id="58" name="Google Shape;211;p10">
            <a:extLst>
              <a:ext uri="{FF2B5EF4-FFF2-40B4-BE49-F238E27FC236}">
                <a16:creationId xmlns:a16="http://schemas.microsoft.com/office/drawing/2014/main" id="{DD29EEBA-9600-936C-FF45-A6C6C8DF4ED9}"/>
              </a:ext>
            </a:extLst>
          </p:cNvPr>
          <p:cNvSpPr/>
          <p:nvPr/>
        </p:nvSpPr>
        <p:spPr>
          <a:xfrm>
            <a:off x="668233" y="2103640"/>
            <a:ext cx="10855534" cy="2700600"/>
          </a:xfrm>
          <a:custGeom>
            <a:avLst/>
            <a:gdLst/>
            <a:ahLst/>
            <a:cxnLst/>
            <a:rect l="l" t="t" r="r" b="b"/>
            <a:pathLst>
              <a:path w="11458384" h="3537077" extrusionOk="0">
                <a:moveTo>
                  <a:pt x="69868" y="0"/>
                </a:moveTo>
                <a:lnTo>
                  <a:pt x="11318634" y="0"/>
                </a:lnTo>
                <a:cubicBezTo>
                  <a:pt x="11395816" y="0"/>
                  <a:pt x="11458384" y="62568"/>
                  <a:pt x="11458384" y="139750"/>
                </a:cubicBezTo>
                <a:lnTo>
                  <a:pt x="11458384" y="3397327"/>
                </a:lnTo>
                <a:cubicBezTo>
                  <a:pt x="11458384" y="3474509"/>
                  <a:pt x="11395816" y="3537077"/>
                  <a:pt x="11318634" y="3537077"/>
                </a:cubicBezTo>
                <a:lnTo>
                  <a:pt x="69868" y="3537077"/>
                </a:lnTo>
                <a:cubicBezTo>
                  <a:pt x="31281" y="3537077"/>
                  <a:pt x="0" y="3505796"/>
                  <a:pt x="0" y="3467209"/>
                </a:cubicBezTo>
                <a:lnTo>
                  <a:pt x="0" y="69868"/>
                </a:lnTo>
                <a:cubicBezTo>
                  <a:pt x="0" y="31307"/>
                  <a:pt x="31307" y="0"/>
                  <a:pt x="69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31003" dist="87335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63496" tIns="63496" rIns="63496" bIns="63496" anchor="ctr" anchorCtr="0">
            <a:noAutofit/>
          </a:bodyPr>
          <a:lstStyle/>
          <a:p>
            <a:endParaRPr lang="pt-BR" sz="1250" noProof="0" dirty="0"/>
          </a:p>
        </p:txBody>
      </p:sp>
      <p:sp>
        <p:nvSpPr>
          <p:cNvPr id="59" name="Google Shape;212;p10">
            <a:extLst>
              <a:ext uri="{FF2B5EF4-FFF2-40B4-BE49-F238E27FC236}">
                <a16:creationId xmlns:a16="http://schemas.microsoft.com/office/drawing/2014/main" id="{4B9BF148-318D-85A5-593D-9FAC0BD0D08E}"/>
              </a:ext>
            </a:extLst>
          </p:cNvPr>
          <p:cNvSpPr/>
          <p:nvPr/>
        </p:nvSpPr>
        <p:spPr>
          <a:xfrm>
            <a:off x="654480" y="2206537"/>
            <a:ext cx="56826" cy="2597703"/>
          </a:xfrm>
          <a:custGeom>
            <a:avLst/>
            <a:gdLst/>
            <a:ahLst/>
            <a:cxnLst/>
            <a:rect l="l" t="t" r="r" b="b"/>
            <a:pathLst>
              <a:path w="69868" h="3537077" extrusionOk="0">
                <a:moveTo>
                  <a:pt x="69868" y="0"/>
                </a:moveTo>
                <a:lnTo>
                  <a:pt x="69868" y="0"/>
                </a:lnTo>
                <a:lnTo>
                  <a:pt x="69868" y="3537077"/>
                </a:lnTo>
                <a:lnTo>
                  <a:pt x="69868" y="3537077"/>
                </a:lnTo>
                <a:cubicBezTo>
                  <a:pt x="31281" y="3537077"/>
                  <a:pt x="0" y="3505796"/>
                  <a:pt x="0" y="3467209"/>
                </a:cubicBezTo>
                <a:lnTo>
                  <a:pt x="0" y="69868"/>
                </a:lnTo>
                <a:cubicBezTo>
                  <a:pt x="0" y="31307"/>
                  <a:pt x="31307" y="0"/>
                  <a:pt x="69868" y="0"/>
                </a:cubicBezTo>
                <a:close/>
              </a:path>
            </a:pathLst>
          </a:custGeom>
          <a:solidFill>
            <a:srgbClr val="04B0FF"/>
          </a:solidFill>
          <a:ln>
            <a:noFill/>
          </a:ln>
        </p:spPr>
        <p:txBody>
          <a:bodyPr spcFirstLastPara="1" wrap="square" lIns="63496" tIns="63496" rIns="63496" bIns="63496" anchor="ctr" anchorCtr="0">
            <a:noAutofit/>
          </a:bodyPr>
          <a:lstStyle/>
          <a:p>
            <a:endParaRPr lang="pt-BR" sz="1250" noProof="0" dirty="0"/>
          </a:p>
        </p:txBody>
      </p:sp>
      <p:sp>
        <p:nvSpPr>
          <p:cNvPr id="60" name="Google Shape;213;p10">
            <a:extLst>
              <a:ext uri="{FF2B5EF4-FFF2-40B4-BE49-F238E27FC236}">
                <a16:creationId xmlns:a16="http://schemas.microsoft.com/office/drawing/2014/main" id="{50D30C83-0FB6-04AA-E11D-2466D4E659D3}"/>
              </a:ext>
            </a:extLst>
          </p:cNvPr>
          <p:cNvSpPr/>
          <p:nvPr/>
        </p:nvSpPr>
        <p:spPr>
          <a:xfrm>
            <a:off x="866531" y="2115450"/>
            <a:ext cx="4332789" cy="376137"/>
          </a:xfrm>
          <a:custGeom>
            <a:avLst/>
            <a:gdLst/>
            <a:ahLst/>
            <a:cxnLst/>
            <a:rect l="l" t="t" r="r" b="b"/>
            <a:pathLst>
              <a:path w="2113513" h="454143" extrusionOk="0">
                <a:moveTo>
                  <a:pt x="69870" y="0"/>
                </a:moveTo>
                <a:lnTo>
                  <a:pt x="2043643" y="0"/>
                </a:lnTo>
                <a:cubicBezTo>
                  <a:pt x="2082231" y="0"/>
                  <a:pt x="2113513" y="31282"/>
                  <a:pt x="2113513" y="69870"/>
                </a:cubicBezTo>
                <a:lnTo>
                  <a:pt x="2113513" y="384273"/>
                </a:lnTo>
                <a:cubicBezTo>
                  <a:pt x="2113513" y="422861"/>
                  <a:pt x="2082231" y="454143"/>
                  <a:pt x="2043643" y="454143"/>
                </a:cubicBezTo>
                <a:lnTo>
                  <a:pt x="69870" y="454143"/>
                </a:lnTo>
                <a:cubicBezTo>
                  <a:pt x="31308" y="454143"/>
                  <a:pt x="0" y="422836"/>
                  <a:pt x="0" y="384273"/>
                </a:cubicBezTo>
                <a:lnTo>
                  <a:pt x="0" y="69870"/>
                </a:lnTo>
                <a:cubicBezTo>
                  <a:pt x="0" y="31308"/>
                  <a:pt x="31308" y="0"/>
                  <a:pt x="69870" y="0"/>
                </a:cubicBezTo>
                <a:close/>
              </a:path>
            </a:pathLst>
          </a:custGeom>
          <a:solidFill>
            <a:srgbClr val="04B0FF"/>
          </a:solidFill>
          <a:ln>
            <a:noFill/>
          </a:ln>
        </p:spPr>
        <p:txBody>
          <a:bodyPr spcFirstLastPara="1" wrap="square" lIns="63496" tIns="63496" rIns="63496" bIns="63496" anchor="ctr" anchorCtr="0">
            <a:noAutofit/>
          </a:bodyPr>
          <a:lstStyle/>
          <a:p>
            <a:endParaRPr lang="pt-BR" sz="1250" noProof="0" dirty="0"/>
          </a:p>
        </p:txBody>
      </p:sp>
      <p:sp>
        <p:nvSpPr>
          <p:cNvPr id="61" name="Google Shape;214;p10">
            <a:extLst>
              <a:ext uri="{FF2B5EF4-FFF2-40B4-BE49-F238E27FC236}">
                <a16:creationId xmlns:a16="http://schemas.microsoft.com/office/drawing/2014/main" id="{DDFFDE94-E631-24C8-4849-2C3ECFCE26B6}"/>
              </a:ext>
            </a:extLst>
          </p:cNvPr>
          <p:cNvSpPr/>
          <p:nvPr/>
        </p:nvSpPr>
        <p:spPr>
          <a:xfrm>
            <a:off x="838563" y="2156229"/>
            <a:ext cx="4477716" cy="302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5571" tIns="72786" rIns="145571" bIns="72786" anchor="ctr" anchorCtr="0">
            <a:noAutofit/>
          </a:bodyPr>
          <a:lstStyle/>
          <a:p>
            <a:pPr lvl="0" algn="ctr">
              <a:lnSpc>
                <a:spcPct val="130000"/>
              </a:lnSpc>
            </a:pPr>
            <a:r>
              <a:rPr lang="pt-BR" sz="1500" b="1" noProof="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Minuta de Contrato – </a:t>
            </a:r>
            <a:r>
              <a:rPr lang="pt-BR" sz="1500" b="1" noProof="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cls</a:t>
            </a:r>
            <a:r>
              <a:rPr lang="pt-BR" sz="15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 1.2.12 e 1.2.13</a:t>
            </a:r>
            <a:endParaRPr lang="pt-BR" sz="1500" b="1" noProof="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2" name="Google Shape;216;p10">
            <a:extLst>
              <a:ext uri="{FF2B5EF4-FFF2-40B4-BE49-F238E27FC236}">
                <a16:creationId xmlns:a16="http://schemas.microsoft.com/office/drawing/2014/main" id="{3805B5A8-EB78-EF2C-5803-955596C21C76}"/>
              </a:ext>
            </a:extLst>
          </p:cNvPr>
          <p:cNvSpPr/>
          <p:nvPr/>
        </p:nvSpPr>
        <p:spPr>
          <a:xfrm>
            <a:off x="915584" y="2752099"/>
            <a:ext cx="510022" cy="582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80000"/>
              </a:lnSpc>
            </a:pPr>
            <a:r>
              <a:rPr lang="pt-BR" sz="4585" noProof="0" dirty="0">
                <a:solidFill>
                  <a:srgbClr val="04B0FF"/>
                </a:solidFill>
                <a:latin typeface="Noto Sans SC"/>
                <a:ea typeface="Noto Sans SC"/>
                <a:cs typeface="Noto Sans SC"/>
                <a:sym typeface="Noto Sans SC"/>
              </a:rPr>
              <a:t>"</a:t>
            </a:r>
            <a:endParaRPr lang="pt-BR" sz="1111" noProof="0" dirty="0">
              <a:solidFill>
                <a:srgbClr val="04B0FF"/>
              </a:solidFill>
            </a:endParaRPr>
          </a:p>
        </p:txBody>
      </p:sp>
      <p:sp>
        <p:nvSpPr>
          <p:cNvPr id="63" name="Google Shape;217;p10">
            <a:extLst>
              <a:ext uri="{FF2B5EF4-FFF2-40B4-BE49-F238E27FC236}">
                <a16:creationId xmlns:a16="http://schemas.microsoft.com/office/drawing/2014/main" id="{AF4610F1-E3B9-A35F-FA59-0AD89461983C}"/>
              </a:ext>
            </a:extLst>
          </p:cNvPr>
          <p:cNvSpPr/>
          <p:nvPr/>
        </p:nvSpPr>
        <p:spPr>
          <a:xfrm>
            <a:off x="1217881" y="2574720"/>
            <a:ext cx="10010051" cy="1942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just"/>
            <a:r>
              <a:rPr lang="pt-BR" sz="1400" noProof="0" dirty="0">
                <a:solidFill>
                  <a:srgbClr val="444444"/>
                </a:solidFill>
                <a:cs typeface="Segoe UI" panose="020B0502040204020203" pitchFamily="34" charset="0"/>
              </a:rPr>
              <a:t>1.2.12 </a:t>
            </a:r>
            <a:r>
              <a:rPr lang="pt-BR" sz="1400" b="1" u="sng" noProof="0" dirty="0">
                <a:solidFill>
                  <a:srgbClr val="444444"/>
                </a:solidFill>
                <a:cs typeface="Segoe UI" panose="020B0502040204020203" pitchFamily="34" charset="0"/>
              </a:rPr>
              <a:t>BENS NÃO REVERSÍVEIS</a:t>
            </a:r>
            <a:r>
              <a:rPr lang="pt-BR" sz="1400" noProof="0" dirty="0">
                <a:solidFill>
                  <a:srgbClr val="444444"/>
                </a:solidFill>
                <a:cs typeface="Segoe UI" panose="020B0502040204020203" pitchFamily="34" charset="0"/>
              </a:rPr>
              <a:t>: são aqueles que perderam as características de reversibilidade, bem como os bens de uso administrativo e/ou não essenciais e vinculados à prestação dos serviços, que possam ser eventualmente utilizados pela CONCESSIONÁRIA na execução do CONTRATO;</a:t>
            </a:r>
          </a:p>
          <a:p>
            <a:pPr algn="just"/>
            <a:r>
              <a:rPr lang="pt-BR" sz="1400" noProof="0" dirty="0">
                <a:solidFill>
                  <a:srgbClr val="444444"/>
                </a:solidFill>
                <a:cs typeface="Segoe UI" panose="020B0502040204020203" pitchFamily="34" charset="0"/>
              </a:rPr>
              <a:t>1.2.13 </a:t>
            </a:r>
            <a:r>
              <a:rPr lang="pt-BR" sz="1400" b="1" u="sng" noProof="0" dirty="0">
                <a:solidFill>
                  <a:srgbClr val="444444"/>
                </a:solidFill>
                <a:cs typeface="Segoe UI" panose="020B0502040204020203" pitchFamily="34" charset="0"/>
              </a:rPr>
              <a:t>BENS REVERSÍVEIS</a:t>
            </a:r>
            <a:r>
              <a:rPr lang="pt-BR" sz="1400" b="1" noProof="0" dirty="0">
                <a:solidFill>
                  <a:srgbClr val="444444"/>
                </a:solidFill>
                <a:cs typeface="Segoe UI" panose="020B0502040204020203" pitchFamily="34" charset="0"/>
              </a:rPr>
              <a:t>: </a:t>
            </a:r>
            <a:r>
              <a:rPr lang="pt-BR" sz="1400" noProof="0" dirty="0">
                <a:solidFill>
                  <a:srgbClr val="444444"/>
                </a:solidFill>
                <a:cs typeface="Segoe UI" panose="020B0502040204020203" pitchFamily="34" charset="0"/>
              </a:rPr>
              <a:t>são todos os bens móveis e imóveis, imprescindíveis, essenciais e vinculados à execução da CONCESSÃO, adquiridos pela CONCESSIONÁRIA ou que lhe tenham sido cedidos pelo PODER CONCEDENTE, ao longo de todo o PRAZO DA CONCESSÃO, os quais reverterão em favor do PODER CONCEDENTE após o término, por qualquer razão, da CONCESSÃO, estando excluídos do conceito os BENS NÃO REVERSÍVEIS;</a:t>
            </a:r>
          </a:p>
        </p:txBody>
      </p:sp>
      <p:sp>
        <p:nvSpPr>
          <p:cNvPr id="65" name="Google Shape;218;p10">
            <a:extLst>
              <a:ext uri="{FF2B5EF4-FFF2-40B4-BE49-F238E27FC236}">
                <a16:creationId xmlns:a16="http://schemas.microsoft.com/office/drawing/2014/main" id="{DEC2EC4A-A391-BA8B-99B0-3528C6080493}"/>
              </a:ext>
            </a:extLst>
          </p:cNvPr>
          <p:cNvSpPr/>
          <p:nvPr/>
        </p:nvSpPr>
        <p:spPr>
          <a:xfrm flipV="1">
            <a:off x="980837" y="4541604"/>
            <a:ext cx="10035889" cy="45719"/>
          </a:xfrm>
          <a:custGeom>
            <a:avLst/>
            <a:gdLst/>
            <a:ahLst/>
            <a:cxnLst/>
            <a:rect l="l" t="t" r="r" b="b"/>
            <a:pathLst>
              <a:path w="10724768" h="8734" extrusionOk="0">
                <a:moveTo>
                  <a:pt x="0" y="0"/>
                </a:moveTo>
                <a:lnTo>
                  <a:pt x="10724768" y="0"/>
                </a:lnTo>
                <a:lnTo>
                  <a:pt x="10724768" y="8734"/>
                </a:lnTo>
                <a:lnTo>
                  <a:pt x="0" y="8734"/>
                </a:lnTo>
                <a:lnTo>
                  <a:pt x="0" y="0"/>
                </a:lnTo>
                <a:close/>
              </a:path>
            </a:pathLst>
          </a:custGeom>
          <a:solidFill>
            <a:srgbClr val="E1E8ED"/>
          </a:solidFill>
          <a:ln>
            <a:noFill/>
          </a:ln>
        </p:spPr>
        <p:txBody>
          <a:bodyPr/>
          <a:lstStyle/>
          <a:p>
            <a:endParaRPr lang="pt-BR" sz="1250" noProof="0" dirty="0"/>
          </a:p>
        </p:txBody>
      </p:sp>
      <p:sp>
        <p:nvSpPr>
          <p:cNvPr id="73" name="Google Shape;211;p10">
            <a:extLst>
              <a:ext uri="{FF2B5EF4-FFF2-40B4-BE49-F238E27FC236}">
                <a16:creationId xmlns:a16="http://schemas.microsoft.com/office/drawing/2014/main" id="{31660409-3A84-4C80-CAB8-9D7906A83370}"/>
              </a:ext>
            </a:extLst>
          </p:cNvPr>
          <p:cNvSpPr/>
          <p:nvPr/>
        </p:nvSpPr>
        <p:spPr>
          <a:xfrm>
            <a:off x="668233" y="5122460"/>
            <a:ext cx="10869287" cy="1378304"/>
          </a:xfrm>
          <a:custGeom>
            <a:avLst/>
            <a:gdLst/>
            <a:ahLst/>
            <a:cxnLst/>
            <a:rect l="l" t="t" r="r" b="b"/>
            <a:pathLst>
              <a:path w="11458384" h="3537077" extrusionOk="0">
                <a:moveTo>
                  <a:pt x="69868" y="0"/>
                </a:moveTo>
                <a:lnTo>
                  <a:pt x="11318634" y="0"/>
                </a:lnTo>
                <a:cubicBezTo>
                  <a:pt x="11395816" y="0"/>
                  <a:pt x="11458384" y="62568"/>
                  <a:pt x="11458384" y="139750"/>
                </a:cubicBezTo>
                <a:lnTo>
                  <a:pt x="11458384" y="3397327"/>
                </a:lnTo>
                <a:cubicBezTo>
                  <a:pt x="11458384" y="3474509"/>
                  <a:pt x="11395816" y="3537077"/>
                  <a:pt x="11318634" y="3537077"/>
                </a:cubicBezTo>
                <a:lnTo>
                  <a:pt x="69868" y="3537077"/>
                </a:lnTo>
                <a:cubicBezTo>
                  <a:pt x="31281" y="3537077"/>
                  <a:pt x="0" y="3505796"/>
                  <a:pt x="0" y="3467209"/>
                </a:cubicBezTo>
                <a:lnTo>
                  <a:pt x="0" y="69868"/>
                </a:lnTo>
                <a:cubicBezTo>
                  <a:pt x="0" y="31307"/>
                  <a:pt x="31307" y="0"/>
                  <a:pt x="69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31003" dist="87335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63496" tIns="63496" rIns="63496" bIns="63496" anchor="ctr" anchorCtr="0">
            <a:noAutofit/>
          </a:bodyPr>
          <a:lstStyle/>
          <a:p>
            <a:endParaRPr lang="pt-BR" sz="1250" noProof="0" dirty="0"/>
          </a:p>
        </p:txBody>
      </p:sp>
      <p:sp>
        <p:nvSpPr>
          <p:cNvPr id="74" name="Google Shape;212;p10">
            <a:extLst>
              <a:ext uri="{FF2B5EF4-FFF2-40B4-BE49-F238E27FC236}">
                <a16:creationId xmlns:a16="http://schemas.microsoft.com/office/drawing/2014/main" id="{92DCF2A2-CAAF-DA74-4ED4-707762E8BA2C}"/>
              </a:ext>
            </a:extLst>
          </p:cNvPr>
          <p:cNvSpPr/>
          <p:nvPr/>
        </p:nvSpPr>
        <p:spPr>
          <a:xfrm>
            <a:off x="668233" y="5122461"/>
            <a:ext cx="45719" cy="1378303"/>
          </a:xfrm>
          <a:custGeom>
            <a:avLst/>
            <a:gdLst/>
            <a:ahLst/>
            <a:cxnLst/>
            <a:rect l="l" t="t" r="r" b="b"/>
            <a:pathLst>
              <a:path w="69868" h="3537077" extrusionOk="0">
                <a:moveTo>
                  <a:pt x="69868" y="0"/>
                </a:moveTo>
                <a:lnTo>
                  <a:pt x="69868" y="0"/>
                </a:lnTo>
                <a:lnTo>
                  <a:pt x="69868" y="3537077"/>
                </a:lnTo>
                <a:lnTo>
                  <a:pt x="69868" y="3537077"/>
                </a:lnTo>
                <a:cubicBezTo>
                  <a:pt x="31281" y="3537077"/>
                  <a:pt x="0" y="3505796"/>
                  <a:pt x="0" y="3467209"/>
                </a:cubicBezTo>
                <a:lnTo>
                  <a:pt x="0" y="69868"/>
                </a:lnTo>
                <a:cubicBezTo>
                  <a:pt x="0" y="31307"/>
                  <a:pt x="31307" y="0"/>
                  <a:pt x="69868" y="0"/>
                </a:cubicBezTo>
                <a:close/>
              </a:path>
            </a:pathLst>
          </a:custGeom>
          <a:solidFill>
            <a:srgbClr val="04B0FF"/>
          </a:solidFill>
          <a:ln>
            <a:noFill/>
          </a:ln>
        </p:spPr>
        <p:txBody>
          <a:bodyPr spcFirstLastPara="1" wrap="square" lIns="63496" tIns="63496" rIns="63496" bIns="63496" anchor="ctr" anchorCtr="0">
            <a:noAutofit/>
          </a:bodyPr>
          <a:lstStyle/>
          <a:p>
            <a:endParaRPr lang="pt-BR" sz="1250" noProof="0" dirty="0"/>
          </a:p>
        </p:txBody>
      </p:sp>
      <p:sp>
        <p:nvSpPr>
          <p:cNvPr id="77" name="Google Shape;216;p10">
            <a:extLst>
              <a:ext uri="{FF2B5EF4-FFF2-40B4-BE49-F238E27FC236}">
                <a16:creationId xmlns:a16="http://schemas.microsoft.com/office/drawing/2014/main" id="{AE842FBE-AC5B-9451-8237-63CDF287F7EC}"/>
              </a:ext>
            </a:extLst>
          </p:cNvPr>
          <p:cNvSpPr/>
          <p:nvPr/>
        </p:nvSpPr>
        <p:spPr>
          <a:xfrm>
            <a:off x="915585" y="5598275"/>
            <a:ext cx="510022" cy="582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80000"/>
              </a:lnSpc>
            </a:pPr>
            <a:r>
              <a:rPr lang="pt-BR" sz="4585" noProof="0" dirty="0">
                <a:solidFill>
                  <a:srgbClr val="04B0FF"/>
                </a:solidFill>
                <a:latin typeface="Noto Sans SC"/>
                <a:ea typeface="Noto Sans SC"/>
                <a:cs typeface="Noto Sans SC"/>
                <a:sym typeface="Noto Sans SC"/>
              </a:rPr>
              <a:t>"</a:t>
            </a:r>
            <a:endParaRPr lang="pt-BR" sz="1111" noProof="0" dirty="0">
              <a:solidFill>
                <a:srgbClr val="04B0FF"/>
              </a:solidFill>
            </a:endParaRPr>
          </a:p>
        </p:txBody>
      </p:sp>
      <p:sp>
        <p:nvSpPr>
          <p:cNvPr id="78" name="Google Shape;217;p10">
            <a:extLst>
              <a:ext uri="{FF2B5EF4-FFF2-40B4-BE49-F238E27FC236}">
                <a16:creationId xmlns:a16="http://schemas.microsoft.com/office/drawing/2014/main" id="{5A74F1EB-8736-706B-465E-2AB06D9B6972}"/>
              </a:ext>
            </a:extLst>
          </p:cNvPr>
          <p:cNvSpPr/>
          <p:nvPr/>
        </p:nvSpPr>
        <p:spPr>
          <a:xfrm>
            <a:off x="1223139" y="5385346"/>
            <a:ext cx="9684859" cy="794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just"/>
            <a:r>
              <a:rPr lang="pt-BR" sz="1400" noProof="0" dirty="0">
                <a:solidFill>
                  <a:srgbClr val="444444"/>
                </a:solidFill>
                <a:cs typeface="Segoe UI" panose="020B0502040204020203" pitchFamily="34" charset="0"/>
              </a:rPr>
              <a:t>48.29. </a:t>
            </a:r>
            <a:r>
              <a:rPr lang="pt-BR" sz="1400" b="1" u="sng" noProof="0" dirty="0">
                <a:solidFill>
                  <a:srgbClr val="444444"/>
                </a:solidFill>
                <a:cs typeface="Segoe UI" panose="020B0502040204020203" pitchFamily="34" charset="0"/>
              </a:rPr>
              <a:t>Será BEM NÃO REVERSÍVEL o novo ATERRO SANITÁRIO</a:t>
            </a:r>
            <a:r>
              <a:rPr lang="pt-BR" sz="1400" b="1" noProof="0" dirty="0">
                <a:solidFill>
                  <a:srgbClr val="444444"/>
                </a:solidFill>
                <a:cs typeface="Segoe UI" panose="020B0502040204020203" pitchFamily="34" charset="0"/>
              </a:rPr>
              <a:t>, sendo de responsabilidade exclusiva da CONCESSIONÁRIA sua construção, manutenção, operação e desativação</a:t>
            </a:r>
            <a:r>
              <a:rPr lang="pt-BR" sz="1400" noProof="0" dirty="0">
                <a:solidFill>
                  <a:srgbClr val="444444"/>
                </a:solidFill>
                <a:cs typeface="Segoe UI" panose="020B0502040204020203" pitchFamily="34" charset="0"/>
              </a:rPr>
              <a:t>, bem como o gerenciamento de eventuais passivos dele decorrentes.</a:t>
            </a:r>
          </a:p>
        </p:txBody>
      </p:sp>
      <p:sp>
        <p:nvSpPr>
          <p:cNvPr id="79" name="Google Shape;218;p10">
            <a:extLst>
              <a:ext uri="{FF2B5EF4-FFF2-40B4-BE49-F238E27FC236}">
                <a16:creationId xmlns:a16="http://schemas.microsoft.com/office/drawing/2014/main" id="{3A089C37-C7E4-2007-13E6-1396471C06A5}"/>
              </a:ext>
            </a:extLst>
          </p:cNvPr>
          <p:cNvSpPr/>
          <p:nvPr/>
        </p:nvSpPr>
        <p:spPr>
          <a:xfrm flipV="1">
            <a:off x="911865" y="6218307"/>
            <a:ext cx="10114934" cy="45719"/>
          </a:xfrm>
          <a:custGeom>
            <a:avLst/>
            <a:gdLst/>
            <a:ahLst/>
            <a:cxnLst/>
            <a:rect l="l" t="t" r="r" b="b"/>
            <a:pathLst>
              <a:path w="10724768" h="8734" extrusionOk="0">
                <a:moveTo>
                  <a:pt x="0" y="0"/>
                </a:moveTo>
                <a:lnTo>
                  <a:pt x="10724768" y="0"/>
                </a:lnTo>
                <a:lnTo>
                  <a:pt x="10724768" y="8734"/>
                </a:lnTo>
                <a:lnTo>
                  <a:pt x="0" y="8734"/>
                </a:lnTo>
                <a:lnTo>
                  <a:pt x="0" y="0"/>
                </a:lnTo>
                <a:close/>
              </a:path>
            </a:pathLst>
          </a:custGeom>
          <a:solidFill>
            <a:srgbClr val="E1E8ED"/>
          </a:solidFill>
          <a:ln>
            <a:noFill/>
          </a:ln>
        </p:spPr>
        <p:txBody>
          <a:bodyPr/>
          <a:lstStyle/>
          <a:p>
            <a:endParaRPr lang="pt-BR" sz="1250" noProof="0" dirty="0"/>
          </a:p>
        </p:txBody>
      </p:sp>
      <p:sp>
        <p:nvSpPr>
          <p:cNvPr id="2" name="Google Shape;213;p10">
            <a:extLst>
              <a:ext uri="{FF2B5EF4-FFF2-40B4-BE49-F238E27FC236}">
                <a16:creationId xmlns:a16="http://schemas.microsoft.com/office/drawing/2014/main" id="{81E48425-5B4C-8136-8783-009A74EF9DFF}"/>
              </a:ext>
            </a:extLst>
          </p:cNvPr>
          <p:cNvSpPr/>
          <p:nvPr/>
        </p:nvSpPr>
        <p:spPr>
          <a:xfrm>
            <a:off x="838563" y="5019458"/>
            <a:ext cx="4332787" cy="376137"/>
          </a:xfrm>
          <a:custGeom>
            <a:avLst/>
            <a:gdLst/>
            <a:ahLst/>
            <a:cxnLst/>
            <a:rect l="l" t="t" r="r" b="b"/>
            <a:pathLst>
              <a:path w="2113513" h="454143" extrusionOk="0">
                <a:moveTo>
                  <a:pt x="69870" y="0"/>
                </a:moveTo>
                <a:lnTo>
                  <a:pt x="2043643" y="0"/>
                </a:lnTo>
                <a:cubicBezTo>
                  <a:pt x="2082231" y="0"/>
                  <a:pt x="2113513" y="31282"/>
                  <a:pt x="2113513" y="69870"/>
                </a:cubicBezTo>
                <a:lnTo>
                  <a:pt x="2113513" y="384273"/>
                </a:lnTo>
                <a:cubicBezTo>
                  <a:pt x="2113513" y="422861"/>
                  <a:pt x="2082231" y="454143"/>
                  <a:pt x="2043643" y="454143"/>
                </a:cubicBezTo>
                <a:lnTo>
                  <a:pt x="69870" y="454143"/>
                </a:lnTo>
                <a:cubicBezTo>
                  <a:pt x="31308" y="454143"/>
                  <a:pt x="0" y="422836"/>
                  <a:pt x="0" y="384273"/>
                </a:cubicBezTo>
                <a:lnTo>
                  <a:pt x="0" y="69870"/>
                </a:lnTo>
                <a:cubicBezTo>
                  <a:pt x="0" y="31308"/>
                  <a:pt x="31308" y="0"/>
                  <a:pt x="69870" y="0"/>
                </a:cubicBezTo>
                <a:close/>
              </a:path>
            </a:pathLst>
          </a:custGeom>
          <a:solidFill>
            <a:srgbClr val="04B0FF"/>
          </a:solidFill>
          <a:ln>
            <a:noFill/>
          </a:ln>
        </p:spPr>
        <p:txBody>
          <a:bodyPr spcFirstLastPara="1" wrap="square" lIns="63496" tIns="63496" rIns="63496" bIns="63496" anchor="ctr" anchorCtr="0">
            <a:noAutofit/>
          </a:bodyPr>
          <a:lstStyle/>
          <a:p>
            <a:endParaRPr lang="pt-BR" sz="1250" noProof="0" dirty="0"/>
          </a:p>
        </p:txBody>
      </p:sp>
      <p:sp>
        <p:nvSpPr>
          <p:cNvPr id="3" name="Google Shape;214;p10">
            <a:extLst>
              <a:ext uri="{FF2B5EF4-FFF2-40B4-BE49-F238E27FC236}">
                <a16:creationId xmlns:a16="http://schemas.microsoft.com/office/drawing/2014/main" id="{131859E5-AA62-D0DF-5A8E-FEAA9D485B26}"/>
              </a:ext>
            </a:extLst>
          </p:cNvPr>
          <p:cNvSpPr/>
          <p:nvPr/>
        </p:nvSpPr>
        <p:spPr>
          <a:xfrm>
            <a:off x="943182" y="5055721"/>
            <a:ext cx="4179486" cy="302534"/>
          </a:xfrm>
          <a:prstGeom prst="rect">
            <a:avLst/>
          </a:prstGeom>
          <a:solidFill>
            <a:srgbClr val="04B0FF"/>
          </a:solidFill>
          <a:ln>
            <a:noFill/>
          </a:ln>
        </p:spPr>
        <p:txBody>
          <a:bodyPr spcFirstLastPara="1" wrap="square" lIns="145571" tIns="72786" rIns="145571" bIns="72786" anchor="ctr" anchorCtr="0">
            <a:noAutofit/>
          </a:bodyPr>
          <a:lstStyle/>
          <a:p>
            <a:pPr lvl="0" algn="ctr">
              <a:lnSpc>
                <a:spcPct val="130000"/>
              </a:lnSpc>
            </a:pPr>
            <a:r>
              <a:rPr lang="pt-BR" sz="1500" b="1" noProof="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Minuta de Contrato – cl. 48.29</a:t>
            </a:r>
          </a:p>
        </p:txBody>
      </p:sp>
    </p:spTree>
    <p:extLst>
      <p:ext uri="{BB962C8B-B14F-4D97-AF65-F5344CB8AC3E}">
        <p14:creationId xmlns:p14="http://schemas.microsoft.com/office/powerpoint/2010/main" val="548335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99C5F-0573-A521-E9FC-8DE5E85AC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Logotipo&#10;&#10;Descrição gerada automaticamente">
            <a:extLst>
              <a:ext uri="{FF2B5EF4-FFF2-40B4-BE49-F238E27FC236}">
                <a16:creationId xmlns:a16="http://schemas.microsoft.com/office/drawing/2014/main" id="{578B803B-11C6-D059-E10D-420CE2F8A6D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8615" y="0"/>
            <a:ext cx="1123385" cy="1123385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CC862677-A33B-4E2A-12CB-E3C091CCC95F}"/>
              </a:ext>
            </a:extLst>
          </p:cNvPr>
          <p:cNvSpPr txBox="1"/>
          <p:nvPr/>
        </p:nvSpPr>
        <p:spPr>
          <a:xfrm>
            <a:off x="382139" y="233215"/>
            <a:ext cx="107926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pt-BR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>
              <a:defRPr sz="3600" b="1">
                <a:solidFill>
                  <a:srgbClr val="04B0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atin typeface="+mn-lt"/>
              </a:rPr>
              <a:t>Irreversibilidade do aterro sanitário</a:t>
            </a:r>
          </a:p>
        </p:txBody>
      </p:sp>
      <p:cxnSp>
        <p:nvCxnSpPr>
          <p:cNvPr id="3" name="Conector: Angulado 2">
            <a:extLst>
              <a:ext uri="{FF2B5EF4-FFF2-40B4-BE49-F238E27FC236}">
                <a16:creationId xmlns:a16="http://schemas.microsoft.com/office/drawing/2014/main" id="{62E96409-E9EA-4F6A-198D-D83CF04E833B}"/>
              </a:ext>
            </a:extLst>
          </p:cNvPr>
          <p:cNvCxnSpPr>
            <a:cxnSpLocks/>
            <a:endCxn id="46" idx="1"/>
          </p:cNvCxnSpPr>
          <p:nvPr/>
        </p:nvCxnSpPr>
        <p:spPr>
          <a:xfrm rot="16200000" flipH="1">
            <a:off x="318385" y="2228179"/>
            <a:ext cx="1335580" cy="607828"/>
          </a:xfrm>
          <a:prstGeom prst="bentConnector2">
            <a:avLst/>
          </a:prstGeom>
          <a:ln>
            <a:solidFill>
              <a:srgbClr val="04B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DE979573-C9C1-965D-3608-3640CF954784}"/>
              </a:ext>
            </a:extLst>
          </p:cNvPr>
          <p:cNvSpPr/>
          <p:nvPr/>
        </p:nvSpPr>
        <p:spPr>
          <a:xfrm>
            <a:off x="382139" y="1123385"/>
            <a:ext cx="4229191" cy="970230"/>
          </a:xfrm>
          <a:prstGeom prst="roundRect">
            <a:avLst/>
          </a:prstGeom>
          <a:solidFill>
            <a:srgbClr val="04B0FF"/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50" noProof="0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927A6D28-C739-19EE-60FC-BD37B2DBB68D}"/>
              </a:ext>
            </a:extLst>
          </p:cNvPr>
          <p:cNvSpPr/>
          <p:nvPr/>
        </p:nvSpPr>
        <p:spPr>
          <a:xfrm>
            <a:off x="5674643" y="1150421"/>
            <a:ext cx="6135218" cy="455715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 sz="1945" b="1" noProof="0" dirty="0">
              <a:solidFill>
                <a:schemeClr val="bg2"/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8A54EF8-68C4-ED02-3C76-EE3DB600688A}"/>
              </a:ext>
            </a:extLst>
          </p:cNvPr>
          <p:cNvSpPr/>
          <p:nvPr/>
        </p:nvSpPr>
        <p:spPr>
          <a:xfrm>
            <a:off x="1197963" y="1248118"/>
            <a:ext cx="3305039" cy="686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pt-BR" sz="2400" b="1" noProof="0" dirty="0">
                <a:solidFill>
                  <a:schemeClr val="bg1"/>
                </a:solidFill>
                <a:latin typeface="+mj-lt"/>
                <a:cs typeface="Segoe UI" panose="020B0502040204020203" pitchFamily="34" charset="0"/>
              </a:rPr>
              <a:t>Aterro sanitário como bem não reversível</a:t>
            </a: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00F86122-31AA-28BD-5175-CD457CE1E1F2}"/>
              </a:ext>
            </a:extLst>
          </p:cNvPr>
          <p:cNvSpPr/>
          <p:nvPr/>
        </p:nvSpPr>
        <p:spPr>
          <a:xfrm>
            <a:off x="541126" y="1302947"/>
            <a:ext cx="490604" cy="475231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chemeClr val="bg2">
              <a:alpha val="20000"/>
            </a:schemeClr>
          </a:solidFill>
          <a:ln/>
        </p:spPr>
        <p:txBody>
          <a:bodyPr/>
          <a:lstStyle/>
          <a:p>
            <a:endParaRPr lang="pt-BR" sz="1250" noProof="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6B68C2FE-0AC9-C4E1-F1FB-08D0FB82DEB9}"/>
              </a:ext>
            </a:extLst>
          </p:cNvPr>
          <p:cNvSpPr/>
          <p:nvPr/>
        </p:nvSpPr>
        <p:spPr>
          <a:xfrm>
            <a:off x="6727211" y="1300843"/>
            <a:ext cx="5149934" cy="686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defRPr/>
            </a:pPr>
            <a:r>
              <a:rPr lang="pt-BR" sz="2400" b="1" noProof="0" dirty="0">
                <a:solidFill>
                  <a:srgbClr val="04B0F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Impactos da Regra Contratual</a:t>
            </a: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FB99AB9E-A289-C268-5CBB-DF6FE9572D45}"/>
              </a:ext>
            </a:extLst>
          </p:cNvPr>
          <p:cNvSpPr/>
          <p:nvPr/>
        </p:nvSpPr>
        <p:spPr>
          <a:xfrm>
            <a:off x="6030729" y="1440956"/>
            <a:ext cx="490604" cy="475231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4B0FF"/>
          </a:solidFill>
          <a:ln/>
        </p:spPr>
        <p:txBody>
          <a:bodyPr/>
          <a:lstStyle/>
          <a:p>
            <a:endParaRPr lang="pt-BR" sz="1250" noProof="0" dirty="0">
              <a:solidFill>
                <a:srgbClr val="04B0FF"/>
              </a:solidFill>
            </a:endParaRPr>
          </a:p>
        </p:txBody>
      </p:sp>
      <p:pic>
        <p:nvPicPr>
          <p:cNvPr id="42" name="Gráfico 41" descr="Lista de Verificação com preenchimento sólido">
            <a:extLst>
              <a:ext uri="{FF2B5EF4-FFF2-40B4-BE49-F238E27FC236}">
                <a16:creationId xmlns:a16="http://schemas.microsoft.com/office/drawing/2014/main" id="{C76B93CB-AA2C-2A28-9B78-37E07435B0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78642" y="1466059"/>
            <a:ext cx="394778" cy="394778"/>
          </a:xfrm>
          <a:prstGeom prst="rect">
            <a:avLst/>
          </a:prstGeom>
        </p:spPr>
      </p:pic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5D1E26BB-AFFF-9DE2-3B9C-7E080A1FA362}"/>
              </a:ext>
            </a:extLst>
          </p:cNvPr>
          <p:cNvSpPr/>
          <p:nvPr/>
        </p:nvSpPr>
        <p:spPr>
          <a:xfrm>
            <a:off x="1290089" y="2383010"/>
            <a:ext cx="4116143" cy="1633745"/>
          </a:xfrm>
          <a:prstGeom prst="roundRect">
            <a:avLst/>
          </a:prstGeom>
          <a:noFill/>
          <a:ln>
            <a:solidFill>
              <a:srgbClr val="04B0F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50" noProof="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6F70DA6E-E8E8-F99C-F7EC-5DBE44940291}"/>
              </a:ext>
            </a:extLst>
          </p:cNvPr>
          <p:cNvSpPr/>
          <p:nvPr/>
        </p:nvSpPr>
        <p:spPr>
          <a:xfrm>
            <a:off x="1479252" y="2476369"/>
            <a:ext cx="3855585" cy="1434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600"/>
              </a:spcAft>
            </a:pPr>
            <a:r>
              <a:rPr lang="pt-BR" sz="1500" b="1" noProof="0" dirty="0">
                <a:solidFill>
                  <a:srgbClr val="04B0FF"/>
                </a:solidFill>
                <a:cs typeface="Segoe UI" panose="020B0502040204020203" pitchFamily="34" charset="0"/>
              </a:rPr>
              <a:t>Bens reversíveis - Definição d</a:t>
            </a:r>
            <a:r>
              <a:rPr lang="pt-BR" sz="1500" b="1" dirty="0">
                <a:solidFill>
                  <a:srgbClr val="04B0FF"/>
                </a:solidFill>
                <a:cs typeface="Segoe UI" panose="020B0502040204020203" pitchFamily="34" charset="0"/>
              </a:rPr>
              <a:t>o Contrato</a:t>
            </a:r>
            <a:r>
              <a:rPr lang="pt-BR" sz="1500" b="1" noProof="0" dirty="0">
                <a:solidFill>
                  <a:srgbClr val="04B0FF"/>
                </a:solidFill>
                <a:cs typeface="Segoe UI" panose="020B0502040204020203" pitchFamily="34" charset="0"/>
              </a:rPr>
              <a:t>: 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500" noProof="0" dirty="0">
                <a:solidFill>
                  <a:srgbClr val="444444"/>
                </a:solidFill>
                <a:cs typeface="Segoe UI" panose="020B0502040204020203" pitchFamily="34" charset="0"/>
              </a:rPr>
              <a:t>Bens móveis e imóveis, imprescindíveis, essenciais e vinculados à execução da concessão.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500" noProof="0" dirty="0">
                <a:solidFill>
                  <a:srgbClr val="444444"/>
                </a:solidFill>
                <a:cs typeface="Segoe UI" panose="020B0502040204020203" pitchFamily="34" charset="0"/>
              </a:rPr>
              <a:t>Adquiridos pela concessionária ou cedidos pelo Concedente.</a:t>
            </a:r>
            <a:endParaRPr lang="pt-BR" sz="1500" noProof="0" dirty="0">
              <a:solidFill>
                <a:srgbClr val="444444"/>
              </a:solidFill>
            </a:endParaRPr>
          </a:p>
        </p:txBody>
      </p:sp>
      <p:pic>
        <p:nvPicPr>
          <p:cNvPr id="49" name="Gráfico 48" descr="Parede de tijolos com preenchimento sólido">
            <a:extLst>
              <a:ext uri="{FF2B5EF4-FFF2-40B4-BE49-F238E27FC236}">
                <a16:creationId xmlns:a16="http://schemas.microsoft.com/office/drawing/2014/main" id="{928EBB94-1022-5CEC-4F72-D4DDE7BBDA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3540" y="1302947"/>
            <a:ext cx="457200" cy="457200"/>
          </a:xfrm>
          <a:prstGeom prst="rect">
            <a:avLst/>
          </a:prstGeom>
        </p:spPr>
      </p:pic>
      <p:cxnSp>
        <p:nvCxnSpPr>
          <p:cNvPr id="50" name="Conector: Angulado 49">
            <a:extLst>
              <a:ext uri="{FF2B5EF4-FFF2-40B4-BE49-F238E27FC236}">
                <a16:creationId xmlns:a16="http://schemas.microsoft.com/office/drawing/2014/main" id="{69281C16-6DDF-D2D0-A675-2B155C5E5F87}"/>
              </a:ext>
            </a:extLst>
          </p:cNvPr>
          <p:cNvCxnSpPr>
            <a:cxnSpLocks/>
            <a:endCxn id="52" idx="1"/>
          </p:cNvCxnSpPr>
          <p:nvPr/>
        </p:nvCxnSpPr>
        <p:spPr>
          <a:xfrm rot="16200000" flipH="1">
            <a:off x="-233038" y="3519752"/>
            <a:ext cx="2421446" cy="590852"/>
          </a:xfrm>
          <a:prstGeom prst="bentConnector2">
            <a:avLst/>
          </a:prstGeom>
          <a:ln>
            <a:solidFill>
              <a:srgbClr val="04B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tângulo: Cantos Arredondados 51">
            <a:extLst>
              <a:ext uri="{FF2B5EF4-FFF2-40B4-BE49-F238E27FC236}">
                <a16:creationId xmlns:a16="http://schemas.microsoft.com/office/drawing/2014/main" id="{EE80923A-6B2D-EA15-7615-543BBF185ED8}"/>
              </a:ext>
            </a:extLst>
          </p:cNvPr>
          <p:cNvSpPr/>
          <p:nvPr/>
        </p:nvSpPr>
        <p:spPr>
          <a:xfrm>
            <a:off x="1273111" y="4311581"/>
            <a:ext cx="4133121" cy="1428640"/>
          </a:xfrm>
          <a:prstGeom prst="roundRect">
            <a:avLst/>
          </a:prstGeom>
          <a:noFill/>
          <a:ln>
            <a:solidFill>
              <a:srgbClr val="04B0F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50" noProof="0" dirty="0"/>
          </a:p>
        </p:txBody>
      </p:sp>
      <p:sp>
        <p:nvSpPr>
          <p:cNvPr id="55" name="Text 10">
            <a:extLst>
              <a:ext uri="{FF2B5EF4-FFF2-40B4-BE49-F238E27FC236}">
                <a16:creationId xmlns:a16="http://schemas.microsoft.com/office/drawing/2014/main" id="{2B0CE735-A5F1-87D7-854A-9CAAC6985D07}"/>
              </a:ext>
            </a:extLst>
          </p:cNvPr>
          <p:cNvSpPr/>
          <p:nvPr/>
        </p:nvSpPr>
        <p:spPr>
          <a:xfrm>
            <a:off x="1452101" y="4306150"/>
            <a:ext cx="3855586" cy="1434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spcAft>
                <a:spcPts val="600"/>
              </a:spcAft>
            </a:pPr>
            <a:r>
              <a:rPr lang="pt-BR" sz="1500" b="1" noProof="0" dirty="0">
                <a:solidFill>
                  <a:srgbClr val="04B0FF"/>
                </a:solidFill>
                <a:cs typeface="Segoe UI" panose="020B0502040204020203" pitchFamily="34" charset="0"/>
              </a:rPr>
              <a:t>Bens não reversíveis - Definição do Contrato: </a:t>
            </a:r>
          </a:p>
          <a:p>
            <a:pPr marL="285750" indent="-2857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500" noProof="0" dirty="0">
                <a:solidFill>
                  <a:srgbClr val="444444"/>
                </a:solidFill>
                <a:cs typeface="Segoe UI" panose="020B0502040204020203" pitchFamily="34" charset="0"/>
              </a:rPr>
              <a:t>Bens que perderam as características de reversibilidade, de uso administrativo e/ou não essenciais ou vinculados. </a:t>
            </a:r>
            <a:endParaRPr lang="pt-BR" sz="1500" noProof="0" dirty="0">
              <a:solidFill>
                <a:srgbClr val="444444"/>
              </a:solidFill>
            </a:endParaRPr>
          </a:p>
        </p:txBody>
      </p:sp>
      <p:sp>
        <p:nvSpPr>
          <p:cNvPr id="61" name="Google Shape;178;p10">
            <a:extLst>
              <a:ext uri="{FF2B5EF4-FFF2-40B4-BE49-F238E27FC236}">
                <a16:creationId xmlns:a16="http://schemas.microsoft.com/office/drawing/2014/main" id="{7EBD2BAF-1D37-311A-F032-7DDFDE82CC8B}"/>
              </a:ext>
            </a:extLst>
          </p:cNvPr>
          <p:cNvSpPr/>
          <p:nvPr/>
        </p:nvSpPr>
        <p:spPr>
          <a:xfrm>
            <a:off x="6047398" y="2130965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355600" h="355600" extrusionOk="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15987" y="115987"/>
                </a:moveTo>
                <a:cubicBezTo>
                  <a:pt x="122515" y="109458"/>
                  <a:pt x="133072" y="109458"/>
                  <a:pt x="139531" y="115987"/>
                </a:cubicBezTo>
                <a:lnTo>
                  <a:pt x="177731" y="154186"/>
                </a:lnTo>
                <a:lnTo>
                  <a:pt x="215930" y="115987"/>
                </a:lnTo>
                <a:cubicBezTo>
                  <a:pt x="222458" y="109458"/>
                  <a:pt x="233015" y="109458"/>
                  <a:pt x="239474" y="115987"/>
                </a:cubicBezTo>
                <a:cubicBezTo>
                  <a:pt x="245934" y="122515"/>
                  <a:pt x="246003" y="133072"/>
                  <a:pt x="239474" y="139531"/>
                </a:cubicBezTo>
                <a:lnTo>
                  <a:pt x="201275" y="177731"/>
                </a:lnTo>
                <a:lnTo>
                  <a:pt x="239474" y="215930"/>
                </a:lnTo>
                <a:cubicBezTo>
                  <a:pt x="246003" y="222458"/>
                  <a:pt x="246003" y="233015"/>
                  <a:pt x="239474" y="239474"/>
                </a:cubicBezTo>
                <a:cubicBezTo>
                  <a:pt x="232946" y="245934"/>
                  <a:pt x="222389" y="246003"/>
                  <a:pt x="215930" y="239474"/>
                </a:cubicBezTo>
                <a:lnTo>
                  <a:pt x="177731" y="201275"/>
                </a:lnTo>
                <a:lnTo>
                  <a:pt x="139531" y="239474"/>
                </a:lnTo>
                <a:cubicBezTo>
                  <a:pt x="133003" y="246003"/>
                  <a:pt x="122446" y="246003"/>
                  <a:pt x="115987" y="239474"/>
                </a:cubicBezTo>
                <a:cubicBezTo>
                  <a:pt x="109528" y="232946"/>
                  <a:pt x="109458" y="222389"/>
                  <a:pt x="115987" y="215930"/>
                </a:cubicBezTo>
                <a:lnTo>
                  <a:pt x="154186" y="177731"/>
                </a:lnTo>
                <a:lnTo>
                  <a:pt x="115987" y="139531"/>
                </a:lnTo>
                <a:cubicBezTo>
                  <a:pt x="109458" y="133003"/>
                  <a:pt x="109458" y="122446"/>
                  <a:pt x="115987" y="115987"/>
                </a:cubicBezTo>
                <a:close/>
              </a:path>
            </a:pathLst>
          </a:custGeom>
          <a:solidFill>
            <a:srgbClr val="04B0FF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lang="pt-BR" sz="1350" noProof="0" dirty="0"/>
          </a:p>
        </p:txBody>
      </p:sp>
      <p:sp>
        <p:nvSpPr>
          <p:cNvPr id="62" name="Google Shape;179;p10">
            <a:extLst>
              <a:ext uri="{FF2B5EF4-FFF2-40B4-BE49-F238E27FC236}">
                <a16:creationId xmlns:a16="http://schemas.microsoft.com/office/drawing/2014/main" id="{B8AD20B5-814B-989B-5BF2-9405CEF4CB77}"/>
              </a:ext>
            </a:extLst>
          </p:cNvPr>
          <p:cNvSpPr/>
          <p:nvPr/>
        </p:nvSpPr>
        <p:spPr>
          <a:xfrm>
            <a:off x="6473421" y="2041761"/>
            <a:ext cx="503632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>
              <a:lnSpc>
                <a:spcPct val="140000"/>
              </a:lnSpc>
            </a:pPr>
            <a:r>
              <a:rPr lang="pt-BR" sz="1400" b="1" noProof="0" dirty="0">
                <a:solidFill>
                  <a:srgbClr val="444444"/>
                </a:solidFill>
                <a:ea typeface="Liter"/>
                <a:cs typeface="Segoe UI" panose="020B0502040204020203" pitchFamily="34" charset="0"/>
                <a:sym typeface="Liter"/>
              </a:rPr>
              <a:t>Risco de ausência de indenização</a:t>
            </a:r>
            <a:r>
              <a:rPr lang="pt-BR" sz="1400" noProof="0" dirty="0">
                <a:solidFill>
                  <a:srgbClr val="444444"/>
                </a:solidFill>
                <a:ea typeface="Liter"/>
                <a:cs typeface="Segoe UI" panose="020B0502040204020203" pitchFamily="34" charset="0"/>
                <a:sym typeface="Liter"/>
              </a:rPr>
              <a:t> relativa ao aterro em caso de extinção antecipada (caducidade, encampação, rescisão)</a:t>
            </a:r>
            <a:endParaRPr lang="pt-BR" sz="1400" noProof="0" dirty="0">
              <a:solidFill>
                <a:srgbClr val="444444"/>
              </a:solidFill>
              <a:cs typeface="Segoe UI" panose="020B0502040204020203" pitchFamily="34" charset="0"/>
            </a:endParaRPr>
          </a:p>
        </p:txBody>
      </p:sp>
      <p:sp>
        <p:nvSpPr>
          <p:cNvPr id="64" name="Google Shape;181;p10">
            <a:extLst>
              <a:ext uri="{FF2B5EF4-FFF2-40B4-BE49-F238E27FC236}">
                <a16:creationId xmlns:a16="http://schemas.microsoft.com/office/drawing/2014/main" id="{ABAB0F21-6DD0-1619-0BE9-4C8FC26EEF12}"/>
              </a:ext>
            </a:extLst>
          </p:cNvPr>
          <p:cNvSpPr/>
          <p:nvPr/>
        </p:nvSpPr>
        <p:spPr>
          <a:xfrm>
            <a:off x="6030729" y="2920756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355600" h="355600" extrusionOk="0">
                <a:moveTo>
                  <a:pt x="327333" y="4653"/>
                </a:moveTo>
                <a:cubicBezTo>
                  <a:pt x="331778" y="417"/>
                  <a:pt x="338237" y="-1111"/>
                  <a:pt x="344210" y="833"/>
                </a:cubicBezTo>
                <a:cubicBezTo>
                  <a:pt x="351016" y="3125"/>
                  <a:pt x="355600" y="9515"/>
                  <a:pt x="355600" y="16669"/>
                </a:cubicBezTo>
                <a:lnTo>
                  <a:pt x="355600" y="146477"/>
                </a:lnTo>
                <a:cubicBezTo>
                  <a:pt x="355600" y="237599"/>
                  <a:pt x="280521" y="311150"/>
                  <a:pt x="189746" y="311150"/>
                </a:cubicBezTo>
                <a:cubicBezTo>
                  <a:pt x="136267" y="311150"/>
                  <a:pt x="90150" y="276771"/>
                  <a:pt x="73412" y="228709"/>
                </a:cubicBezTo>
                <a:cubicBezTo>
                  <a:pt x="48826" y="250101"/>
                  <a:pt x="33337" y="281563"/>
                  <a:pt x="33337" y="316706"/>
                </a:cubicBezTo>
                <a:cubicBezTo>
                  <a:pt x="33337" y="325944"/>
                  <a:pt x="25906" y="333375"/>
                  <a:pt x="16669" y="333375"/>
                </a:cubicBezTo>
                <a:cubicBezTo>
                  <a:pt x="7431" y="333375"/>
                  <a:pt x="0" y="325944"/>
                  <a:pt x="0" y="316706"/>
                </a:cubicBezTo>
                <a:cubicBezTo>
                  <a:pt x="0" y="264686"/>
                  <a:pt x="26531" y="218847"/>
                  <a:pt x="66744" y="191899"/>
                </a:cubicBezTo>
                <a:cubicBezTo>
                  <a:pt x="91261" y="175508"/>
                  <a:pt x="120501" y="166688"/>
                  <a:pt x="150019" y="166688"/>
                </a:cubicBezTo>
                <a:lnTo>
                  <a:pt x="205581" y="166688"/>
                </a:lnTo>
                <a:cubicBezTo>
                  <a:pt x="214819" y="166688"/>
                  <a:pt x="222250" y="159256"/>
                  <a:pt x="222250" y="150019"/>
                </a:cubicBezTo>
                <a:cubicBezTo>
                  <a:pt x="222250" y="140781"/>
                  <a:pt x="214819" y="133350"/>
                  <a:pt x="205581" y="133350"/>
                </a:cubicBezTo>
                <a:lnTo>
                  <a:pt x="150019" y="133350"/>
                </a:lnTo>
                <a:cubicBezTo>
                  <a:pt x="122446" y="133350"/>
                  <a:pt x="96331" y="139462"/>
                  <a:pt x="72926" y="150366"/>
                </a:cubicBezTo>
                <a:cubicBezTo>
                  <a:pt x="89108" y="101749"/>
                  <a:pt x="134878" y="66675"/>
                  <a:pt x="188913" y="66675"/>
                </a:cubicBezTo>
                <a:cubicBezTo>
                  <a:pt x="235029" y="66675"/>
                  <a:pt x="269339" y="51326"/>
                  <a:pt x="292189" y="36116"/>
                </a:cubicBezTo>
                <a:cubicBezTo>
                  <a:pt x="305524" y="27226"/>
                  <a:pt x="316845" y="16599"/>
                  <a:pt x="327402" y="4653"/>
                </a:cubicBezTo>
                <a:close/>
              </a:path>
            </a:pathLst>
          </a:custGeom>
          <a:solidFill>
            <a:srgbClr val="04B0FF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lang="pt-BR" sz="1350" noProof="0" dirty="0"/>
          </a:p>
        </p:txBody>
      </p:sp>
      <p:sp>
        <p:nvSpPr>
          <p:cNvPr id="65" name="Google Shape;182;p10">
            <a:extLst>
              <a:ext uri="{FF2B5EF4-FFF2-40B4-BE49-F238E27FC236}">
                <a16:creationId xmlns:a16="http://schemas.microsoft.com/office/drawing/2014/main" id="{96E291F3-C7CE-7A65-3609-F681FF4F2278}"/>
              </a:ext>
            </a:extLst>
          </p:cNvPr>
          <p:cNvSpPr/>
          <p:nvPr/>
        </p:nvSpPr>
        <p:spPr>
          <a:xfrm>
            <a:off x="6492359" y="2822379"/>
            <a:ext cx="5017381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>
              <a:lnSpc>
                <a:spcPct val="140000"/>
              </a:lnSpc>
            </a:pPr>
            <a:r>
              <a:rPr lang="pt-BR" sz="1400" b="1" noProof="0" dirty="0">
                <a:solidFill>
                  <a:srgbClr val="444444"/>
                </a:solidFill>
                <a:ea typeface="Liter"/>
                <a:cs typeface="Segoe UI" panose="020B0502040204020203" pitchFamily="34" charset="0"/>
                <a:sym typeface="Liter"/>
              </a:rPr>
              <a:t>Passivo ambiental sem destinação:</a:t>
            </a:r>
            <a:r>
              <a:rPr lang="pt-BR" sz="1400" noProof="0" dirty="0">
                <a:solidFill>
                  <a:srgbClr val="444444"/>
                </a:solidFill>
                <a:ea typeface="Liter"/>
                <a:cs typeface="Segoe UI" panose="020B0502040204020203" pitchFamily="34" charset="0"/>
                <a:sym typeface="Liter"/>
              </a:rPr>
              <a:t> aterro permanece em monitoramento por décadas com custos regulatórios</a:t>
            </a:r>
            <a:endParaRPr lang="pt-BR" sz="1400" noProof="0" dirty="0">
              <a:solidFill>
                <a:srgbClr val="444444"/>
              </a:solidFill>
              <a:cs typeface="Segoe UI" panose="020B0502040204020203" pitchFamily="34" charset="0"/>
            </a:endParaRPr>
          </a:p>
        </p:txBody>
      </p:sp>
      <p:sp>
        <p:nvSpPr>
          <p:cNvPr id="67" name="Google Shape;184;p10">
            <a:extLst>
              <a:ext uri="{FF2B5EF4-FFF2-40B4-BE49-F238E27FC236}">
                <a16:creationId xmlns:a16="http://schemas.microsoft.com/office/drawing/2014/main" id="{4FE8A2D1-8AD3-A1B1-735E-CECEB6677D18}"/>
              </a:ext>
            </a:extLst>
          </p:cNvPr>
          <p:cNvSpPr/>
          <p:nvPr/>
        </p:nvSpPr>
        <p:spPr>
          <a:xfrm>
            <a:off x="6014061" y="3705400"/>
            <a:ext cx="333375" cy="266700"/>
          </a:xfrm>
          <a:custGeom>
            <a:avLst/>
            <a:gdLst/>
            <a:ahLst/>
            <a:cxnLst/>
            <a:rect l="l" t="t" r="r" b="b"/>
            <a:pathLst>
              <a:path w="444500" h="355600" extrusionOk="0">
                <a:moveTo>
                  <a:pt x="361017" y="43339"/>
                </a:moveTo>
                <a:cubicBezTo>
                  <a:pt x="372685" y="39449"/>
                  <a:pt x="378936" y="26878"/>
                  <a:pt x="375047" y="15210"/>
                </a:cubicBezTo>
                <a:cubicBezTo>
                  <a:pt x="371158" y="3542"/>
                  <a:pt x="358586" y="-2709"/>
                  <a:pt x="346988" y="1111"/>
                </a:cubicBezTo>
                <a:lnTo>
                  <a:pt x="268506" y="27295"/>
                </a:lnTo>
                <a:cubicBezTo>
                  <a:pt x="258852" y="10974"/>
                  <a:pt x="241002" y="0"/>
                  <a:pt x="220653" y="0"/>
                </a:cubicBezTo>
                <a:cubicBezTo>
                  <a:pt x="189954" y="0"/>
                  <a:pt x="165090" y="24864"/>
                  <a:pt x="165090" y="55563"/>
                </a:cubicBezTo>
                <a:cubicBezTo>
                  <a:pt x="165090" y="57646"/>
                  <a:pt x="165229" y="59660"/>
                  <a:pt x="165437" y="61674"/>
                </a:cubicBezTo>
                <a:lnTo>
                  <a:pt x="80288" y="90011"/>
                </a:lnTo>
                <a:cubicBezTo>
                  <a:pt x="68620" y="93901"/>
                  <a:pt x="62369" y="106472"/>
                  <a:pt x="66258" y="118140"/>
                </a:cubicBezTo>
                <a:cubicBezTo>
                  <a:pt x="70148" y="129808"/>
                  <a:pt x="82719" y="136059"/>
                  <a:pt x="94387" y="132169"/>
                </a:cubicBezTo>
                <a:lnTo>
                  <a:pt x="188496" y="100776"/>
                </a:lnTo>
                <a:cubicBezTo>
                  <a:pt x="191621" y="102999"/>
                  <a:pt x="194955" y="104874"/>
                  <a:pt x="198497" y="106472"/>
                </a:cubicBezTo>
                <a:lnTo>
                  <a:pt x="198497" y="333375"/>
                </a:lnTo>
                <a:cubicBezTo>
                  <a:pt x="198497" y="345668"/>
                  <a:pt x="208429" y="355600"/>
                  <a:pt x="220722" y="355600"/>
                </a:cubicBezTo>
                <a:lnTo>
                  <a:pt x="354072" y="355600"/>
                </a:lnTo>
                <a:cubicBezTo>
                  <a:pt x="366365" y="355600"/>
                  <a:pt x="376297" y="345668"/>
                  <a:pt x="376297" y="333375"/>
                </a:cubicBezTo>
                <a:cubicBezTo>
                  <a:pt x="376297" y="321082"/>
                  <a:pt x="366365" y="311150"/>
                  <a:pt x="354072" y="311150"/>
                </a:cubicBezTo>
                <a:lnTo>
                  <a:pt x="242947" y="311150"/>
                </a:lnTo>
                <a:lnTo>
                  <a:pt x="242947" y="106472"/>
                </a:lnTo>
                <a:cubicBezTo>
                  <a:pt x="257532" y="100082"/>
                  <a:pt x="268784" y="87719"/>
                  <a:pt x="273645" y="72440"/>
                </a:cubicBezTo>
                <a:lnTo>
                  <a:pt x="361087" y="43269"/>
                </a:lnTo>
                <a:close/>
                <a:moveTo>
                  <a:pt x="303719" y="200025"/>
                </a:moveTo>
                <a:lnTo>
                  <a:pt x="354003" y="113764"/>
                </a:lnTo>
                <a:lnTo>
                  <a:pt x="404287" y="200025"/>
                </a:lnTo>
                <a:lnTo>
                  <a:pt x="303649" y="200025"/>
                </a:lnTo>
                <a:close/>
                <a:moveTo>
                  <a:pt x="354003" y="266700"/>
                </a:moveTo>
                <a:cubicBezTo>
                  <a:pt x="397689" y="266700"/>
                  <a:pt x="434013" y="243086"/>
                  <a:pt x="441514" y="211901"/>
                </a:cubicBezTo>
                <a:cubicBezTo>
                  <a:pt x="443319" y="204262"/>
                  <a:pt x="440819" y="196413"/>
                  <a:pt x="436860" y="189607"/>
                </a:cubicBezTo>
                <a:lnTo>
                  <a:pt x="370741" y="76260"/>
                </a:lnTo>
                <a:cubicBezTo>
                  <a:pt x="367268" y="70287"/>
                  <a:pt x="360878" y="66675"/>
                  <a:pt x="354003" y="66675"/>
                </a:cubicBezTo>
                <a:cubicBezTo>
                  <a:pt x="347127" y="66675"/>
                  <a:pt x="340737" y="70356"/>
                  <a:pt x="337264" y="76260"/>
                </a:cubicBezTo>
                <a:lnTo>
                  <a:pt x="271145" y="189676"/>
                </a:lnTo>
                <a:cubicBezTo>
                  <a:pt x="267186" y="196483"/>
                  <a:pt x="264686" y="204331"/>
                  <a:pt x="266492" y="211971"/>
                </a:cubicBezTo>
                <a:cubicBezTo>
                  <a:pt x="273993" y="243086"/>
                  <a:pt x="310317" y="266769"/>
                  <a:pt x="354003" y="266769"/>
                </a:cubicBezTo>
                <a:close/>
                <a:moveTo>
                  <a:pt x="88067" y="202664"/>
                </a:moveTo>
                <a:lnTo>
                  <a:pt x="138351" y="288925"/>
                </a:lnTo>
                <a:lnTo>
                  <a:pt x="37713" y="288925"/>
                </a:lnTo>
                <a:lnTo>
                  <a:pt x="87997" y="202664"/>
                </a:lnTo>
                <a:close/>
                <a:moveTo>
                  <a:pt x="625" y="300801"/>
                </a:moveTo>
                <a:cubicBezTo>
                  <a:pt x="8126" y="331986"/>
                  <a:pt x="44450" y="355600"/>
                  <a:pt x="88067" y="355600"/>
                </a:cubicBezTo>
                <a:cubicBezTo>
                  <a:pt x="131683" y="355600"/>
                  <a:pt x="168077" y="331986"/>
                  <a:pt x="175577" y="300801"/>
                </a:cubicBezTo>
                <a:cubicBezTo>
                  <a:pt x="177383" y="293162"/>
                  <a:pt x="174883" y="285313"/>
                  <a:pt x="170924" y="278507"/>
                </a:cubicBezTo>
                <a:lnTo>
                  <a:pt x="104805" y="165160"/>
                </a:lnTo>
                <a:cubicBezTo>
                  <a:pt x="101332" y="159187"/>
                  <a:pt x="94942" y="155575"/>
                  <a:pt x="88067" y="155575"/>
                </a:cubicBezTo>
                <a:cubicBezTo>
                  <a:pt x="81191" y="155575"/>
                  <a:pt x="74801" y="159256"/>
                  <a:pt x="71328" y="165160"/>
                </a:cubicBezTo>
                <a:lnTo>
                  <a:pt x="5278" y="278576"/>
                </a:lnTo>
                <a:cubicBezTo>
                  <a:pt x="1320" y="285383"/>
                  <a:pt x="-1181" y="293231"/>
                  <a:pt x="625" y="300871"/>
                </a:cubicBezTo>
                <a:close/>
              </a:path>
            </a:pathLst>
          </a:custGeom>
          <a:solidFill>
            <a:srgbClr val="04B0FF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lang="pt-BR" sz="1350" noProof="0" dirty="0"/>
          </a:p>
        </p:txBody>
      </p:sp>
      <p:sp>
        <p:nvSpPr>
          <p:cNvPr id="68" name="Google Shape;185;p10">
            <a:extLst>
              <a:ext uri="{FF2B5EF4-FFF2-40B4-BE49-F238E27FC236}">
                <a16:creationId xmlns:a16="http://schemas.microsoft.com/office/drawing/2014/main" id="{1D031508-DE0A-81B9-A664-404D082B1A72}"/>
              </a:ext>
            </a:extLst>
          </p:cNvPr>
          <p:cNvSpPr/>
          <p:nvPr/>
        </p:nvSpPr>
        <p:spPr>
          <a:xfrm>
            <a:off x="6473421" y="3616196"/>
            <a:ext cx="503632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>
              <a:lnSpc>
                <a:spcPct val="140000"/>
              </a:lnSpc>
            </a:pPr>
            <a:r>
              <a:rPr lang="pt-BR" sz="1400" b="1" noProof="0" dirty="0">
                <a:solidFill>
                  <a:srgbClr val="444444"/>
                </a:solidFill>
                <a:ea typeface="Liter"/>
                <a:cs typeface="Segoe UI" panose="020B0502040204020203" pitchFamily="34" charset="0"/>
                <a:sym typeface="Liter"/>
              </a:rPr>
              <a:t>Risco de Questionamento por órgãos de controle:</a:t>
            </a:r>
            <a:r>
              <a:rPr lang="pt-BR" sz="1400" noProof="0" dirty="0">
                <a:solidFill>
                  <a:srgbClr val="444444"/>
                </a:solidFill>
                <a:ea typeface="Liter"/>
                <a:cs typeface="Segoe UI" panose="020B0502040204020203" pitchFamily="34" charset="0"/>
                <a:sym typeface="Liter"/>
              </a:rPr>
              <a:t> tarifa remunera o CAPEX do aterro, mas o bem não retorna </a:t>
            </a:r>
            <a:r>
              <a:rPr lang="pt-BR" sz="1400" dirty="0">
                <a:solidFill>
                  <a:srgbClr val="444444"/>
                </a:solidFill>
                <a:ea typeface="Liter"/>
                <a:cs typeface="Segoe UI" panose="020B0502040204020203" pitchFamily="34" charset="0"/>
                <a:sym typeface="Liter"/>
              </a:rPr>
              <a:t>à</a:t>
            </a:r>
            <a:r>
              <a:rPr lang="pt-BR" sz="1400" noProof="0" dirty="0">
                <a:solidFill>
                  <a:srgbClr val="444444"/>
                </a:solidFill>
                <a:ea typeface="Liter"/>
                <a:cs typeface="Segoe UI" panose="020B0502040204020203" pitchFamily="34" charset="0"/>
                <a:sym typeface="Liter"/>
              </a:rPr>
              <a:t> Administração</a:t>
            </a:r>
            <a:endParaRPr lang="pt-BR" sz="1400" noProof="0" dirty="0">
              <a:solidFill>
                <a:srgbClr val="444444"/>
              </a:solidFill>
              <a:cs typeface="Segoe UI" panose="020B0502040204020203" pitchFamily="34" charset="0"/>
            </a:endParaRPr>
          </a:p>
        </p:txBody>
      </p:sp>
      <p:sp>
        <p:nvSpPr>
          <p:cNvPr id="70" name="Google Shape;187;p10">
            <a:extLst>
              <a:ext uri="{FF2B5EF4-FFF2-40B4-BE49-F238E27FC236}">
                <a16:creationId xmlns:a16="http://schemas.microsoft.com/office/drawing/2014/main" id="{4D17B3C8-3107-837E-6727-3C84C2A01F4B}"/>
              </a:ext>
            </a:extLst>
          </p:cNvPr>
          <p:cNvSpPr/>
          <p:nvPr/>
        </p:nvSpPr>
        <p:spPr>
          <a:xfrm>
            <a:off x="6047398" y="4685944"/>
            <a:ext cx="300038" cy="266700"/>
          </a:xfrm>
          <a:custGeom>
            <a:avLst/>
            <a:gdLst/>
            <a:ahLst/>
            <a:cxnLst/>
            <a:rect l="l" t="t" r="r" b="b"/>
            <a:pathLst>
              <a:path w="400050" h="355600" extrusionOk="0">
                <a:moveTo>
                  <a:pt x="117793" y="106541"/>
                </a:moveTo>
                <a:lnTo>
                  <a:pt x="104805" y="93553"/>
                </a:lnTo>
                <a:cubicBezTo>
                  <a:pt x="96123" y="84872"/>
                  <a:pt x="96123" y="70773"/>
                  <a:pt x="104805" y="62091"/>
                </a:cubicBezTo>
                <a:lnTo>
                  <a:pt x="184468" y="-17641"/>
                </a:lnTo>
                <a:cubicBezTo>
                  <a:pt x="193149" y="-26323"/>
                  <a:pt x="207248" y="-26323"/>
                  <a:pt x="215930" y="-17641"/>
                </a:cubicBezTo>
                <a:lnTo>
                  <a:pt x="228918" y="-4584"/>
                </a:lnTo>
                <a:cubicBezTo>
                  <a:pt x="237599" y="4098"/>
                  <a:pt x="237599" y="18197"/>
                  <a:pt x="228918" y="26878"/>
                </a:cubicBezTo>
                <a:lnTo>
                  <a:pt x="149255" y="106541"/>
                </a:lnTo>
                <a:cubicBezTo>
                  <a:pt x="140573" y="115223"/>
                  <a:pt x="126474" y="115223"/>
                  <a:pt x="117793" y="106541"/>
                </a:cubicBezTo>
                <a:close/>
                <a:moveTo>
                  <a:pt x="191691" y="147032"/>
                </a:moveTo>
                <a:lnTo>
                  <a:pt x="169882" y="125224"/>
                </a:lnTo>
                <a:lnTo>
                  <a:pt x="247670" y="47436"/>
                </a:lnTo>
                <a:lnTo>
                  <a:pt x="330597" y="130364"/>
                </a:lnTo>
                <a:lnTo>
                  <a:pt x="252809" y="208151"/>
                </a:lnTo>
                <a:lnTo>
                  <a:pt x="231001" y="186343"/>
                </a:lnTo>
                <a:lnTo>
                  <a:pt x="69870" y="347474"/>
                </a:lnTo>
                <a:cubicBezTo>
                  <a:pt x="59035" y="358309"/>
                  <a:pt x="41464" y="358309"/>
                  <a:pt x="30559" y="347474"/>
                </a:cubicBezTo>
                <a:cubicBezTo>
                  <a:pt x="19655" y="336639"/>
                  <a:pt x="19725" y="319068"/>
                  <a:pt x="30559" y="308164"/>
                </a:cubicBezTo>
                <a:lnTo>
                  <a:pt x="191691" y="147032"/>
                </a:lnTo>
                <a:close/>
                <a:moveTo>
                  <a:pt x="271492" y="260171"/>
                </a:moveTo>
                <a:cubicBezTo>
                  <a:pt x="262811" y="251490"/>
                  <a:pt x="262811" y="237391"/>
                  <a:pt x="271492" y="228709"/>
                </a:cubicBezTo>
                <a:lnTo>
                  <a:pt x="351155" y="149046"/>
                </a:lnTo>
                <a:cubicBezTo>
                  <a:pt x="359837" y="140365"/>
                  <a:pt x="373936" y="140365"/>
                  <a:pt x="382617" y="149046"/>
                </a:cubicBezTo>
                <a:lnTo>
                  <a:pt x="395605" y="162034"/>
                </a:lnTo>
                <a:cubicBezTo>
                  <a:pt x="404287" y="170716"/>
                  <a:pt x="404287" y="184815"/>
                  <a:pt x="395605" y="193496"/>
                </a:cubicBezTo>
                <a:lnTo>
                  <a:pt x="315942" y="273229"/>
                </a:lnTo>
                <a:cubicBezTo>
                  <a:pt x="307261" y="281910"/>
                  <a:pt x="293162" y="281910"/>
                  <a:pt x="284480" y="273229"/>
                </a:cubicBezTo>
                <a:lnTo>
                  <a:pt x="271492" y="260241"/>
                </a:lnTo>
                <a:close/>
              </a:path>
            </a:pathLst>
          </a:custGeom>
          <a:solidFill>
            <a:srgbClr val="04B0FF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lang="pt-BR" sz="1350" noProof="0" dirty="0"/>
          </a:p>
        </p:txBody>
      </p:sp>
      <p:sp>
        <p:nvSpPr>
          <p:cNvPr id="71" name="Google Shape;188;p10">
            <a:extLst>
              <a:ext uri="{FF2B5EF4-FFF2-40B4-BE49-F238E27FC236}">
                <a16:creationId xmlns:a16="http://schemas.microsoft.com/office/drawing/2014/main" id="{F3D3F1DC-FEF8-1140-0350-35F0AA2A257B}"/>
              </a:ext>
            </a:extLst>
          </p:cNvPr>
          <p:cNvSpPr/>
          <p:nvPr/>
        </p:nvSpPr>
        <p:spPr>
          <a:xfrm>
            <a:off x="6482890" y="4378196"/>
            <a:ext cx="5026850" cy="947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>
              <a:lnSpc>
                <a:spcPct val="140000"/>
              </a:lnSpc>
            </a:pPr>
            <a:r>
              <a:rPr lang="pt-BR" sz="1400" b="1" noProof="0" dirty="0">
                <a:solidFill>
                  <a:srgbClr val="444444"/>
                </a:solidFill>
                <a:ea typeface="Liter"/>
                <a:cs typeface="Segoe UI" panose="020B0502040204020203" pitchFamily="34" charset="0"/>
                <a:sym typeface="Liter"/>
              </a:rPr>
              <a:t>Risco de invalidade futura:</a:t>
            </a:r>
            <a:r>
              <a:rPr lang="pt-BR" sz="1400" noProof="0" dirty="0">
                <a:solidFill>
                  <a:srgbClr val="444444"/>
                </a:solidFill>
                <a:ea typeface="Liter"/>
                <a:cs typeface="Segoe UI" panose="020B0502040204020203" pitchFamily="34" charset="0"/>
                <a:sym typeface="Liter"/>
              </a:rPr>
              <a:t> reclassificação unilateral do aterro em bem reversível futuramente geraria litígio sobre equilíbrio econômico-financeiro</a:t>
            </a:r>
            <a:endParaRPr lang="pt-BR" sz="1400" noProof="0" dirty="0">
              <a:solidFill>
                <a:srgbClr val="444444"/>
              </a:solidFill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484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60078-5327-6D1C-BCE5-7F9DDF70E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Logotipo&#10;&#10;Descrição gerada automaticamente">
            <a:extLst>
              <a:ext uri="{FF2B5EF4-FFF2-40B4-BE49-F238E27FC236}">
                <a16:creationId xmlns:a16="http://schemas.microsoft.com/office/drawing/2014/main" id="{8A280990-CDA7-09B0-84BD-123159F364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8615" y="0"/>
            <a:ext cx="1123385" cy="1123385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915F941C-77BC-DC18-76D8-627B2AE061B6}"/>
              </a:ext>
            </a:extLst>
          </p:cNvPr>
          <p:cNvSpPr txBox="1"/>
          <p:nvPr/>
        </p:nvSpPr>
        <p:spPr>
          <a:xfrm>
            <a:off x="382139" y="162904"/>
            <a:ext cx="107926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pt-BR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>
              <a:defRPr sz="3600" b="1">
                <a:solidFill>
                  <a:srgbClr val="04B0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atin typeface="+mn-lt"/>
              </a:rPr>
              <a:t>Irreversibilidade do aterro sanitário</a:t>
            </a:r>
          </a:p>
        </p:txBody>
      </p:sp>
      <p:sp>
        <p:nvSpPr>
          <p:cNvPr id="2" name="Google Shape;211;p10">
            <a:extLst>
              <a:ext uri="{FF2B5EF4-FFF2-40B4-BE49-F238E27FC236}">
                <a16:creationId xmlns:a16="http://schemas.microsoft.com/office/drawing/2014/main" id="{ADC70A0C-F76A-C6A0-102D-9570026EEB74}"/>
              </a:ext>
            </a:extLst>
          </p:cNvPr>
          <p:cNvSpPr/>
          <p:nvPr/>
        </p:nvSpPr>
        <p:spPr>
          <a:xfrm>
            <a:off x="771409" y="1286289"/>
            <a:ext cx="10649182" cy="4411984"/>
          </a:xfrm>
          <a:custGeom>
            <a:avLst/>
            <a:gdLst/>
            <a:ahLst/>
            <a:cxnLst/>
            <a:rect l="l" t="t" r="r" b="b"/>
            <a:pathLst>
              <a:path w="11458384" h="3537077" extrusionOk="0">
                <a:moveTo>
                  <a:pt x="69868" y="0"/>
                </a:moveTo>
                <a:lnTo>
                  <a:pt x="11318634" y="0"/>
                </a:lnTo>
                <a:cubicBezTo>
                  <a:pt x="11395816" y="0"/>
                  <a:pt x="11458384" y="62568"/>
                  <a:pt x="11458384" y="139750"/>
                </a:cubicBezTo>
                <a:lnTo>
                  <a:pt x="11458384" y="3397327"/>
                </a:lnTo>
                <a:cubicBezTo>
                  <a:pt x="11458384" y="3474509"/>
                  <a:pt x="11395816" y="3537077"/>
                  <a:pt x="11318634" y="3537077"/>
                </a:cubicBezTo>
                <a:lnTo>
                  <a:pt x="69868" y="3537077"/>
                </a:lnTo>
                <a:cubicBezTo>
                  <a:pt x="31281" y="3537077"/>
                  <a:pt x="0" y="3505796"/>
                  <a:pt x="0" y="3467209"/>
                </a:cubicBezTo>
                <a:lnTo>
                  <a:pt x="0" y="69868"/>
                </a:lnTo>
                <a:cubicBezTo>
                  <a:pt x="0" y="31307"/>
                  <a:pt x="31307" y="0"/>
                  <a:pt x="69868" y="0"/>
                </a:cubicBezTo>
                <a:close/>
              </a:path>
            </a:pathLst>
          </a:custGeom>
          <a:solidFill>
            <a:schemeClr val="bg1">
              <a:lumMod val="85000"/>
              <a:alpha val="20000"/>
            </a:schemeClr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F7DD258D-A9F0-F5BC-E915-56D24B18DD17}"/>
              </a:ext>
            </a:extLst>
          </p:cNvPr>
          <p:cNvSpPr/>
          <p:nvPr/>
        </p:nvSpPr>
        <p:spPr>
          <a:xfrm>
            <a:off x="1401972" y="2829964"/>
            <a:ext cx="4125860" cy="6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endParaRPr lang="pt-BR" sz="2400" b="1" noProof="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9B820DDF-E3AF-7694-EDC9-32AF1B0264B7}"/>
              </a:ext>
            </a:extLst>
          </p:cNvPr>
          <p:cNvSpPr/>
          <p:nvPr/>
        </p:nvSpPr>
        <p:spPr>
          <a:xfrm>
            <a:off x="1741062" y="1554164"/>
            <a:ext cx="4358709" cy="243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>
              <a:lnSpc>
                <a:spcPct val="110000"/>
              </a:lnSpc>
            </a:pPr>
            <a:r>
              <a:rPr lang="pt-BR" sz="2800" b="1" noProof="0" dirty="0">
                <a:solidFill>
                  <a:srgbClr val="04B0FF"/>
                </a:solidFill>
                <a:ea typeface="Noto Sans SC" pitchFamily="34" charset="-122"/>
                <a:cs typeface="Segoe UI" panose="020B0502040204020203" pitchFamily="34" charset="0"/>
              </a:rPr>
              <a:t>Providências mitigadoras</a:t>
            </a:r>
            <a:endParaRPr lang="pt-BR" sz="2800" noProof="0" dirty="0">
              <a:solidFill>
                <a:srgbClr val="04B0FF"/>
              </a:solidFill>
              <a:cs typeface="Segoe UI" panose="020B0502040204020203" pitchFamily="34" charset="0"/>
            </a:endParaRPr>
          </a:p>
        </p:txBody>
      </p:sp>
      <p:sp>
        <p:nvSpPr>
          <p:cNvPr id="6" name="Shape 15">
            <a:extLst>
              <a:ext uri="{FF2B5EF4-FFF2-40B4-BE49-F238E27FC236}">
                <a16:creationId xmlns:a16="http://schemas.microsoft.com/office/drawing/2014/main" id="{8982E398-F2AC-3C6C-372A-BB5DB3CDEF19}"/>
              </a:ext>
            </a:extLst>
          </p:cNvPr>
          <p:cNvSpPr/>
          <p:nvPr/>
        </p:nvSpPr>
        <p:spPr>
          <a:xfrm>
            <a:off x="1094007" y="1508317"/>
            <a:ext cx="400340" cy="378746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04B0F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" name="Shape 10">
            <a:extLst>
              <a:ext uri="{FF2B5EF4-FFF2-40B4-BE49-F238E27FC236}">
                <a16:creationId xmlns:a16="http://schemas.microsoft.com/office/drawing/2014/main" id="{06D54AFC-AC2A-4B49-5C25-5A4B99F09251}"/>
              </a:ext>
            </a:extLst>
          </p:cNvPr>
          <p:cNvSpPr/>
          <p:nvPr/>
        </p:nvSpPr>
        <p:spPr>
          <a:xfrm>
            <a:off x="1142596" y="2318111"/>
            <a:ext cx="291185" cy="29145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04B0F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F9F3D6F-C644-E313-64AA-1C9984F4C8B5}"/>
              </a:ext>
            </a:extLst>
          </p:cNvPr>
          <p:cNvSpPr txBox="1"/>
          <p:nvPr/>
        </p:nvSpPr>
        <p:spPr>
          <a:xfrm>
            <a:off x="1512827" y="2188586"/>
            <a:ext cx="972953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dirty="0">
                <a:solidFill>
                  <a:srgbClr val="444444"/>
                </a:solidFill>
                <a:cs typeface="Segoe UI" panose="020B0502040204020203" pitchFamily="34" charset="0"/>
              </a:rPr>
              <a:t>Sugerimos a apresentação de </a:t>
            </a:r>
            <a:r>
              <a:rPr lang="pt-BR" sz="2000" b="1" dirty="0">
                <a:solidFill>
                  <a:srgbClr val="444444"/>
                </a:solidFill>
                <a:cs typeface="Segoe UI" panose="020B0502040204020203" pitchFamily="34" charset="0"/>
              </a:rPr>
              <a:t>pedido de esclarecimento </a:t>
            </a:r>
            <a:r>
              <a:rPr lang="pt-BR" sz="2000" dirty="0">
                <a:solidFill>
                  <a:srgbClr val="444444"/>
                </a:solidFill>
              </a:rPr>
              <a:t>para confirmar se o aterro sanitário, por constituir infraestrutura permanente, imprescindível, essencial e diretamente vinculada à prestação dos serviços objeto da concessão, deverá ser classificado como bem reversível, especialmente considerando sua previsão no CAPEX do projeto e os conceitos de bens reversíveis previstos no Edital, no Contrato, doutrina e jurisprudência.</a:t>
            </a:r>
            <a:endParaRPr lang="pt-BR" sz="2000" dirty="0">
              <a:solidFill>
                <a:srgbClr val="444444"/>
              </a:solidFill>
              <a:cs typeface="Segoe UI" panose="020B0502040204020203" pitchFamily="34" charset="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EC284E69-D86B-30F5-CE00-247C512EA3B8}"/>
              </a:ext>
            </a:extLst>
          </p:cNvPr>
          <p:cNvSpPr/>
          <p:nvPr/>
        </p:nvSpPr>
        <p:spPr>
          <a:xfrm>
            <a:off x="1116474" y="4032314"/>
            <a:ext cx="2643296" cy="6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35051">
              <a:lnSpc>
                <a:spcPct val="110000"/>
              </a:lnSpc>
            </a:pPr>
            <a:endParaRPr lang="pt-BR" sz="1945" noProof="0" dirty="0">
              <a:latin typeface="+mj-lt"/>
            </a:endParaRPr>
          </a:p>
        </p:txBody>
      </p:sp>
      <p:sp>
        <p:nvSpPr>
          <p:cNvPr id="10" name="Google Shape;212;p10">
            <a:extLst>
              <a:ext uri="{FF2B5EF4-FFF2-40B4-BE49-F238E27FC236}">
                <a16:creationId xmlns:a16="http://schemas.microsoft.com/office/drawing/2014/main" id="{D43E29A5-DA81-D213-6730-A13872A7A006}"/>
              </a:ext>
            </a:extLst>
          </p:cNvPr>
          <p:cNvSpPr/>
          <p:nvPr/>
        </p:nvSpPr>
        <p:spPr>
          <a:xfrm>
            <a:off x="689782" y="1289411"/>
            <a:ext cx="87978" cy="4411984"/>
          </a:xfrm>
          <a:custGeom>
            <a:avLst/>
            <a:gdLst/>
            <a:ahLst/>
            <a:cxnLst/>
            <a:rect l="l" t="t" r="r" b="b"/>
            <a:pathLst>
              <a:path w="69868" h="3537077" extrusionOk="0">
                <a:moveTo>
                  <a:pt x="69868" y="0"/>
                </a:moveTo>
                <a:lnTo>
                  <a:pt x="69868" y="0"/>
                </a:lnTo>
                <a:lnTo>
                  <a:pt x="69868" y="3537077"/>
                </a:lnTo>
                <a:lnTo>
                  <a:pt x="69868" y="3537077"/>
                </a:lnTo>
                <a:cubicBezTo>
                  <a:pt x="31281" y="3537077"/>
                  <a:pt x="0" y="3505796"/>
                  <a:pt x="0" y="3467209"/>
                </a:cubicBezTo>
                <a:lnTo>
                  <a:pt x="0" y="69868"/>
                </a:lnTo>
                <a:cubicBezTo>
                  <a:pt x="0" y="31307"/>
                  <a:pt x="31307" y="0"/>
                  <a:pt x="69868" y="0"/>
                </a:cubicBezTo>
                <a:close/>
              </a:path>
            </a:pathLst>
          </a:custGeom>
          <a:solidFill>
            <a:srgbClr val="04B0FF"/>
          </a:solidFill>
          <a:ln>
            <a:noFill/>
          </a:ln>
        </p:spPr>
        <p:txBody>
          <a:bodyPr spcFirstLastPara="1" wrap="square" lIns="63496" tIns="63496" rIns="63496" bIns="63496" anchor="ctr" anchorCtr="0">
            <a:noAutofit/>
          </a:bodyPr>
          <a:lstStyle/>
          <a:p>
            <a:endParaRPr lang="pt-BR" sz="1250" noProof="0" dirty="0"/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C8892D2C-EBDA-6AF7-D8DD-D12010DE285B}"/>
              </a:ext>
            </a:extLst>
          </p:cNvPr>
          <p:cNvSpPr/>
          <p:nvPr/>
        </p:nvSpPr>
        <p:spPr>
          <a:xfrm>
            <a:off x="1711340" y="2414343"/>
            <a:ext cx="4338155" cy="1648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endParaRPr lang="pt-BR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9955BFA-C49C-E576-9F34-FE90D944ACCD}"/>
              </a:ext>
            </a:extLst>
          </p:cNvPr>
          <p:cNvSpPr txBox="1"/>
          <p:nvPr/>
        </p:nvSpPr>
        <p:spPr>
          <a:xfrm>
            <a:off x="1512826" y="4022165"/>
            <a:ext cx="97295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dirty="0">
                <a:solidFill>
                  <a:srgbClr val="444444"/>
                </a:solidFill>
                <a:cs typeface="Segoe UI" panose="020B0502040204020203" pitchFamily="34" charset="0"/>
              </a:rPr>
              <a:t>Sugerimos a apresentação de </a:t>
            </a:r>
            <a:r>
              <a:rPr lang="pt-BR" sz="2000" b="1" dirty="0">
                <a:solidFill>
                  <a:srgbClr val="444444"/>
                </a:solidFill>
                <a:cs typeface="Segoe UI" panose="020B0502040204020203" pitchFamily="34" charset="0"/>
              </a:rPr>
              <a:t>pedido de esclarecimento </a:t>
            </a:r>
            <a:r>
              <a:rPr lang="pt-BR" sz="2000" dirty="0">
                <a:solidFill>
                  <a:srgbClr val="444444"/>
                </a:solidFill>
              </a:rPr>
              <a:t>para abordar expressamente o tema do cabimento de indenização pelos investimentos não amortizados no aterro sanitário em caso de extinção antecipada da concessão.</a:t>
            </a:r>
            <a:endParaRPr lang="pt-BR" sz="2000" dirty="0">
              <a:solidFill>
                <a:srgbClr val="444444"/>
              </a:solidFill>
              <a:cs typeface="Segoe UI" panose="020B0502040204020203" pitchFamily="34" charset="0"/>
            </a:endParaRPr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6D9BB943-DAB1-E755-B042-3550C92789DF}"/>
              </a:ext>
            </a:extLst>
          </p:cNvPr>
          <p:cNvSpPr/>
          <p:nvPr/>
        </p:nvSpPr>
        <p:spPr>
          <a:xfrm>
            <a:off x="1151104" y="4098672"/>
            <a:ext cx="291185" cy="29145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04B0FF"/>
          </a:solidFill>
          <a:ln/>
        </p:spPr>
        <p:txBody>
          <a:bodyPr/>
          <a:lstStyle/>
          <a:p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181023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5DF60-FC00-7042-EAE0-F2923F82F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Conector: Angulado 33">
            <a:extLst>
              <a:ext uri="{FF2B5EF4-FFF2-40B4-BE49-F238E27FC236}">
                <a16:creationId xmlns:a16="http://schemas.microsoft.com/office/drawing/2014/main" id="{2C58704A-142F-03CB-1CC0-AF7A66A047F5}"/>
              </a:ext>
            </a:extLst>
          </p:cNvPr>
          <p:cNvCxnSpPr>
            <a:cxnSpLocks/>
          </p:cNvCxnSpPr>
          <p:nvPr/>
        </p:nvCxnSpPr>
        <p:spPr>
          <a:xfrm rot="16200000" flipH="1">
            <a:off x="-1364625" y="3483041"/>
            <a:ext cx="3919088" cy="371263"/>
          </a:xfrm>
          <a:prstGeom prst="bentConnector3">
            <a:avLst>
              <a:gd name="adj1" fmla="val 100095"/>
            </a:avLst>
          </a:prstGeom>
          <a:ln>
            <a:solidFill>
              <a:srgbClr val="04B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Imagem 12" descr="Logotipo&#10;&#10;Descrição gerada automaticamente">
            <a:extLst>
              <a:ext uri="{FF2B5EF4-FFF2-40B4-BE49-F238E27FC236}">
                <a16:creationId xmlns:a16="http://schemas.microsoft.com/office/drawing/2014/main" id="{E7D29245-1B07-BE6A-7459-E76DEEF1B7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8615" y="0"/>
            <a:ext cx="1123385" cy="1123385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E20B2D3E-E71F-FD5C-68F3-651988391E9C}"/>
              </a:ext>
            </a:extLst>
          </p:cNvPr>
          <p:cNvSpPr txBox="1"/>
          <p:nvPr/>
        </p:nvSpPr>
        <p:spPr>
          <a:xfrm>
            <a:off x="356381" y="120740"/>
            <a:ext cx="107926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pt-BR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>
              <a:defRPr sz="3600" b="1">
                <a:solidFill>
                  <a:srgbClr val="04B0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atin typeface="+mn-lt"/>
              </a:rPr>
              <a:t>Remuneração da Concessionária</a:t>
            </a:r>
          </a:p>
        </p:txBody>
      </p:sp>
      <p:cxnSp>
        <p:nvCxnSpPr>
          <p:cNvPr id="3" name="Conector: Angulado 2">
            <a:extLst>
              <a:ext uri="{FF2B5EF4-FFF2-40B4-BE49-F238E27FC236}">
                <a16:creationId xmlns:a16="http://schemas.microsoft.com/office/drawing/2014/main" id="{0F859814-ED01-56D5-840C-806CD2388803}"/>
              </a:ext>
            </a:extLst>
          </p:cNvPr>
          <p:cNvCxnSpPr>
            <a:cxnSpLocks/>
            <a:endCxn id="46" idx="1"/>
          </p:cNvCxnSpPr>
          <p:nvPr/>
        </p:nvCxnSpPr>
        <p:spPr>
          <a:xfrm rot="16200000" flipH="1">
            <a:off x="-181148" y="2330062"/>
            <a:ext cx="1552834" cy="371960"/>
          </a:xfrm>
          <a:prstGeom prst="bentConnector2">
            <a:avLst/>
          </a:prstGeom>
          <a:ln>
            <a:solidFill>
              <a:srgbClr val="04B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41542D73-84A6-C3A7-177E-ECF81A94A7FE}"/>
              </a:ext>
            </a:extLst>
          </p:cNvPr>
          <p:cNvSpPr/>
          <p:nvPr/>
        </p:nvSpPr>
        <p:spPr>
          <a:xfrm>
            <a:off x="302593" y="968493"/>
            <a:ext cx="4229191" cy="794991"/>
          </a:xfrm>
          <a:prstGeom prst="roundRect">
            <a:avLst/>
          </a:prstGeom>
          <a:solidFill>
            <a:srgbClr val="04B0FF"/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50" noProof="0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0B7C7647-35A1-3C0B-204C-C01256EF4298}"/>
              </a:ext>
            </a:extLst>
          </p:cNvPr>
          <p:cNvSpPr/>
          <p:nvPr/>
        </p:nvSpPr>
        <p:spPr>
          <a:xfrm>
            <a:off x="5718264" y="968493"/>
            <a:ext cx="6019721" cy="542427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 sz="1945" b="1" noProof="0" dirty="0">
              <a:solidFill>
                <a:schemeClr val="bg2"/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AA5FD02-DCC3-BB9E-CFA2-9AE2AEC43C0A}"/>
              </a:ext>
            </a:extLst>
          </p:cNvPr>
          <p:cNvSpPr/>
          <p:nvPr/>
        </p:nvSpPr>
        <p:spPr>
          <a:xfrm>
            <a:off x="1111171" y="1000248"/>
            <a:ext cx="3305039" cy="686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pt-BR" sz="2400" b="1" dirty="0">
                <a:solidFill>
                  <a:schemeClr val="bg1"/>
                </a:solidFill>
                <a:latin typeface="+mj-lt"/>
                <a:cs typeface="Segoe UI" panose="020B0502040204020203" pitchFamily="34" charset="0"/>
              </a:rPr>
              <a:t>Sistema tarifário</a:t>
            </a:r>
            <a:endParaRPr lang="pt-BR" sz="2400" b="1" noProof="0" dirty="0">
              <a:solidFill>
                <a:schemeClr val="bg1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FB607EBC-F046-2310-8E8A-7EF33D18DD22}"/>
              </a:ext>
            </a:extLst>
          </p:cNvPr>
          <p:cNvSpPr/>
          <p:nvPr/>
        </p:nvSpPr>
        <p:spPr>
          <a:xfrm>
            <a:off x="461580" y="1107329"/>
            <a:ext cx="490604" cy="475231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chemeClr val="bg2">
              <a:alpha val="20000"/>
            </a:schemeClr>
          </a:solidFill>
          <a:ln/>
        </p:spPr>
        <p:txBody>
          <a:bodyPr/>
          <a:lstStyle/>
          <a:p>
            <a:endParaRPr lang="pt-BR" sz="1250" noProof="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C83D2182-4B55-D9C9-1532-A9B1262CA6A2}"/>
              </a:ext>
            </a:extLst>
          </p:cNvPr>
          <p:cNvSpPr/>
          <p:nvPr/>
        </p:nvSpPr>
        <p:spPr>
          <a:xfrm>
            <a:off x="6694642" y="1133929"/>
            <a:ext cx="4353275" cy="686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defRPr/>
            </a:pPr>
            <a:r>
              <a:rPr lang="pt-BR" sz="2400" b="1" noProof="0" dirty="0">
                <a:solidFill>
                  <a:srgbClr val="04B0F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Impactos da Regra Contratual</a:t>
            </a: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61797D58-E4B0-4A9C-491B-161DB4050123}"/>
              </a:ext>
            </a:extLst>
          </p:cNvPr>
          <p:cNvSpPr/>
          <p:nvPr/>
        </p:nvSpPr>
        <p:spPr>
          <a:xfrm>
            <a:off x="6101045" y="1277402"/>
            <a:ext cx="425676" cy="450128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4B0FF"/>
          </a:solidFill>
          <a:ln/>
        </p:spPr>
        <p:txBody>
          <a:bodyPr/>
          <a:lstStyle/>
          <a:p>
            <a:endParaRPr lang="pt-BR" sz="1250" noProof="0" dirty="0"/>
          </a:p>
        </p:txBody>
      </p:sp>
      <p:pic>
        <p:nvPicPr>
          <p:cNvPr id="42" name="Gráfico 41" descr="Lista de Verificação com preenchimento sólido">
            <a:extLst>
              <a:ext uri="{FF2B5EF4-FFF2-40B4-BE49-F238E27FC236}">
                <a16:creationId xmlns:a16="http://schemas.microsoft.com/office/drawing/2014/main" id="{DAFE18FB-C4D0-2380-758A-2D4ECE8884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16494" y="1295713"/>
            <a:ext cx="394778" cy="394778"/>
          </a:xfrm>
          <a:prstGeom prst="rect">
            <a:avLst/>
          </a:prstGeom>
        </p:spPr>
      </p:pic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B669B593-9C86-E119-DD01-3449F669B81A}"/>
              </a:ext>
            </a:extLst>
          </p:cNvPr>
          <p:cNvSpPr/>
          <p:nvPr/>
        </p:nvSpPr>
        <p:spPr>
          <a:xfrm>
            <a:off x="781249" y="2258335"/>
            <a:ext cx="4743794" cy="2068247"/>
          </a:xfrm>
          <a:prstGeom prst="roundRect">
            <a:avLst/>
          </a:prstGeom>
          <a:noFill/>
          <a:ln>
            <a:solidFill>
              <a:srgbClr val="04B0F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50" noProof="0" dirty="0"/>
          </a:p>
        </p:txBody>
      </p:sp>
      <p:sp>
        <p:nvSpPr>
          <p:cNvPr id="55" name="Text 10">
            <a:extLst>
              <a:ext uri="{FF2B5EF4-FFF2-40B4-BE49-F238E27FC236}">
                <a16:creationId xmlns:a16="http://schemas.microsoft.com/office/drawing/2014/main" id="{42963BAE-121D-9A6B-94A3-167931CAA3D2}"/>
              </a:ext>
            </a:extLst>
          </p:cNvPr>
          <p:cNvSpPr/>
          <p:nvPr/>
        </p:nvSpPr>
        <p:spPr>
          <a:xfrm>
            <a:off x="873960" y="2628059"/>
            <a:ext cx="4424300" cy="1434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lvl="0" indent="-28575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sz="1400" dirty="0">
                <a:solidFill>
                  <a:srgbClr val="444444"/>
                </a:solidFill>
                <a:cs typeface="Segoe UI" panose="020B0502040204020203" pitchFamily="34" charset="0"/>
              </a:rPr>
              <a:t>A Tarifa de Resíduos Sólidos Domésticos (RSD) será cobrada com base no </a:t>
            </a:r>
            <a:r>
              <a:rPr lang="pt-BR" altLang="pt-BR" sz="1400" b="1" dirty="0">
                <a:solidFill>
                  <a:srgbClr val="444444"/>
                </a:solidFill>
                <a:cs typeface="Segoe UI" panose="020B0502040204020203" pitchFamily="34" charset="0"/>
              </a:rPr>
              <a:t>volume faturado de água </a:t>
            </a:r>
            <a:r>
              <a:rPr lang="pt-BR" altLang="pt-BR" sz="1400" dirty="0">
                <a:solidFill>
                  <a:srgbClr val="444444"/>
                </a:solidFill>
                <a:cs typeface="Segoe UI" panose="020B0502040204020203" pitchFamily="34" charset="0"/>
              </a:rPr>
              <a:t>dos usuários (item 3.1 do Anexo 4 do Contrato e item 1.2 do Anexo 5 do Edital).</a:t>
            </a:r>
          </a:p>
          <a:p>
            <a:pPr marL="285750" indent="-28575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sz="1400" dirty="0">
                <a:solidFill>
                  <a:srgbClr val="444444"/>
                </a:solidFill>
                <a:cs typeface="Segoe UI" panose="020B0502040204020203" pitchFamily="34" charset="0"/>
              </a:rPr>
              <a:t>A Tarifa de Resíduos de Limpeza Urbana (RPU) será cobrada do Município considerado o valor de R$ 223,67 por tonelada de resíduo (item 4.1 do Anexo 4 do Contrato). </a:t>
            </a:r>
          </a:p>
        </p:txBody>
      </p:sp>
      <p:sp>
        <p:nvSpPr>
          <p:cNvPr id="62" name="Google Shape;179;p10">
            <a:extLst>
              <a:ext uri="{FF2B5EF4-FFF2-40B4-BE49-F238E27FC236}">
                <a16:creationId xmlns:a16="http://schemas.microsoft.com/office/drawing/2014/main" id="{75978686-7DF3-C3FF-906C-C9539A0F85D2}"/>
              </a:ext>
            </a:extLst>
          </p:cNvPr>
          <p:cNvSpPr/>
          <p:nvPr/>
        </p:nvSpPr>
        <p:spPr>
          <a:xfrm>
            <a:off x="6705796" y="1911810"/>
            <a:ext cx="4833838" cy="686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>
              <a:lnSpc>
                <a:spcPct val="140000"/>
              </a:lnSpc>
            </a:pPr>
            <a:r>
              <a:rPr lang="pt-BR" sz="1400" b="1" dirty="0">
                <a:solidFill>
                  <a:srgbClr val="444444"/>
                </a:solidFill>
                <a:cs typeface="Segoe UI" panose="020B0502040204020203" pitchFamily="34" charset="0"/>
                <a:sym typeface="Liter"/>
              </a:rPr>
              <a:t>Dependência de terceiro para faturamento: </a:t>
            </a:r>
            <a:r>
              <a:rPr lang="pt-BR" sz="1400" dirty="0">
                <a:solidFill>
                  <a:srgbClr val="444444"/>
                </a:solidFill>
                <a:cs typeface="Segoe UI" panose="020B0502040204020203" pitchFamily="34" charset="0"/>
                <a:sym typeface="Liter"/>
              </a:rPr>
              <a:t>condicionamento da cobrança da RSD ao fornecimento de dados pelo prestador do serviço de água, reduzindo a autonomia operacional da Concessionária de resíduos.</a:t>
            </a:r>
            <a:endParaRPr lang="pt-BR" sz="1400" noProof="0" dirty="0">
              <a:solidFill>
                <a:srgbClr val="444444"/>
              </a:solidFill>
              <a:cs typeface="Segoe UI" panose="020B0502040204020203" pitchFamily="34" charset="0"/>
            </a:endParaRPr>
          </a:p>
        </p:txBody>
      </p:sp>
      <p:sp>
        <p:nvSpPr>
          <p:cNvPr id="65" name="Google Shape;182;p10">
            <a:extLst>
              <a:ext uri="{FF2B5EF4-FFF2-40B4-BE49-F238E27FC236}">
                <a16:creationId xmlns:a16="http://schemas.microsoft.com/office/drawing/2014/main" id="{F03A733A-8BD5-FB00-F35D-68FA447D5A6F}"/>
              </a:ext>
            </a:extLst>
          </p:cNvPr>
          <p:cNvSpPr/>
          <p:nvPr/>
        </p:nvSpPr>
        <p:spPr>
          <a:xfrm>
            <a:off x="6705797" y="3230166"/>
            <a:ext cx="4833838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just">
              <a:lnSpc>
                <a:spcPct val="140000"/>
              </a:lnSpc>
            </a:pPr>
            <a:r>
              <a:rPr lang="pt-BR" sz="1400" b="1" dirty="0">
                <a:solidFill>
                  <a:srgbClr val="444444"/>
                </a:solidFill>
                <a:ea typeface="Liter"/>
                <a:cs typeface="Segoe UI" panose="020B0502040204020203" pitchFamily="34" charset="0"/>
                <a:sym typeface="Liter"/>
              </a:rPr>
              <a:t>Assimetria de controle da base de cálculo: </a:t>
            </a:r>
            <a:r>
              <a:rPr lang="pt-BR" sz="1400" dirty="0">
                <a:solidFill>
                  <a:srgbClr val="444444"/>
                </a:solidFill>
                <a:ea typeface="Liter"/>
                <a:cs typeface="Segoe UI" panose="020B0502040204020203" pitchFamily="34" charset="0"/>
                <a:sym typeface="Liter"/>
              </a:rPr>
              <a:t>impossibilidade de verificação integral do volume faturado de água, que é utilizado como base para a RSD.</a:t>
            </a:r>
            <a:endParaRPr lang="pt-BR" sz="1400" dirty="0">
              <a:solidFill>
                <a:srgbClr val="444444"/>
              </a:solidFill>
              <a:cs typeface="Segoe UI" panose="020B0502040204020203" pitchFamily="34" charset="0"/>
            </a:endParaRPr>
          </a:p>
        </p:txBody>
      </p:sp>
      <p:sp>
        <p:nvSpPr>
          <p:cNvPr id="16" name="Google Shape;234;p12">
            <a:extLst>
              <a:ext uri="{FF2B5EF4-FFF2-40B4-BE49-F238E27FC236}">
                <a16:creationId xmlns:a16="http://schemas.microsoft.com/office/drawing/2014/main" id="{53F9E59B-D480-8061-D983-776F58495AEE}"/>
              </a:ext>
            </a:extLst>
          </p:cNvPr>
          <p:cNvSpPr/>
          <p:nvPr/>
        </p:nvSpPr>
        <p:spPr>
          <a:xfrm>
            <a:off x="2055597" y="4404682"/>
            <a:ext cx="249052" cy="256989"/>
          </a:xfrm>
          <a:custGeom>
            <a:avLst/>
            <a:gdLst/>
            <a:ahLst/>
            <a:cxnLst/>
            <a:rect l="l" t="t" r="r" b="b"/>
            <a:pathLst>
              <a:path w="355600" h="355600" extrusionOk="0">
                <a:moveTo>
                  <a:pt x="0" y="88900"/>
                </a:moveTo>
                <a:lnTo>
                  <a:pt x="0" y="111125"/>
                </a:lnTo>
                <a:lnTo>
                  <a:pt x="355600" y="111125"/>
                </a:lnTo>
                <a:lnTo>
                  <a:pt x="355600" y="88900"/>
                </a:lnTo>
                <a:cubicBezTo>
                  <a:pt x="355600" y="64383"/>
                  <a:pt x="335667" y="44450"/>
                  <a:pt x="311150" y="44450"/>
                </a:cubicBezTo>
                <a:lnTo>
                  <a:pt x="44450" y="44450"/>
                </a:lnTo>
                <a:cubicBezTo>
                  <a:pt x="19933" y="44450"/>
                  <a:pt x="0" y="64383"/>
                  <a:pt x="0" y="88900"/>
                </a:cubicBezTo>
                <a:close/>
                <a:moveTo>
                  <a:pt x="0" y="144463"/>
                </a:moveTo>
                <a:lnTo>
                  <a:pt x="0" y="266700"/>
                </a:lnTo>
                <a:cubicBezTo>
                  <a:pt x="0" y="291217"/>
                  <a:pt x="19933" y="311150"/>
                  <a:pt x="44450" y="311150"/>
                </a:cubicBezTo>
                <a:lnTo>
                  <a:pt x="311150" y="311150"/>
                </a:lnTo>
                <a:cubicBezTo>
                  <a:pt x="335667" y="311150"/>
                  <a:pt x="355600" y="291217"/>
                  <a:pt x="355600" y="266700"/>
                </a:cubicBezTo>
                <a:lnTo>
                  <a:pt x="355600" y="144463"/>
                </a:lnTo>
                <a:lnTo>
                  <a:pt x="0" y="144463"/>
                </a:lnTo>
                <a:close/>
                <a:moveTo>
                  <a:pt x="44450" y="250031"/>
                </a:moveTo>
                <a:cubicBezTo>
                  <a:pt x="44450" y="240794"/>
                  <a:pt x="51881" y="233363"/>
                  <a:pt x="61119" y="233363"/>
                </a:cubicBezTo>
                <a:lnTo>
                  <a:pt x="94456" y="233363"/>
                </a:lnTo>
                <a:cubicBezTo>
                  <a:pt x="103694" y="233363"/>
                  <a:pt x="111125" y="240794"/>
                  <a:pt x="111125" y="250031"/>
                </a:cubicBezTo>
                <a:cubicBezTo>
                  <a:pt x="111125" y="259269"/>
                  <a:pt x="103694" y="266700"/>
                  <a:pt x="94456" y="266700"/>
                </a:cubicBezTo>
                <a:lnTo>
                  <a:pt x="61119" y="266700"/>
                </a:lnTo>
                <a:cubicBezTo>
                  <a:pt x="51881" y="266700"/>
                  <a:pt x="44450" y="259269"/>
                  <a:pt x="44450" y="250031"/>
                </a:cubicBezTo>
                <a:close/>
                <a:moveTo>
                  <a:pt x="144463" y="250031"/>
                </a:moveTo>
                <a:cubicBezTo>
                  <a:pt x="144463" y="240794"/>
                  <a:pt x="151894" y="233363"/>
                  <a:pt x="161131" y="233363"/>
                </a:cubicBezTo>
                <a:lnTo>
                  <a:pt x="205581" y="233363"/>
                </a:lnTo>
                <a:cubicBezTo>
                  <a:pt x="214819" y="233363"/>
                  <a:pt x="222250" y="240794"/>
                  <a:pt x="222250" y="250031"/>
                </a:cubicBezTo>
                <a:cubicBezTo>
                  <a:pt x="222250" y="259269"/>
                  <a:pt x="214819" y="266700"/>
                  <a:pt x="205581" y="266700"/>
                </a:cubicBezTo>
                <a:lnTo>
                  <a:pt x="161131" y="266700"/>
                </a:lnTo>
                <a:cubicBezTo>
                  <a:pt x="151894" y="266700"/>
                  <a:pt x="144463" y="259269"/>
                  <a:pt x="144463" y="250031"/>
                </a:cubicBezTo>
                <a:close/>
              </a:path>
            </a:pathLst>
          </a:custGeom>
          <a:solidFill>
            <a:srgbClr val="0C53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8" name="Google Shape;213;p10">
            <a:extLst>
              <a:ext uri="{FF2B5EF4-FFF2-40B4-BE49-F238E27FC236}">
                <a16:creationId xmlns:a16="http://schemas.microsoft.com/office/drawing/2014/main" id="{81593579-9F5A-3F6C-5A50-412F04896FB6}"/>
              </a:ext>
            </a:extLst>
          </p:cNvPr>
          <p:cNvSpPr/>
          <p:nvPr/>
        </p:nvSpPr>
        <p:spPr>
          <a:xfrm>
            <a:off x="834511" y="2064728"/>
            <a:ext cx="3614962" cy="376137"/>
          </a:xfrm>
          <a:custGeom>
            <a:avLst/>
            <a:gdLst/>
            <a:ahLst/>
            <a:cxnLst/>
            <a:rect l="l" t="t" r="r" b="b"/>
            <a:pathLst>
              <a:path w="2113513" h="454143" extrusionOk="0">
                <a:moveTo>
                  <a:pt x="69870" y="0"/>
                </a:moveTo>
                <a:lnTo>
                  <a:pt x="2043643" y="0"/>
                </a:lnTo>
                <a:cubicBezTo>
                  <a:pt x="2082231" y="0"/>
                  <a:pt x="2113513" y="31282"/>
                  <a:pt x="2113513" y="69870"/>
                </a:cubicBezTo>
                <a:lnTo>
                  <a:pt x="2113513" y="384273"/>
                </a:lnTo>
                <a:cubicBezTo>
                  <a:pt x="2113513" y="422861"/>
                  <a:pt x="2082231" y="454143"/>
                  <a:pt x="2043643" y="454143"/>
                </a:cubicBezTo>
                <a:lnTo>
                  <a:pt x="69870" y="454143"/>
                </a:lnTo>
                <a:cubicBezTo>
                  <a:pt x="31308" y="454143"/>
                  <a:pt x="0" y="422836"/>
                  <a:pt x="0" y="384273"/>
                </a:cubicBezTo>
                <a:lnTo>
                  <a:pt x="0" y="69870"/>
                </a:lnTo>
                <a:cubicBezTo>
                  <a:pt x="0" y="31308"/>
                  <a:pt x="31308" y="0"/>
                  <a:pt x="69870" y="0"/>
                </a:cubicBezTo>
                <a:close/>
              </a:path>
            </a:pathLst>
          </a:custGeom>
          <a:solidFill>
            <a:srgbClr val="04B0FF"/>
          </a:solidFill>
          <a:ln>
            <a:noFill/>
          </a:ln>
        </p:spPr>
        <p:txBody>
          <a:bodyPr spcFirstLastPara="1" wrap="square" lIns="63496" tIns="63496" rIns="63496" bIns="63496" anchor="ctr" anchorCtr="0">
            <a:noAutofit/>
          </a:bodyPr>
          <a:lstStyle/>
          <a:p>
            <a:endParaRPr lang="pt-BR" sz="1250" noProof="0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9C323370-3ABF-8EAA-28D6-BF2A127C7220}"/>
              </a:ext>
            </a:extLst>
          </p:cNvPr>
          <p:cNvSpPr txBox="1"/>
          <p:nvPr/>
        </p:nvSpPr>
        <p:spPr>
          <a:xfrm>
            <a:off x="874310" y="2096752"/>
            <a:ext cx="3439400" cy="323165"/>
          </a:xfrm>
          <a:prstGeom prst="rect">
            <a:avLst/>
          </a:prstGeom>
          <a:solidFill>
            <a:srgbClr val="04B0FF"/>
          </a:solidFill>
        </p:spPr>
        <p:txBody>
          <a:bodyPr wrap="square">
            <a:spAutoFit/>
          </a:bodyPr>
          <a:lstStyle/>
          <a:p>
            <a:r>
              <a:rPr lang="pt-BR" sz="1500" b="1" noProof="0" dirty="0">
                <a:solidFill>
                  <a:schemeClr val="bg1"/>
                </a:solidFill>
                <a:cs typeface="Segoe UI" panose="020B0502040204020203" pitchFamily="34" charset="0"/>
              </a:rPr>
              <a:t>Tarifas de RSD e RPU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A64FA8CF-614D-226A-7525-4814BA1A4DDC}"/>
              </a:ext>
            </a:extLst>
          </p:cNvPr>
          <p:cNvSpPr/>
          <p:nvPr/>
        </p:nvSpPr>
        <p:spPr>
          <a:xfrm>
            <a:off x="781248" y="4512768"/>
            <a:ext cx="4664082" cy="1879997"/>
          </a:xfrm>
          <a:prstGeom prst="roundRect">
            <a:avLst/>
          </a:prstGeom>
          <a:noFill/>
          <a:ln>
            <a:solidFill>
              <a:srgbClr val="04B0F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50" noProof="0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3EE72E98-B892-57AA-1058-7300DF12A491}"/>
              </a:ext>
            </a:extLst>
          </p:cNvPr>
          <p:cNvSpPr/>
          <p:nvPr/>
        </p:nvSpPr>
        <p:spPr>
          <a:xfrm>
            <a:off x="905079" y="4964392"/>
            <a:ext cx="4379046" cy="1434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lvl="0" indent="-28575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sz="1400" dirty="0">
                <a:solidFill>
                  <a:srgbClr val="444444"/>
                </a:solidFill>
                <a:cs typeface="Segoe UI" panose="020B0502040204020203" pitchFamily="34" charset="0"/>
              </a:rPr>
              <a:t>O item 1.2.6 do Anexo 4 do Contrato indica que a emissão das faturas e a cobrança das tarifas serão efetuadas exclusivamente pela Concessionária. Nesse modelo, a Concessionária depende do compartilhamento de dados pela prestadora do serviço de água para cobrança da Tarifa de RSD.</a:t>
            </a:r>
            <a:endParaRPr lang="pt-BR" sz="1400" dirty="0">
              <a:solidFill>
                <a:srgbClr val="444444"/>
              </a:solidFill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67" noProof="0" dirty="0">
              <a:solidFill>
                <a:srgbClr val="16558B"/>
              </a:solidFill>
            </a:endParaRPr>
          </a:p>
        </p:txBody>
      </p:sp>
      <p:sp>
        <p:nvSpPr>
          <p:cNvPr id="32" name="Google Shape;213;p10">
            <a:extLst>
              <a:ext uri="{FF2B5EF4-FFF2-40B4-BE49-F238E27FC236}">
                <a16:creationId xmlns:a16="http://schemas.microsoft.com/office/drawing/2014/main" id="{8852B31B-0224-B9AD-03AC-C3F78A7B3B25}"/>
              </a:ext>
            </a:extLst>
          </p:cNvPr>
          <p:cNvSpPr/>
          <p:nvPr/>
        </p:nvSpPr>
        <p:spPr>
          <a:xfrm>
            <a:off x="834511" y="4393188"/>
            <a:ext cx="2567908" cy="376137"/>
          </a:xfrm>
          <a:custGeom>
            <a:avLst/>
            <a:gdLst/>
            <a:ahLst/>
            <a:cxnLst/>
            <a:rect l="l" t="t" r="r" b="b"/>
            <a:pathLst>
              <a:path w="2113513" h="454143" extrusionOk="0">
                <a:moveTo>
                  <a:pt x="69870" y="0"/>
                </a:moveTo>
                <a:lnTo>
                  <a:pt x="2043643" y="0"/>
                </a:lnTo>
                <a:cubicBezTo>
                  <a:pt x="2082231" y="0"/>
                  <a:pt x="2113513" y="31282"/>
                  <a:pt x="2113513" y="69870"/>
                </a:cubicBezTo>
                <a:lnTo>
                  <a:pt x="2113513" y="384273"/>
                </a:lnTo>
                <a:cubicBezTo>
                  <a:pt x="2113513" y="422861"/>
                  <a:pt x="2082231" y="454143"/>
                  <a:pt x="2043643" y="454143"/>
                </a:cubicBezTo>
                <a:lnTo>
                  <a:pt x="69870" y="454143"/>
                </a:lnTo>
                <a:cubicBezTo>
                  <a:pt x="31308" y="454143"/>
                  <a:pt x="0" y="422836"/>
                  <a:pt x="0" y="384273"/>
                </a:cubicBezTo>
                <a:lnTo>
                  <a:pt x="0" y="69870"/>
                </a:lnTo>
                <a:cubicBezTo>
                  <a:pt x="0" y="31308"/>
                  <a:pt x="31308" y="0"/>
                  <a:pt x="69870" y="0"/>
                </a:cubicBezTo>
                <a:close/>
              </a:path>
            </a:pathLst>
          </a:custGeom>
          <a:solidFill>
            <a:srgbClr val="04B0FF"/>
          </a:solidFill>
          <a:ln>
            <a:noFill/>
          </a:ln>
        </p:spPr>
        <p:txBody>
          <a:bodyPr spcFirstLastPara="1" wrap="square" lIns="63496" tIns="63496" rIns="63496" bIns="63496" anchor="ctr" anchorCtr="0">
            <a:noAutofit/>
          </a:bodyPr>
          <a:lstStyle/>
          <a:p>
            <a:endParaRPr lang="pt-BR" sz="1250" noProof="0" dirty="0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11C04C7C-60CB-5DB0-41E7-9071E6279DDA}"/>
              </a:ext>
            </a:extLst>
          </p:cNvPr>
          <p:cNvSpPr txBox="1"/>
          <p:nvPr/>
        </p:nvSpPr>
        <p:spPr>
          <a:xfrm>
            <a:off x="861803" y="4419855"/>
            <a:ext cx="242780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500" b="1" dirty="0">
                <a:solidFill>
                  <a:schemeClr val="bg1"/>
                </a:solidFill>
                <a:cs typeface="Segoe UI" panose="020B0502040204020203" pitchFamily="34" charset="0"/>
              </a:rPr>
              <a:t>Modelo de cobrança</a:t>
            </a:r>
            <a:endParaRPr lang="pt-BR" sz="1500" b="1" noProof="0" dirty="0">
              <a:solidFill>
                <a:schemeClr val="bg1"/>
              </a:solidFill>
              <a:cs typeface="Segoe UI" panose="020B0502040204020203" pitchFamily="34" charset="0"/>
            </a:endParaRPr>
          </a:p>
        </p:txBody>
      </p:sp>
      <p:sp>
        <p:nvSpPr>
          <p:cNvPr id="8" name="Google Shape;182;p10">
            <a:extLst>
              <a:ext uri="{FF2B5EF4-FFF2-40B4-BE49-F238E27FC236}">
                <a16:creationId xmlns:a16="http://schemas.microsoft.com/office/drawing/2014/main" id="{4A879F95-5016-3573-3F06-DA8B0C38BDCA}"/>
              </a:ext>
            </a:extLst>
          </p:cNvPr>
          <p:cNvSpPr/>
          <p:nvPr/>
        </p:nvSpPr>
        <p:spPr>
          <a:xfrm>
            <a:off x="6705796" y="4242677"/>
            <a:ext cx="4833838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just">
              <a:lnSpc>
                <a:spcPct val="140000"/>
              </a:lnSpc>
            </a:pPr>
            <a:r>
              <a:rPr lang="pt-BR" sz="1400" b="1" dirty="0">
                <a:solidFill>
                  <a:srgbClr val="444444"/>
                </a:solidFill>
                <a:ea typeface="Liter"/>
                <a:cs typeface="Segoe UI" panose="020B0502040204020203" pitchFamily="34" charset="0"/>
                <a:sym typeface="Liter"/>
              </a:rPr>
              <a:t>Potencial de conflitos operacionais: </a:t>
            </a:r>
            <a:r>
              <a:rPr lang="pt-BR" sz="1400" dirty="0">
                <a:solidFill>
                  <a:srgbClr val="444444"/>
                </a:solidFill>
                <a:ea typeface="Liter"/>
                <a:cs typeface="Segoe UI" panose="020B0502040204020203" pitchFamily="34" charset="0"/>
                <a:sym typeface="Liter"/>
              </a:rPr>
              <a:t>divergências quanto à qualidade, periodicidade ou integridade dos dados fornecidos pela concessionária de água.</a:t>
            </a:r>
            <a:endParaRPr lang="pt-BR" sz="1400" dirty="0">
              <a:solidFill>
                <a:srgbClr val="444444"/>
              </a:solidFill>
              <a:cs typeface="Segoe UI" panose="020B0502040204020203" pitchFamily="34" charset="0"/>
            </a:endParaRPr>
          </a:p>
        </p:txBody>
      </p:sp>
      <p:sp>
        <p:nvSpPr>
          <p:cNvPr id="20" name="Google Shape;182;p10">
            <a:extLst>
              <a:ext uri="{FF2B5EF4-FFF2-40B4-BE49-F238E27FC236}">
                <a16:creationId xmlns:a16="http://schemas.microsoft.com/office/drawing/2014/main" id="{5E7226CE-46E4-DF8D-2E6D-3F3F5E59F921}"/>
              </a:ext>
            </a:extLst>
          </p:cNvPr>
          <p:cNvSpPr/>
          <p:nvPr/>
        </p:nvSpPr>
        <p:spPr>
          <a:xfrm>
            <a:off x="6705796" y="5314085"/>
            <a:ext cx="4833838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just">
              <a:lnSpc>
                <a:spcPct val="140000"/>
              </a:lnSpc>
            </a:pPr>
            <a:r>
              <a:rPr lang="pt-BR" sz="1400" b="1" dirty="0">
                <a:solidFill>
                  <a:srgbClr val="444444"/>
                </a:solidFill>
                <a:ea typeface="Liter"/>
                <a:cs typeface="Segoe UI" panose="020B0502040204020203" pitchFamily="34" charset="0"/>
                <a:sym typeface="Liter"/>
              </a:rPr>
              <a:t>Risco de inadimplência: </a:t>
            </a:r>
            <a:r>
              <a:rPr lang="pt-BR" sz="1400" dirty="0">
                <a:solidFill>
                  <a:srgbClr val="444444"/>
                </a:solidFill>
                <a:ea typeface="Liter"/>
                <a:cs typeface="Segoe UI" panose="020B0502040204020203" pitchFamily="34" charset="0"/>
                <a:sym typeface="Liter"/>
              </a:rPr>
              <a:t>cobrança apartada da RSD em relação ao serviço de água cria desincentivo ao pagamento pelos usuários, elevando os índices de inadimplência.</a:t>
            </a:r>
            <a:endParaRPr lang="pt-BR" sz="1400" dirty="0">
              <a:solidFill>
                <a:srgbClr val="444444"/>
              </a:solidFill>
              <a:cs typeface="Segoe UI" panose="020B0502040204020203" pitchFamily="34" charset="0"/>
            </a:endParaRPr>
          </a:p>
        </p:txBody>
      </p:sp>
      <p:grpSp>
        <p:nvGrpSpPr>
          <p:cNvPr id="21" name="Gráfico 7">
            <a:extLst>
              <a:ext uri="{FF2B5EF4-FFF2-40B4-BE49-F238E27FC236}">
                <a16:creationId xmlns:a16="http://schemas.microsoft.com/office/drawing/2014/main" id="{BB359E62-AE02-5880-DD53-04A0CD8EC8EC}"/>
              </a:ext>
            </a:extLst>
          </p:cNvPr>
          <p:cNvGrpSpPr/>
          <p:nvPr/>
        </p:nvGrpSpPr>
        <p:grpSpPr>
          <a:xfrm>
            <a:off x="6176492" y="4342229"/>
            <a:ext cx="425676" cy="351320"/>
            <a:chOff x="7594710" y="3339775"/>
            <a:chExt cx="561511" cy="411765"/>
          </a:xfrm>
          <a:solidFill>
            <a:srgbClr val="04B0FF"/>
          </a:solidFill>
        </p:grpSpPr>
        <p:sp>
          <p:nvSpPr>
            <p:cNvPr id="22" name="Forma Livre: Forma 21">
              <a:extLst>
                <a:ext uri="{FF2B5EF4-FFF2-40B4-BE49-F238E27FC236}">
                  <a16:creationId xmlns:a16="http://schemas.microsoft.com/office/drawing/2014/main" id="{39114A64-7427-D8DB-D909-5191ED1EEAE0}"/>
                </a:ext>
              </a:extLst>
            </p:cNvPr>
            <p:cNvSpPr/>
            <p:nvPr/>
          </p:nvSpPr>
          <p:spPr>
            <a:xfrm>
              <a:off x="7899573" y="3538848"/>
              <a:ext cx="100432" cy="202596"/>
            </a:xfrm>
            <a:custGeom>
              <a:avLst/>
              <a:gdLst>
                <a:gd name="connsiteX0" fmla="*/ 97780 w 100432"/>
                <a:gd name="connsiteY0" fmla="*/ 5525 h 202596"/>
                <a:gd name="connsiteX1" fmla="*/ 95875 w 100432"/>
                <a:gd name="connsiteY1" fmla="*/ 1905 h 202596"/>
                <a:gd name="connsiteX2" fmla="*/ 93971 w 100432"/>
                <a:gd name="connsiteY2" fmla="*/ 2286 h 202596"/>
                <a:gd name="connsiteX3" fmla="*/ 90541 w 100432"/>
                <a:gd name="connsiteY3" fmla="*/ 1714 h 202596"/>
                <a:gd name="connsiteX4" fmla="*/ 81112 w 100432"/>
                <a:gd name="connsiteY4" fmla="*/ 762 h 202596"/>
                <a:gd name="connsiteX5" fmla="*/ 68825 w 100432"/>
                <a:gd name="connsiteY5" fmla="*/ 1429 h 202596"/>
                <a:gd name="connsiteX6" fmla="*/ 58061 w 100432"/>
                <a:gd name="connsiteY6" fmla="*/ 2000 h 202596"/>
                <a:gd name="connsiteX7" fmla="*/ 44821 w 100432"/>
                <a:gd name="connsiteY7" fmla="*/ 1143 h 202596"/>
                <a:gd name="connsiteX8" fmla="*/ 25867 w 100432"/>
                <a:gd name="connsiteY8" fmla="*/ 0 h 202596"/>
                <a:gd name="connsiteX9" fmla="*/ 6817 w 100432"/>
                <a:gd name="connsiteY9" fmla="*/ 3905 h 202596"/>
                <a:gd name="connsiteX10" fmla="*/ 530 w 100432"/>
                <a:gd name="connsiteY10" fmla="*/ 48482 h 202596"/>
                <a:gd name="connsiteX11" fmla="*/ 911 w 100432"/>
                <a:gd name="connsiteY11" fmla="*/ 58769 h 202596"/>
                <a:gd name="connsiteX12" fmla="*/ 1292 w 100432"/>
                <a:gd name="connsiteY12" fmla="*/ 136588 h 202596"/>
                <a:gd name="connsiteX13" fmla="*/ 1673 w 100432"/>
                <a:gd name="connsiteY13" fmla="*/ 172402 h 202596"/>
                <a:gd name="connsiteX14" fmla="*/ 1292 w 100432"/>
                <a:gd name="connsiteY14" fmla="*/ 180689 h 202596"/>
                <a:gd name="connsiteX15" fmla="*/ 1959 w 100432"/>
                <a:gd name="connsiteY15" fmla="*/ 199072 h 202596"/>
                <a:gd name="connsiteX16" fmla="*/ 2626 w 100432"/>
                <a:gd name="connsiteY16" fmla="*/ 201073 h 202596"/>
                <a:gd name="connsiteX17" fmla="*/ 3673 w 100432"/>
                <a:gd name="connsiteY17" fmla="*/ 200882 h 202596"/>
                <a:gd name="connsiteX18" fmla="*/ 5674 w 100432"/>
                <a:gd name="connsiteY18" fmla="*/ 201263 h 202596"/>
                <a:gd name="connsiteX19" fmla="*/ 16437 w 100432"/>
                <a:gd name="connsiteY19" fmla="*/ 202597 h 202596"/>
                <a:gd name="connsiteX20" fmla="*/ 30153 w 100432"/>
                <a:gd name="connsiteY20" fmla="*/ 201835 h 202596"/>
                <a:gd name="connsiteX21" fmla="*/ 40916 w 100432"/>
                <a:gd name="connsiteY21" fmla="*/ 201168 h 202596"/>
                <a:gd name="connsiteX22" fmla="*/ 97876 w 100432"/>
                <a:gd name="connsiteY22" fmla="*/ 201168 h 202596"/>
                <a:gd name="connsiteX23" fmla="*/ 98257 w 100432"/>
                <a:gd name="connsiteY23" fmla="*/ 113729 h 202596"/>
                <a:gd name="connsiteX24" fmla="*/ 97495 w 100432"/>
                <a:gd name="connsiteY24" fmla="*/ 60007 h 202596"/>
                <a:gd name="connsiteX25" fmla="*/ 98733 w 100432"/>
                <a:gd name="connsiteY25" fmla="*/ 45053 h 202596"/>
                <a:gd name="connsiteX26" fmla="*/ 97685 w 100432"/>
                <a:gd name="connsiteY26" fmla="*/ 5334 h 202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0432" h="202596">
                  <a:moveTo>
                    <a:pt x="97780" y="5525"/>
                  </a:moveTo>
                  <a:cubicBezTo>
                    <a:pt x="96828" y="3810"/>
                    <a:pt x="96256" y="2667"/>
                    <a:pt x="95875" y="1905"/>
                  </a:cubicBezTo>
                  <a:cubicBezTo>
                    <a:pt x="95399" y="2191"/>
                    <a:pt x="94733" y="2286"/>
                    <a:pt x="93971" y="2286"/>
                  </a:cubicBezTo>
                  <a:cubicBezTo>
                    <a:pt x="93018" y="2286"/>
                    <a:pt x="91875" y="2096"/>
                    <a:pt x="90541" y="1714"/>
                  </a:cubicBezTo>
                  <a:cubicBezTo>
                    <a:pt x="88065" y="1048"/>
                    <a:pt x="85017" y="762"/>
                    <a:pt x="81112" y="762"/>
                  </a:cubicBezTo>
                  <a:cubicBezTo>
                    <a:pt x="77206" y="762"/>
                    <a:pt x="72920" y="1143"/>
                    <a:pt x="68825" y="1429"/>
                  </a:cubicBezTo>
                  <a:cubicBezTo>
                    <a:pt x="65014" y="1714"/>
                    <a:pt x="61300" y="2000"/>
                    <a:pt x="58061" y="2000"/>
                  </a:cubicBezTo>
                  <a:cubicBezTo>
                    <a:pt x="53966" y="2000"/>
                    <a:pt x="49584" y="1524"/>
                    <a:pt x="44821" y="1143"/>
                  </a:cubicBezTo>
                  <a:cubicBezTo>
                    <a:pt x="38916" y="571"/>
                    <a:pt x="32153" y="0"/>
                    <a:pt x="25867" y="0"/>
                  </a:cubicBezTo>
                  <a:cubicBezTo>
                    <a:pt x="16913" y="0"/>
                    <a:pt x="10627" y="1333"/>
                    <a:pt x="6817" y="3905"/>
                  </a:cubicBezTo>
                  <a:cubicBezTo>
                    <a:pt x="-1375" y="9620"/>
                    <a:pt x="-232" y="32956"/>
                    <a:pt x="530" y="48482"/>
                  </a:cubicBezTo>
                  <a:cubicBezTo>
                    <a:pt x="721" y="52578"/>
                    <a:pt x="911" y="56102"/>
                    <a:pt x="911" y="58769"/>
                  </a:cubicBezTo>
                  <a:cubicBezTo>
                    <a:pt x="816" y="84677"/>
                    <a:pt x="1006" y="110680"/>
                    <a:pt x="1292" y="136588"/>
                  </a:cubicBezTo>
                  <a:lnTo>
                    <a:pt x="1673" y="172402"/>
                  </a:lnTo>
                  <a:cubicBezTo>
                    <a:pt x="1673" y="174784"/>
                    <a:pt x="1483" y="177641"/>
                    <a:pt x="1292" y="180689"/>
                  </a:cubicBezTo>
                  <a:cubicBezTo>
                    <a:pt x="816" y="187071"/>
                    <a:pt x="340" y="194405"/>
                    <a:pt x="1959" y="199072"/>
                  </a:cubicBezTo>
                  <a:cubicBezTo>
                    <a:pt x="2245" y="199834"/>
                    <a:pt x="2435" y="200501"/>
                    <a:pt x="2626" y="201073"/>
                  </a:cubicBezTo>
                  <a:cubicBezTo>
                    <a:pt x="2912" y="200977"/>
                    <a:pt x="3292" y="200882"/>
                    <a:pt x="3673" y="200882"/>
                  </a:cubicBezTo>
                  <a:cubicBezTo>
                    <a:pt x="4245" y="200882"/>
                    <a:pt x="4912" y="200977"/>
                    <a:pt x="5674" y="201263"/>
                  </a:cubicBezTo>
                  <a:cubicBezTo>
                    <a:pt x="8246" y="202216"/>
                    <a:pt x="11865" y="202597"/>
                    <a:pt x="16437" y="202597"/>
                  </a:cubicBezTo>
                  <a:cubicBezTo>
                    <a:pt x="21009" y="202597"/>
                    <a:pt x="25676" y="202216"/>
                    <a:pt x="30153" y="201835"/>
                  </a:cubicBezTo>
                  <a:cubicBezTo>
                    <a:pt x="34154" y="201454"/>
                    <a:pt x="37868" y="201168"/>
                    <a:pt x="40916" y="201168"/>
                  </a:cubicBezTo>
                  <a:lnTo>
                    <a:pt x="97876" y="201168"/>
                  </a:lnTo>
                  <a:cubicBezTo>
                    <a:pt x="99781" y="172212"/>
                    <a:pt x="99019" y="142494"/>
                    <a:pt x="98257" y="113729"/>
                  </a:cubicBezTo>
                  <a:cubicBezTo>
                    <a:pt x="97780" y="96107"/>
                    <a:pt x="97400" y="77914"/>
                    <a:pt x="97495" y="60007"/>
                  </a:cubicBezTo>
                  <a:cubicBezTo>
                    <a:pt x="97495" y="56197"/>
                    <a:pt x="98066" y="51054"/>
                    <a:pt x="98733" y="45053"/>
                  </a:cubicBezTo>
                  <a:cubicBezTo>
                    <a:pt x="100257" y="30861"/>
                    <a:pt x="102067" y="13240"/>
                    <a:pt x="97685" y="533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" name="Forma Livre: Forma 22">
              <a:extLst>
                <a:ext uri="{FF2B5EF4-FFF2-40B4-BE49-F238E27FC236}">
                  <a16:creationId xmlns:a16="http://schemas.microsoft.com/office/drawing/2014/main" id="{D93F8CC5-B2CB-0D5D-77EF-76CA97F49CE8}"/>
                </a:ext>
              </a:extLst>
            </p:cNvPr>
            <p:cNvSpPr/>
            <p:nvPr/>
          </p:nvSpPr>
          <p:spPr>
            <a:xfrm>
              <a:off x="7752340" y="3585616"/>
              <a:ext cx="100176" cy="155067"/>
            </a:xfrm>
            <a:custGeom>
              <a:avLst/>
              <a:gdLst>
                <a:gd name="connsiteX0" fmla="*/ 99090 w 100176"/>
                <a:gd name="connsiteY0" fmla="*/ 23717 h 155067"/>
                <a:gd name="connsiteX1" fmla="*/ 98233 w 100176"/>
                <a:gd name="connsiteY1" fmla="*/ 9620 h 155067"/>
                <a:gd name="connsiteX2" fmla="*/ 97947 w 100176"/>
                <a:gd name="connsiteY2" fmla="*/ 4286 h 155067"/>
                <a:gd name="connsiteX3" fmla="*/ 97757 w 100176"/>
                <a:gd name="connsiteY3" fmla="*/ 4286 h 155067"/>
                <a:gd name="connsiteX4" fmla="*/ 96233 w 100176"/>
                <a:gd name="connsiteY4" fmla="*/ 4001 h 155067"/>
                <a:gd name="connsiteX5" fmla="*/ 91185 w 100176"/>
                <a:gd name="connsiteY5" fmla="*/ 2858 h 155067"/>
                <a:gd name="connsiteX6" fmla="*/ 87089 w 100176"/>
                <a:gd name="connsiteY6" fmla="*/ 2477 h 155067"/>
                <a:gd name="connsiteX7" fmla="*/ 80898 w 100176"/>
                <a:gd name="connsiteY7" fmla="*/ 2858 h 155067"/>
                <a:gd name="connsiteX8" fmla="*/ 75278 w 100176"/>
                <a:gd name="connsiteY8" fmla="*/ 3239 h 155067"/>
                <a:gd name="connsiteX9" fmla="*/ 59085 w 100176"/>
                <a:gd name="connsiteY9" fmla="*/ 2000 h 155067"/>
                <a:gd name="connsiteX10" fmla="*/ 30510 w 100176"/>
                <a:gd name="connsiteY10" fmla="*/ 0 h 155067"/>
                <a:gd name="connsiteX11" fmla="*/ 2697 w 100176"/>
                <a:gd name="connsiteY11" fmla="*/ 8668 h 155067"/>
                <a:gd name="connsiteX12" fmla="*/ 888 w 100176"/>
                <a:gd name="connsiteY12" fmla="*/ 42863 h 155067"/>
                <a:gd name="connsiteX13" fmla="*/ 1554 w 100176"/>
                <a:gd name="connsiteY13" fmla="*/ 54293 h 155067"/>
                <a:gd name="connsiteX14" fmla="*/ 2126 w 100176"/>
                <a:gd name="connsiteY14" fmla="*/ 116967 h 155067"/>
                <a:gd name="connsiteX15" fmla="*/ 2602 w 100176"/>
                <a:gd name="connsiteY15" fmla="*/ 145637 h 155067"/>
                <a:gd name="connsiteX16" fmla="*/ 6793 w 100176"/>
                <a:gd name="connsiteY16" fmla="*/ 155067 h 155067"/>
                <a:gd name="connsiteX17" fmla="*/ 11556 w 100176"/>
                <a:gd name="connsiteY17" fmla="*/ 154781 h 155067"/>
                <a:gd name="connsiteX18" fmla="*/ 14985 w 100176"/>
                <a:gd name="connsiteY18" fmla="*/ 154591 h 155067"/>
                <a:gd name="connsiteX19" fmla="*/ 44703 w 100176"/>
                <a:gd name="connsiteY19" fmla="*/ 153829 h 155067"/>
                <a:gd name="connsiteX20" fmla="*/ 74135 w 100176"/>
                <a:gd name="connsiteY20" fmla="*/ 154210 h 155067"/>
                <a:gd name="connsiteX21" fmla="*/ 98614 w 100176"/>
                <a:gd name="connsiteY21" fmla="*/ 154591 h 155067"/>
                <a:gd name="connsiteX22" fmla="*/ 98900 w 100176"/>
                <a:gd name="connsiteY22" fmla="*/ 30290 h 155067"/>
                <a:gd name="connsiteX23" fmla="*/ 99090 w 100176"/>
                <a:gd name="connsiteY23" fmla="*/ 24003 h 155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00176" h="155067">
                  <a:moveTo>
                    <a:pt x="99090" y="23717"/>
                  </a:moveTo>
                  <a:cubicBezTo>
                    <a:pt x="99376" y="18860"/>
                    <a:pt x="99662" y="13240"/>
                    <a:pt x="98233" y="9620"/>
                  </a:cubicBezTo>
                  <a:cubicBezTo>
                    <a:pt x="97090" y="6668"/>
                    <a:pt x="97566" y="5144"/>
                    <a:pt x="97947" y="4286"/>
                  </a:cubicBezTo>
                  <a:cubicBezTo>
                    <a:pt x="97947" y="4286"/>
                    <a:pt x="97852" y="4286"/>
                    <a:pt x="97757" y="4286"/>
                  </a:cubicBezTo>
                  <a:cubicBezTo>
                    <a:pt x="97376" y="4286"/>
                    <a:pt x="96900" y="4191"/>
                    <a:pt x="96233" y="4001"/>
                  </a:cubicBezTo>
                  <a:cubicBezTo>
                    <a:pt x="95090" y="3715"/>
                    <a:pt x="93471" y="3334"/>
                    <a:pt x="91185" y="2858"/>
                  </a:cubicBezTo>
                  <a:cubicBezTo>
                    <a:pt x="90042" y="2572"/>
                    <a:pt x="88708" y="2477"/>
                    <a:pt x="87089" y="2477"/>
                  </a:cubicBezTo>
                  <a:cubicBezTo>
                    <a:pt x="85089" y="2477"/>
                    <a:pt x="82993" y="2667"/>
                    <a:pt x="80898" y="2858"/>
                  </a:cubicBezTo>
                  <a:cubicBezTo>
                    <a:pt x="78897" y="3048"/>
                    <a:pt x="76992" y="3239"/>
                    <a:pt x="75278" y="3239"/>
                  </a:cubicBezTo>
                  <a:cubicBezTo>
                    <a:pt x="71277" y="3239"/>
                    <a:pt x="65658" y="2667"/>
                    <a:pt x="59085" y="2000"/>
                  </a:cubicBezTo>
                  <a:cubicBezTo>
                    <a:pt x="50132" y="1048"/>
                    <a:pt x="39940" y="0"/>
                    <a:pt x="30510" y="0"/>
                  </a:cubicBezTo>
                  <a:cubicBezTo>
                    <a:pt x="15270" y="0"/>
                    <a:pt x="6126" y="2858"/>
                    <a:pt x="2697" y="8668"/>
                  </a:cubicBezTo>
                  <a:cubicBezTo>
                    <a:pt x="-1208" y="15240"/>
                    <a:pt x="30" y="31242"/>
                    <a:pt x="888" y="42863"/>
                  </a:cubicBezTo>
                  <a:cubicBezTo>
                    <a:pt x="1269" y="47339"/>
                    <a:pt x="1554" y="51340"/>
                    <a:pt x="1554" y="54293"/>
                  </a:cubicBezTo>
                  <a:cubicBezTo>
                    <a:pt x="1554" y="75152"/>
                    <a:pt x="1745" y="96012"/>
                    <a:pt x="2126" y="116967"/>
                  </a:cubicBezTo>
                  <a:lnTo>
                    <a:pt x="2602" y="145637"/>
                  </a:lnTo>
                  <a:cubicBezTo>
                    <a:pt x="2697" y="154686"/>
                    <a:pt x="2888" y="155067"/>
                    <a:pt x="6793" y="155067"/>
                  </a:cubicBezTo>
                  <a:cubicBezTo>
                    <a:pt x="8031" y="155067"/>
                    <a:pt x="9555" y="154972"/>
                    <a:pt x="11556" y="154781"/>
                  </a:cubicBezTo>
                  <a:lnTo>
                    <a:pt x="14985" y="154591"/>
                  </a:lnTo>
                  <a:cubicBezTo>
                    <a:pt x="23843" y="154115"/>
                    <a:pt x="33558" y="153829"/>
                    <a:pt x="44703" y="153829"/>
                  </a:cubicBezTo>
                  <a:cubicBezTo>
                    <a:pt x="54513" y="153829"/>
                    <a:pt x="64324" y="154019"/>
                    <a:pt x="74135" y="154210"/>
                  </a:cubicBezTo>
                  <a:cubicBezTo>
                    <a:pt x="82326" y="154400"/>
                    <a:pt x="90518" y="154496"/>
                    <a:pt x="98614" y="154591"/>
                  </a:cubicBezTo>
                  <a:cubicBezTo>
                    <a:pt x="101281" y="112205"/>
                    <a:pt x="99948" y="66770"/>
                    <a:pt x="98900" y="30290"/>
                  </a:cubicBezTo>
                  <a:cubicBezTo>
                    <a:pt x="98900" y="28480"/>
                    <a:pt x="98900" y="26289"/>
                    <a:pt x="99090" y="2400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4" name="Forma Livre: Forma 23">
              <a:extLst>
                <a:ext uri="{FF2B5EF4-FFF2-40B4-BE49-F238E27FC236}">
                  <a16:creationId xmlns:a16="http://schemas.microsoft.com/office/drawing/2014/main" id="{1D6777C4-0383-35EC-4F63-359B75A7DB7E}"/>
                </a:ext>
              </a:extLst>
            </p:cNvPr>
            <p:cNvSpPr/>
            <p:nvPr/>
          </p:nvSpPr>
          <p:spPr>
            <a:xfrm>
              <a:off x="7594710" y="3439598"/>
              <a:ext cx="122681" cy="311943"/>
            </a:xfrm>
            <a:custGeom>
              <a:avLst/>
              <a:gdLst>
                <a:gd name="connsiteX0" fmla="*/ 121942 w 122681"/>
                <a:gd name="connsiteY0" fmla="*/ 199358 h 311943"/>
                <a:gd name="connsiteX1" fmla="*/ 121180 w 122681"/>
                <a:gd name="connsiteY1" fmla="*/ 158210 h 311943"/>
                <a:gd name="connsiteX2" fmla="*/ 121752 w 122681"/>
                <a:gd name="connsiteY2" fmla="*/ 106680 h 311943"/>
                <a:gd name="connsiteX3" fmla="*/ 121371 w 122681"/>
                <a:gd name="connsiteY3" fmla="*/ 23050 h 311943"/>
                <a:gd name="connsiteX4" fmla="*/ 121371 w 122681"/>
                <a:gd name="connsiteY4" fmla="*/ 19907 h 311943"/>
                <a:gd name="connsiteX5" fmla="*/ 117465 w 122681"/>
                <a:gd name="connsiteY5" fmla="*/ 3905 h 311943"/>
                <a:gd name="connsiteX6" fmla="*/ 101844 w 122681"/>
                <a:gd name="connsiteY6" fmla="*/ 0 h 311943"/>
                <a:gd name="connsiteX7" fmla="*/ 86128 w 122681"/>
                <a:gd name="connsiteY7" fmla="*/ 1048 h 311943"/>
                <a:gd name="connsiteX8" fmla="*/ 77175 w 122681"/>
                <a:gd name="connsiteY8" fmla="*/ 1714 h 311943"/>
                <a:gd name="connsiteX9" fmla="*/ 77175 w 122681"/>
                <a:gd name="connsiteY9" fmla="*/ 1714 h 311943"/>
                <a:gd name="connsiteX10" fmla="*/ 61935 w 122681"/>
                <a:gd name="connsiteY10" fmla="*/ 1524 h 311943"/>
                <a:gd name="connsiteX11" fmla="*/ 43647 w 122681"/>
                <a:gd name="connsiteY11" fmla="*/ 1333 h 311943"/>
                <a:gd name="connsiteX12" fmla="*/ 42504 w 122681"/>
                <a:gd name="connsiteY12" fmla="*/ 1333 h 311943"/>
                <a:gd name="connsiteX13" fmla="*/ 36312 w 122681"/>
                <a:gd name="connsiteY13" fmla="*/ 1048 h 311943"/>
                <a:gd name="connsiteX14" fmla="*/ 25549 w 122681"/>
                <a:gd name="connsiteY14" fmla="*/ 667 h 311943"/>
                <a:gd name="connsiteX15" fmla="*/ 13167 w 122681"/>
                <a:gd name="connsiteY15" fmla="*/ 2476 h 311943"/>
                <a:gd name="connsiteX16" fmla="*/ 4308 w 122681"/>
                <a:gd name="connsiteY16" fmla="*/ 18383 h 311943"/>
                <a:gd name="connsiteX17" fmla="*/ 689 w 122681"/>
                <a:gd name="connsiteY17" fmla="*/ 113347 h 311943"/>
                <a:gd name="connsiteX18" fmla="*/ 1356 w 122681"/>
                <a:gd name="connsiteY18" fmla="*/ 146780 h 311943"/>
                <a:gd name="connsiteX19" fmla="*/ 1927 w 122681"/>
                <a:gd name="connsiteY19" fmla="*/ 235934 h 311943"/>
                <a:gd name="connsiteX20" fmla="*/ 2403 w 122681"/>
                <a:gd name="connsiteY20" fmla="*/ 306229 h 311943"/>
                <a:gd name="connsiteX21" fmla="*/ 8118 w 122681"/>
                <a:gd name="connsiteY21" fmla="*/ 311944 h 311943"/>
                <a:gd name="connsiteX22" fmla="*/ 92510 w 122681"/>
                <a:gd name="connsiteY22" fmla="*/ 311944 h 311943"/>
                <a:gd name="connsiteX23" fmla="*/ 115084 w 122681"/>
                <a:gd name="connsiteY23" fmla="*/ 311944 h 311943"/>
                <a:gd name="connsiteX24" fmla="*/ 120037 w 122681"/>
                <a:gd name="connsiteY24" fmla="*/ 308705 h 311943"/>
                <a:gd name="connsiteX25" fmla="*/ 119180 w 122681"/>
                <a:gd name="connsiteY25" fmla="*/ 308324 h 311943"/>
                <a:gd name="connsiteX26" fmla="*/ 120418 w 122681"/>
                <a:gd name="connsiteY26" fmla="*/ 307753 h 311943"/>
                <a:gd name="connsiteX27" fmla="*/ 120799 w 122681"/>
                <a:gd name="connsiteY27" fmla="*/ 306324 h 311943"/>
                <a:gd name="connsiteX28" fmla="*/ 121847 w 122681"/>
                <a:gd name="connsiteY28" fmla="*/ 199453 h 311943"/>
                <a:gd name="connsiteX29" fmla="*/ 40122 w 122681"/>
                <a:gd name="connsiteY29" fmla="*/ 34385 h 311943"/>
                <a:gd name="connsiteX30" fmla="*/ 39170 w 122681"/>
                <a:gd name="connsiteY30" fmla="*/ 33433 h 311943"/>
                <a:gd name="connsiteX31" fmla="*/ 39170 w 122681"/>
                <a:gd name="connsiteY31" fmla="*/ 33433 h 311943"/>
                <a:gd name="connsiteX32" fmla="*/ 39170 w 122681"/>
                <a:gd name="connsiteY32" fmla="*/ 34290 h 311943"/>
                <a:gd name="connsiteX33" fmla="*/ 36503 w 122681"/>
                <a:gd name="connsiteY33" fmla="*/ 35623 h 311943"/>
                <a:gd name="connsiteX34" fmla="*/ 34217 w 122681"/>
                <a:gd name="connsiteY34" fmla="*/ 79629 h 311943"/>
                <a:gd name="connsiteX35" fmla="*/ 34217 w 122681"/>
                <a:gd name="connsiteY35" fmla="*/ 80581 h 311943"/>
                <a:gd name="connsiteX36" fmla="*/ 33169 w 122681"/>
                <a:gd name="connsiteY36" fmla="*/ 84487 h 311943"/>
                <a:gd name="connsiteX37" fmla="*/ 29073 w 122681"/>
                <a:gd name="connsiteY37" fmla="*/ 86201 h 311943"/>
                <a:gd name="connsiteX38" fmla="*/ 22882 w 122681"/>
                <a:gd name="connsiteY38" fmla="*/ 80772 h 311943"/>
                <a:gd name="connsiteX39" fmla="*/ 23073 w 122681"/>
                <a:gd name="connsiteY39" fmla="*/ 36576 h 311943"/>
                <a:gd name="connsiteX40" fmla="*/ 37551 w 122681"/>
                <a:gd name="connsiteY40" fmla="*/ 22765 h 311943"/>
                <a:gd name="connsiteX41" fmla="*/ 39837 w 122681"/>
                <a:gd name="connsiteY41" fmla="*/ 22860 h 311943"/>
                <a:gd name="connsiteX42" fmla="*/ 45266 w 122681"/>
                <a:gd name="connsiteY42" fmla="*/ 29337 h 311943"/>
                <a:gd name="connsiteX43" fmla="*/ 40313 w 122681"/>
                <a:gd name="connsiteY43" fmla="*/ 34290 h 311943"/>
                <a:gd name="connsiteX44" fmla="*/ 59363 w 122681"/>
                <a:gd name="connsiteY44" fmla="*/ 32956 h 311943"/>
                <a:gd name="connsiteX45" fmla="*/ 55172 w 122681"/>
                <a:gd name="connsiteY45" fmla="*/ 34766 h 311943"/>
                <a:gd name="connsiteX46" fmla="*/ 49647 w 122681"/>
                <a:gd name="connsiteY46" fmla="*/ 29051 h 311943"/>
                <a:gd name="connsiteX47" fmla="*/ 50981 w 122681"/>
                <a:gd name="connsiteY47" fmla="*/ 25146 h 311943"/>
                <a:gd name="connsiteX48" fmla="*/ 55172 w 122681"/>
                <a:gd name="connsiteY48" fmla="*/ 23336 h 311943"/>
                <a:gd name="connsiteX49" fmla="*/ 60696 w 122681"/>
                <a:gd name="connsiteY49" fmla="*/ 29051 h 311943"/>
                <a:gd name="connsiteX50" fmla="*/ 59268 w 122681"/>
                <a:gd name="connsiteY50" fmla="*/ 32956 h 31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22681" h="311943">
                  <a:moveTo>
                    <a:pt x="121942" y="199358"/>
                  </a:moveTo>
                  <a:cubicBezTo>
                    <a:pt x="121656" y="185642"/>
                    <a:pt x="121275" y="171926"/>
                    <a:pt x="121180" y="158210"/>
                  </a:cubicBezTo>
                  <a:cubicBezTo>
                    <a:pt x="120990" y="141065"/>
                    <a:pt x="121371" y="123634"/>
                    <a:pt x="121752" y="106680"/>
                  </a:cubicBezTo>
                  <a:cubicBezTo>
                    <a:pt x="122323" y="79153"/>
                    <a:pt x="122895" y="50768"/>
                    <a:pt x="121371" y="23050"/>
                  </a:cubicBezTo>
                  <a:cubicBezTo>
                    <a:pt x="121371" y="22098"/>
                    <a:pt x="121371" y="21050"/>
                    <a:pt x="121371" y="19907"/>
                  </a:cubicBezTo>
                  <a:cubicBezTo>
                    <a:pt x="121371" y="14573"/>
                    <a:pt x="121275" y="7334"/>
                    <a:pt x="117465" y="3905"/>
                  </a:cubicBezTo>
                  <a:cubicBezTo>
                    <a:pt x="114608" y="1333"/>
                    <a:pt x="109560" y="0"/>
                    <a:pt x="101844" y="0"/>
                  </a:cubicBezTo>
                  <a:cubicBezTo>
                    <a:pt x="96606" y="0"/>
                    <a:pt x="90986" y="571"/>
                    <a:pt x="86128" y="1048"/>
                  </a:cubicBezTo>
                  <a:cubicBezTo>
                    <a:pt x="82604" y="1429"/>
                    <a:pt x="79461" y="1714"/>
                    <a:pt x="77175" y="1714"/>
                  </a:cubicBezTo>
                  <a:lnTo>
                    <a:pt x="77175" y="1714"/>
                  </a:lnTo>
                  <a:cubicBezTo>
                    <a:pt x="72126" y="1714"/>
                    <a:pt x="66983" y="1619"/>
                    <a:pt x="61935" y="1524"/>
                  </a:cubicBezTo>
                  <a:cubicBezTo>
                    <a:pt x="55839" y="1429"/>
                    <a:pt x="49743" y="1333"/>
                    <a:pt x="43647" y="1333"/>
                  </a:cubicBezTo>
                  <a:lnTo>
                    <a:pt x="42504" y="1333"/>
                  </a:lnTo>
                  <a:cubicBezTo>
                    <a:pt x="40980" y="1333"/>
                    <a:pt x="38789" y="1238"/>
                    <a:pt x="36312" y="1048"/>
                  </a:cubicBezTo>
                  <a:cubicBezTo>
                    <a:pt x="32979" y="857"/>
                    <a:pt x="29169" y="667"/>
                    <a:pt x="25549" y="667"/>
                  </a:cubicBezTo>
                  <a:cubicBezTo>
                    <a:pt x="19453" y="667"/>
                    <a:pt x="15548" y="1238"/>
                    <a:pt x="13167" y="2476"/>
                  </a:cubicBezTo>
                  <a:cubicBezTo>
                    <a:pt x="6499" y="6001"/>
                    <a:pt x="5642" y="10954"/>
                    <a:pt x="4308" y="18383"/>
                  </a:cubicBezTo>
                  <a:cubicBezTo>
                    <a:pt x="-1216" y="48958"/>
                    <a:pt x="-168" y="81629"/>
                    <a:pt x="689" y="113347"/>
                  </a:cubicBezTo>
                  <a:cubicBezTo>
                    <a:pt x="975" y="124682"/>
                    <a:pt x="1356" y="135826"/>
                    <a:pt x="1356" y="146780"/>
                  </a:cubicBezTo>
                  <a:cubicBezTo>
                    <a:pt x="1356" y="176498"/>
                    <a:pt x="1737" y="206216"/>
                    <a:pt x="1927" y="235934"/>
                  </a:cubicBezTo>
                  <a:cubicBezTo>
                    <a:pt x="2118" y="259366"/>
                    <a:pt x="2308" y="282797"/>
                    <a:pt x="2403" y="306229"/>
                  </a:cubicBezTo>
                  <a:cubicBezTo>
                    <a:pt x="2403" y="309277"/>
                    <a:pt x="5070" y="311944"/>
                    <a:pt x="8118" y="311944"/>
                  </a:cubicBezTo>
                  <a:lnTo>
                    <a:pt x="92510" y="311944"/>
                  </a:lnTo>
                  <a:cubicBezTo>
                    <a:pt x="92510" y="311944"/>
                    <a:pt x="115084" y="311944"/>
                    <a:pt x="115084" y="311944"/>
                  </a:cubicBezTo>
                  <a:cubicBezTo>
                    <a:pt x="117370" y="311944"/>
                    <a:pt x="119180" y="310801"/>
                    <a:pt x="120037" y="308705"/>
                  </a:cubicBezTo>
                  <a:lnTo>
                    <a:pt x="119180" y="308324"/>
                  </a:lnTo>
                  <a:lnTo>
                    <a:pt x="120418" y="307753"/>
                  </a:lnTo>
                  <a:cubicBezTo>
                    <a:pt x="120418" y="307753"/>
                    <a:pt x="120799" y="306895"/>
                    <a:pt x="120799" y="306324"/>
                  </a:cubicBezTo>
                  <a:cubicBezTo>
                    <a:pt x="123561" y="270986"/>
                    <a:pt x="122704" y="234601"/>
                    <a:pt x="121847" y="199453"/>
                  </a:cubicBezTo>
                  <a:close/>
                  <a:moveTo>
                    <a:pt x="40122" y="34385"/>
                  </a:moveTo>
                  <a:lnTo>
                    <a:pt x="39170" y="33433"/>
                  </a:lnTo>
                  <a:cubicBezTo>
                    <a:pt x="39170" y="33433"/>
                    <a:pt x="39170" y="33433"/>
                    <a:pt x="39170" y="33433"/>
                  </a:cubicBezTo>
                  <a:lnTo>
                    <a:pt x="39170" y="34290"/>
                  </a:lnTo>
                  <a:cubicBezTo>
                    <a:pt x="38122" y="34290"/>
                    <a:pt x="37265" y="34671"/>
                    <a:pt x="36503" y="35623"/>
                  </a:cubicBezTo>
                  <a:cubicBezTo>
                    <a:pt x="32407" y="40195"/>
                    <a:pt x="31645" y="54959"/>
                    <a:pt x="34217" y="79629"/>
                  </a:cubicBezTo>
                  <a:lnTo>
                    <a:pt x="34217" y="80581"/>
                  </a:lnTo>
                  <a:cubicBezTo>
                    <a:pt x="34503" y="82105"/>
                    <a:pt x="34122" y="83534"/>
                    <a:pt x="33169" y="84487"/>
                  </a:cubicBezTo>
                  <a:cubicBezTo>
                    <a:pt x="32217" y="85534"/>
                    <a:pt x="30693" y="86201"/>
                    <a:pt x="29073" y="86201"/>
                  </a:cubicBezTo>
                  <a:cubicBezTo>
                    <a:pt x="26311" y="86201"/>
                    <a:pt x="23263" y="84296"/>
                    <a:pt x="22882" y="80772"/>
                  </a:cubicBezTo>
                  <a:cubicBezTo>
                    <a:pt x="21739" y="69437"/>
                    <a:pt x="20501" y="52578"/>
                    <a:pt x="23073" y="36576"/>
                  </a:cubicBezTo>
                  <a:cubicBezTo>
                    <a:pt x="24597" y="27432"/>
                    <a:pt x="29359" y="22765"/>
                    <a:pt x="37551" y="22765"/>
                  </a:cubicBezTo>
                  <a:cubicBezTo>
                    <a:pt x="38313" y="22765"/>
                    <a:pt x="39075" y="22765"/>
                    <a:pt x="39837" y="22860"/>
                  </a:cubicBezTo>
                  <a:cubicBezTo>
                    <a:pt x="43551" y="23241"/>
                    <a:pt x="45361" y="26479"/>
                    <a:pt x="45266" y="29337"/>
                  </a:cubicBezTo>
                  <a:cubicBezTo>
                    <a:pt x="45171" y="31813"/>
                    <a:pt x="43551" y="34290"/>
                    <a:pt x="40313" y="34290"/>
                  </a:cubicBezTo>
                  <a:close/>
                  <a:moveTo>
                    <a:pt x="59363" y="32956"/>
                  </a:moveTo>
                  <a:cubicBezTo>
                    <a:pt x="58315" y="34099"/>
                    <a:pt x="56886" y="34766"/>
                    <a:pt x="55172" y="34766"/>
                  </a:cubicBezTo>
                  <a:cubicBezTo>
                    <a:pt x="51552" y="34766"/>
                    <a:pt x="49647" y="31909"/>
                    <a:pt x="49647" y="29051"/>
                  </a:cubicBezTo>
                  <a:cubicBezTo>
                    <a:pt x="49647" y="27622"/>
                    <a:pt x="50124" y="26194"/>
                    <a:pt x="50981" y="25146"/>
                  </a:cubicBezTo>
                  <a:cubicBezTo>
                    <a:pt x="52029" y="24003"/>
                    <a:pt x="53457" y="23336"/>
                    <a:pt x="55172" y="23336"/>
                  </a:cubicBezTo>
                  <a:cubicBezTo>
                    <a:pt x="58791" y="23336"/>
                    <a:pt x="60696" y="26194"/>
                    <a:pt x="60696" y="29051"/>
                  </a:cubicBezTo>
                  <a:cubicBezTo>
                    <a:pt x="60696" y="30480"/>
                    <a:pt x="60220" y="31909"/>
                    <a:pt x="59268" y="3295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5" name="Forma Livre: Forma 24">
              <a:extLst>
                <a:ext uri="{FF2B5EF4-FFF2-40B4-BE49-F238E27FC236}">
                  <a16:creationId xmlns:a16="http://schemas.microsoft.com/office/drawing/2014/main" id="{D69BF14A-9C8E-DF0C-744B-529BCF3A06F1}"/>
                </a:ext>
              </a:extLst>
            </p:cNvPr>
            <p:cNvSpPr/>
            <p:nvPr/>
          </p:nvSpPr>
          <p:spPr>
            <a:xfrm>
              <a:off x="7742421" y="3574471"/>
              <a:ext cx="121685" cy="176974"/>
            </a:xfrm>
            <a:custGeom>
              <a:avLst/>
              <a:gdLst>
                <a:gd name="connsiteX0" fmla="*/ 119677 w 121685"/>
                <a:gd name="connsiteY0" fmla="*/ 171355 h 176974"/>
                <a:gd name="connsiteX1" fmla="*/ 119201 w 121685"/>
                <a:gd name="connsiteY1" fmla="*/ 173069 h 176974"/>
                <a:gd name="connsiteX2" fmla="*/ 113962 w 121685"/>
                <a:gd name="connsiteY2" fmla="*/ 176975 h 176974"/>
                <a:gd name="connsiteX3" fmla="*/ 91293 w 121685"/>
                <a:gd name="connsiteY3" fmla="*/ 176975 h 176974"/>
                <a:gd name="connsiteX4" fmla="*/ 6901 w 121685"/>
                <a:gd name="connsiteY4" fmla="*/ 176975 h 176974"/>
                <a:gd name="connsiteX5" fmla="*/ 1186 w 121685"/>
                <a:gd name="connsiteY5" fmla="*/ 171260 h 176974"/>
                <a:gd name="connsiteX6" fmla="*/ 615 w 121685"/>
                <a:gd name="connsiteY6" fmla="*/ 128111 h 176974"/>
                <a:gd name="connsiteX7" fmla="*/ 329 w 121685"/>
                <a:gd name="connsiteY7" fmla="*/ 42672 h 176974"/>
                <a:gd name="connsiteX8" fmla="*/ 234 w 121685"/>
                <a:gd name="connsiteY8" fmla="*/ 35528 h 176974"/>
                <a:gd name="connsiteX9" fmla="*/ 4234 w 121685"/>
                <a:gd name="connsiteY9" fmla="*/ 8763 h 176974"/>
                <a:gd name="connsiteX10" fmla="*/ 28714 w 121685"/>
                <a:gd name="connsiteY10" fmla="*/ 0 h 176974"/>
                <a:gd name="connsiteX11" fmla="*/ 44239 w 121685"/>
                <a:gd name="connsiteY11" fmla="*/ 953 h 176974"/>
                <a:gd name="connsiteX12" fmla="*/ 51669 w 121685"/>
                <a:gd name="connsiteY12" fmla="*/ 1524 h 176974"/>
                <a:gd name="connsiteX13" fmla="*/ 59194 w 121685"/>
                <a:gd name="connsiteY13" fmla="*/ 1905 h 176974"/>
                <a:gd name="connsiteX14" fmla="*/ 85197 w 121685"/>
                <a:gd name="connsiteY14" fmla="*/ 2858 h 176974"/>
                <a:gd name="connsiteX15" fmla="*/ 85197 w 121685"/>
                <a:gd name="connsiteY15" fmla="*/ 2858 h 176974"/>
                <a:gd name="connsiteX16" fmla="*/ 91769 w 121685"/>
                <a:gd name="connsiteY16" fmla="*/ 2477 h 176974"/>
                <a:gd name="connsiteX17" fmla="*/ 100342 w 121685"/>
                <a:gd name="connsiteY17" fmla="*/ 2000 h 176974"/>
                <a:gd name="connsiteX18" fmla="*/ 110819 w 121685"/>
                <a:gd name="connsiteY18" fmla="*/ 3905 h 176974"/>
                <a:gd name="connsiteX19" fmla="*/ 119868 w 121685"/>
                <a:gd name="connsiteY19" fmla="*/ 24194 h 176974"/>
                <a:gd name="connsiteX20" fmla="*/ 119868 w 121685"/>
                <a:gd name="connsiteY20" fmla="*/ 28766 h 176974"/>
                <a:gd name="connsiteX21" fmla="*/ 119677 w 121685"/>
                <a:gd name="connsiteY21" fmla="*/ 171164 h 176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21685" h="176974">
                  <a:moveTo>
                    <a:pt x="119677" y="171355"/>
                  </a:moveTo>
                  <a:cubicBezTo>
                    <a:pt x="119677" y="172021"/>
                    <a:pt x="119392" y="172593"/>
                    <a:pt x="119201" y="173069"/>
                  </a:cubicBezTo>
                  <a:cubicBezTo>
                    <a:pt x="117963" y="175832"/>
                    <a:pt x="116153" y="176975"/>
                    <a:pt x="113962" y="176975"/>
                  </a:cubicBezTo>
                  <a:lnTo>
                    <a:pt x="91293" y="176975"/>
                  </a:lnTo>
                  <a:cubicBezTo>
                    <a:pt x="91293" y="176975"/>
                    <a:pt x="6901" y="176975"/>
                    <a:pt x="6901" y="176975"/>
                  </a:cubicBezTo>
                  <a:cubicBezTo>
                    <a:pt x="3853" y="176975"/>
                    <a:pt x="1186" y="174403"/>
                    <a:pt x="1186" y="171260"/>
                  </a:cubicBezTo>
                  <a:cubicBezTo>
                    <a:pt x="1186" y="156877"/>
                    <a:pt x="805" y="142494"/>
                    <a:pt x="615" y="128111"/>
                  </a:cubicBezTo>
                  <a:cubicBezTo>
                    <a:pt x="139" y="100108"/>
                    <a:pt x="-338" y="71152"/>
                    <a:pt x="329" y="42672"/>
                  </a:cubicBezTo>
                  <a:cubicBezTo>
                    <a:pt x="329" y="40577"/>
                    <a:pt x="329" y="38100"/>
                    <a:pt x="234" y="35528"/>
                  </a:cubicBezTo>
                  <a:cubicBezTo>
                    <a:pt x="-52" y="26479"/>
                    <a:pt x="-433" y="15335"/>
                    <a:pt x="4234" y="8763"/>
                  </a:cubicBezTo>
                  <a:cubicBezTo>
                    <a:pt x="8425" y="2858"/>
                    <a:pt x="16426" y="0"/>
                    <a:pt x="28714" y="0"/>
                  </a:cubicBezTo>
                  <a:cubicBezTo>
                    <a:pt x="34048" y="0"/>
                    <a:pt x="39477" y="476"/>
                    <a:pt x="44239" y="953"/>
                  </a:cubicBezTo>
                  <a:cubicBezTo>
                    <a:pt x="47002" y="1238"/>
                    <a:pt x="49478" y="1429"/>
                    <a:pt x="51669" y="1524"/>
                  </a:cubicBezTo>
                  <a:lnTo>
                    <a:pt x="59194" y="1905"/>
                  </a:lnTo>
                  <a:cubicBezTo>
                    <a:pt x="67766" y="2381"/>
                    <a:pt x="76529" y="2858"/>
                    <a:pt x="85197" y="2858"/>
                  </a:cubicBezTo>
                  <a:lnTo>
                    <a:pt x="85197" y="2858"/>
                  </a:lnTo>
                  <a:cubicBezTo>
                    <a:pt x="87197" y="2858"/>
                    <a:pt x="89388" y="2667"/>
                    <a:pt x="91769" y="2477"/>
                  </a:cubicBezTo>
                  <a:cubicBezTo>
                    <a:pt x="94531" y="2286"/>
                    <a:pt x="97484" y="2000"/>
                    <a:pt x="100342" y="2000"/>
                  </a:cubicBezTo>
                  <a:cubicBezTo>
                    <a:pt x="104818" y="2000"/>
                    <a:pt x="108152" y="2572"/>
                    <a:pt x="110819" y="3905"/>
                  </a:cubicBezTo>
                  <a:cubicBezTo>
                    <a:pt x="119868" y="8382"/>
                    <a:pt x="119868" y="16097"/>
                    <a:pt x="119868" y="24194"/>
                  </a:cubicBezTo>
                  <a:cubicBezTo>
                    <a:pt x="119868" y="25718"/>
                    <a:pt x="119868" y="27242"/>
                    <a:pt x="119868" y="28766"/>
                  </a:cubicBezTo>
                  <a:cubicBezTo>
                    <a:pt x="121678" y="79915"/>
                    <a:pt x="122916" y="125921"/>
                    <a:pt x="119677" y="17116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3306C631-C6E9-65F8-2481-F750129E0BE1}"/>
                </a:ext>
              </a:extLst>
            </p:cNvPr>
            <p:cNvSpPr/>
            <p:nvPr/>
          </p:nvSpPr>
          <p:spPr>
            <a:xfrm>
              <a:off x="7654048" y="3339775"/>
              <a:ext cx="453781" cy="206120"/>
            </a:xfrm>
            <a:custGeom>
              <a:avLst/>
              <a:gdLst>
                <a:gd name="connsiteX0" fmla="*/ 151663 w 453781"/>
                <a:gd name="connsiteY0" fmla="*/ 137065 h 206120"/>
                <a:gd name="connsiteX1" fmla="*/ 148710 w 453781"/>
                <a:gd name="connsiteY1" fmla="*/ 137732 h 206120"/>
                <a:gd name="connsiteX2" fmla="*/ 144805 w 453781"/>
                <a:gd name="connsiteY2" fmla="*/ 136112 h 206120"/>
                <a:gd name="connsiteX3" fmla="*/ 2025 w 453781"/>
                <a:gd name="connsiteY3" fmla="*/ 9525 h 206120"/>
                <a:gd name="connsiteX4" fmla="*/ 310 w 453781"/>
                <a:gd name="connsiteY4" fmla="*/ 4191 h 206120"/>
                <a:gd name="connsiteX5" fmla="*/ 6311 w 453781"/>
                <a:gd name="connsiteY5" fmla="*/ 0 h 206120"/>
                <a:gd name="connsiteX6" fmla="*/ 10026 w 453781"/>
                <a:gd name="connsiteY6" fmla="*/ 1333 h 206120"/>
                <a:gd name="connsiteX7" fmla="*/ 118420 w 453781"/>
                <a:gd name="connsiteY7" fmla="*/ 93440 h 206120"/>
                <a:gd name="connsiteX8" fmla="*/ 127660 w 453781"/>
                <a:gd name="connsiteY8" fmla="*/ 103156 h 206120"/>
                <a:gd name="connsiteX9" fmla="*/ 144710 w 453781"/>
                <a:gd name="connsiteY9" fmla="*/ 119348 h 206120"/>
                <a:gd name="connsiteX10" fmla="*/ 153853 w 453781"/>
                <a:gd name="connsiteY10" fmla="*/ 122301 h 206120"/>
                <a:gd name="connsiteX11" fmla="*/ 169284 w 453781"/>
                <a:gd name="connsiteY11" fmla="*/ 117253 h 206120"/>
                <a:gd name="connsiteX12" fmla="*/ 175285 w 453781"/>
                <a:gd name="connsiteY12" fmla="*/ 114395 h 206120"/>
                <a:gd name="connsiteX13" fmla="*/ 234911 w 453781"/>
                <a:gd name="connsiteY13" fmla="*/ 89535 h 206120"/>
                <a:gd name="connsiteX14" fmla="*/ 249199 w 453781"/>
                <a:gd name="connsiteY14" fmla="*/ 82963 h 206120"/>
                <a:gd name="connsiteX15" fmla="*/ 292442 w 453781"/>
                <a:gd name="connsiteY15" fmla="*/ 68485 h 206120"/>
                <a:gd name="connsiteX16" fmla="*/ 295395 w 453781"/>
                <a:gd name="connsiteY16" fmla="*/ 68580 h 206120"/>
                <a:gd name="connsiteX17" fmla="*/ 327970 w 453781"/>
                <a:gd name="connsiteY17" fmla="*/ 89249 h 206120"/>
                <a:gd name="connsiteX18" fmla="*/ 336162 w 453781"/>
                <a:gd name="connsiteY18" fmla="*/ 96679 h 206120"/>
                <a:gd name="connsiteX19" fmla="*/ 438841 w 453781"/>
                <a:gd name="connsiteY19" fmla="*/ 185357 h 206120"/>
                <a:gd name="connsiteX20" fmla="*/ 437984 w 453781"/>
                <a:gd name="connsiteY20" fmla="*/ 182309 h 206120"/>
                <a:gd name="connsiteX21" fmla="*/ 433031 w 453781"/>
                <a:gd name="connsiteY21" fmla="*/ 162020 h 206120"/>
                <a:gd name="connsiteX22" fmla="*/ 434365 w 453781"/>
                <a:gd name="connsiteY22" fmla="*/ 157258 h 206120"/>
                <a:gd name="connsiteX23" fmla="*/ 439223 w 453781"/>
                <a:gd name="connsiteY23" fmla="*/ 154972 h 206120"/>
                <a:gd name="connsiteX24" fmla="*/ 444080 w 453781"/>
                <a:gd name="connsiteY24" fmla="*/ 159258 h 206120"/>
                <a:gd name="connsiteX25" fmla="*/ 448843 w 453781"/>
                <a:gd name="connsiteY25" fmla="*/ 178975 h 206120"/>
                <a:gd name="connsiteX26" fmla="*/ 453700 w 453781"/>
                <a:gd name="connsiteY26" fmla="*/ 198977 h 206120"/>
                <a:gd name="connsiteX27" fmla="*/ 452367 w 453781"/>
                <a:gd name="connsiteY27" fmla="*/ 204216 h 206120"/>
                <a:gd name="connsiteX28" fmla="*/ 448176 w 453781"/>
                <a:gd name="connsiteY28" fmla="*/ 206121 h 206120"/>
                <a:gd name="connsiteX29" fmla="*/ 446938 w 453781"/>
                <a:gd name="connsiteY29" fmla="*/ 206121 h 206120"/>
                <a:gd name="connsiteX30" fmla="*/ 425602 w 453781"/>
                <a:gd name="connsiteY30" fmla="*/ 204502 h 206120"/>
                <a:gd name="connsiteX31" fmla="*/ 406647 w 453781"/>
                <a:gd name="connsiteY31" fmla="*/ 202883 h 206120"/>
                <a:gd name="connsiteX32" fmla="*/ 401123 w 453781"/>
                <a:gd name="connsiteY32" fmla="*/ 196977 h 206120"/>
                <a:gd name="connsiteX33" fmla="*/ 406552 w 453781"/>
                <a:gd name="connsiteY33" fmla="*/ 191453 h 206120"/>
                <a:gd name="connsiteX34" fmla="*/ 426173 w 453781"/>
                <a:gd name="connsiteY34" fmla="*/ 193072 h 206120"/>
                <a:gd name="connsiteX35" fmla="*/ 430650 w 453781"/>
                <a:gd name="connsiteY35" fmla="*/ 193548 h 206120"/>
                <a:gd name="connsiteX36" fmla="*/ 321208 w 453781"/>
                <a:gd name="connsiteY36" fmla="*/ 99250 h 206120"/>
                <a:gd name="connsiteX37" fmla="*/ 284917 w 453781"/>
                <a:gd name="connsiteY37" fmla="*/ 82296 h 206120"/>
                <a:gd name="connsiteX38" fmla="*/ 272440 w 453781"/>
                <a:gd name="connsiteY38" fmla="*/ 86487 h 206120"/>
                <a:gd name="connsiteX39" fmla="*/ 267487 w 453781"/>
                <a:gd name="connsiteY39" fmla="*/ 88773 h 206120"/>
                <a:gd name="connsiteX40" fmla="*/ 229672 w 453781"/>
                <a:gd name="connsiteY40" fmla="*/ 103823 h 206120"/>
                <a:gd name="connsiteX41" fmla="*/ 151758 w 453781"/>
                <a:gd name="connsiteY41" fmla="*/ 137065 h 20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453781" h="206120">
                  <a:moveTo>
                    <a:pt x="151663" y="137065"/>
                  </a:moveTo>
                  <a:cubicBezTo>
                    <a:pt x="150710" y="137541"/>
                    <a:pt x="149662" y="137732"/>
                    <a:pt x="148710" y="137732"/>
                  </a:cubicBezTo>
                  <a:cubicBezTo>
                    <a:pt x="147186" y="137732"/>
                    <a:pt x="145852" y="137160"/>
                    <a:pt x="144805" y="136112"/>
                  </a:cubicBezTo>
                  <a:cubicBezTo>
                    <a:pt x="96703" y="85439"/>
                    <a:pt x="43173" y="41910"/>
                    <a:pt x="2025" y="9525"/>
                  </a:cubicBezTo>
                  <a:cubicBezTo>
                    <a:pt x="215" y="8096"/>
                    <a:pt x="-452" y="6191"/>
                    <a:pt x="310" y="4191"/>
                  </a:cubicBezTo>
                  <a:cubicBezTo>
                    <a:pt x="1168" y="1810"/>
                    <a:pt x="3739" y="0"/>
                    <a:pt x="6311" y="0"/>
                  </a:cubicBezTo>
                  <a:cubicBezTo>
                    <a:pt x="7645" y="0"/>
                    <a:pt x="8883" y="476"/>
                    <a:pt x="10026" y="1333"/>
                  </a:cubicBezTo>
                  <a:cubicBezTo>
                    <a:pt x="53936" y="35719"/>
                    <a:pt x="88417" y="65056"/>
                    <a:pt x="118420" y="93440"/>
                  </a:cubicBezTo>
                  <a:cubicBezTo>
                    <a:pt x="121468" y="96298"/>
                    <a:pt x="124516" y="99727"/>
                    <a:pt x="127660" y="103156"/>
                  </a:cubicBezTo>
                  <a:cubicBezTo>
                    <a:pt x="133089" y="109157"/>
                    <a:pt x="138709" y="115348"/>
                    <a:pt x="144710" y="119348"/>
                  </a:cubicBezTo>
                  <a:cubicBezTo>
                    <a:pt x="147662" y="121349"/>
                    <a:pt x="150710" y="122301"/>
                    <a:pt x="153853" y="122301"/>
                  </a:cubicBezTo>
                  <a:cubicBezTo>
                    <a:pt x="158902" y="122301"/>
                    <a:pt x="163950" y="119825"/>
                    <a:pt x="169284" y="117253"/>
                  </a:cubicBezTo>
                  <a:cubicBezTo>
                    <a:pt x="171189" y="116300"/>
                    <a:pt x="173189" y="115348"/>
                    <a:pt x="175285" y="114395"/>
                  </a:cubicBezTo>
                  <a:cubicBezTo>
                    <a:pt x="194716" y="106013"/>
                    <a:pt x="214718" y="97631"/>
                    <a:pt x="234911" y="89535"/>
                  </a:cubicBezTo>
                  <a:cubicBezTo>
                    <a:pt x="239197" y="87821"/>
                    <a:pt x="243960" y="85535"/>
                    <a:pt x="249199" y="82963"/>
                  </a:cubicBezTo>
                  <a:cubicBezTo>
                    <a:pt x="263200" y="76200"/>
                    <a:pt x="279107" y="68485"/>
                    <a:pt x="292442" y="68485"/>
                  </a:cubicBezTo>
                  <a:cubicBezTo>
                    <a:pt x="293490" y="68485"/>
                    <a:pt x="294442" y="68485"/>
                    <a:pt x="295395" y="68580"/>
                  </a:cubicBezTo>
                  <a:cubicBezTo>
                    <a:pt x="307111" y="69723"/>
                    <a:pt x="318731" y="80582"/>
                    <a:pt x="327970" y="89249"/>
                  </a:cubicBezTo>
                  <a:cubicBezTo>
                    <a:pt x="330923" y="92012"/>
                    <a:pt x="333590" y="94583"/>
                    <a:pt x="336162" y="96679"/>
                  </a:cubicBezTo>
                  <a:cubicBezTo>
                    <a:pt x="369690" y="124301"/>
                    <a:pt x="403313" y="153353"/>
                    <a:pt x="438841" y="185357"/>
                  </a:cubicBezTo>
                  <a:lnTo>
                    <a:pt x="437984" y="182309"/>
                  </a:lnTo>
                  <a:cubicBezTo>
                    <a:pt x="436079" y="175736"/>
                    <a:pt x="434174" y="168974"/>
                    <a:pt x="433031" y="162020"/>
                  </a:cubicBezTo>
                  <a:cubicBezTo>
                    <a:pt x="432745" y="160211"/>
                    <a:pt x="433222" y="158591"/>
                    <a:pt x="434365" y="157258"/>
                  </a:cubicBezTo>
                  <a:cubicBezTo>
                    <a:pt x="435603" y="155829"/>
                    <a:pt x="437413" y="154972"/>
                    <a:pt x="439223" y="154972"/>
                  </a:cubicBezTo>
                  <a:cubicBezTo>
                    <a:pt x="441794" y="154972"/>
                    <a:pt x="443604" y="156591"/>
                    <a:pt x="444080" y="159258"/>
                  </a:cubicBezTo>
                  <a:cubicBezTo>
                    <a:pt x="445128" y="165925"/>
                    <a:pt x="447033" y="172593"/>
                    <a:pt x="448843" y="178975"/>
                  </a:cubicBezTo>
                  <a:cubicBezTo>
                    <a:pt x="450748" y="185452"/>
                    <a:pt x="452653" y="192119"/>
                    <a:pt x="453700" y="198977"/>
                  </a:cubicBezTo>
                  <a:cubicBezTo>
                    <a:pt x="453986" y="200978"/>
                    <a:pt x="453510" y="202883"/>
                    <a:pt x="452367" y="204216"/>
                  </a:cubicBezTo>
                  <a:cubicBezTo>
                    <a:pt x="451319" y="205454"/>
                    <a:pt x="449890" y="206121"/>
                    <a:pt x="448176" y="206121"/>
                  </a:cubicBezTo>
                  <a:lnTo>
                    <a:pt x="446938" y="206121"/>
                  </a:lnTo>
                  <a:cubicBezTo>
                    <a:pt x="439794" y="206121"/>
                    <a:pt x="432650" y="205264"/>
                    <a:pt x="425602" y="204502"/>
                  </a:cubicBezTo>
                  <a:cubicBezTo>
                    <a:pt x="419410" y="203740"/>
                    <a:pt x="412933" y="203073"/>
                    <a:pt x="406647" y="202883"/>
                  </a:cubicBezTo>
                  <a:cubicBezTo>
                    <a:pt x="402932" y="202883"/>
                    <a:pt x="401123" y="199835"/>
                    <a:pt x="401123" y="196977"/>
                  </a:cubicBezTo>
                  <a:cubicBezTo>
                    <a:pt x="401123" y="194215"/>
                    <a:pt x="403027" y="191453"/>
                    <a:pt x="406552" y="191453"/>
                  </a:cubicBezTo>
                  <a:cubicBezTo>
                    <a:pt x="413219" y="191643"/>
                    <a:pt x="419791" y="192310"/>
                    <a:pt x="426173" y="193072"/>
                  </a:cubicBezTo>
                  <a:cubicBezTo>
                    <a:pt x="427697" y="193262"/>
                    <a:pt x="429126" y="193453"/>
                    <a:pt x="430650" y="193548"/>
                  </a:cubicBezTo>
                  <a:cubicBezTo>
                    <a:pt x="392740" y="159449"/>
                    <a:pt x="356927" y="128588"/>
                    <a:pt x="321208" y="99250"/>
                  </a:cubicBezTo>
                  <a:cubicBezTo>
                    <a:pt x="316350" y="95250"/>
                    <a:pt x="299395" y="82296"/>
                    <a:pt x="284917" y="82296"/>
                  </a:cubicBezTo>
                  <a:cubicBezTo>
                    <a:pt x="280822" y="82391"/>
                    <a:pt x="276345" y="84582"/>
                    <a:pt x="272440" y="86487"/>
                  </a:cubicBezTo>
                  <a:cubicBezTo>
                    <a:pt x="270630" y="87344"/>
                    <a:pt x="268915" y="88202"/>
                    <a:pt x="267487" y="88773"/>
                  </a:cubicBezTo>
                  <a:cubicBezTo>
                    <a:pt x="254818" y="93631"/>
                    <a:pt x="242245" y="98679"/>
                    <a:pt x="229672" y="103823"/>
                  </a:cubicBezTo>
                  <a:cubicBezTo>
                    <a:pt x="204717" y="114014"/>
                    <a:pt x="179190" y="124873"/>
                    <a:pt x="151758" y="13706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997E6D8A-E48B-C074-808C-8FEDA7B81C42}"/>
                </a:ext>
              </a:extLst>
            </p:cNvPr>
            <p:cNvSpPr/>
            <p:nvPr/>
          </p:nvSpPr>
          <p:spPr>
            <a:xfrm>
              <a:off x="7888567" y="3527323"/>
              <a:ext cx="122066" cy="224218"/>
            </a:xfrm>
            <a:custGeom>
              <a:avLst/>
              <a:gdLst>
                <a:gd name="connsiteX0" fmla="*/ 120788 w 122066"/>
                <a:gd name="connsiteY0" fmla="*/ 125921 h 224218"/>
                <a:gd name="connsiteX1" fmla="*/ 120027 w 122066"/>
                <a:gd name="connsiteY1" fmla="*/ 218504 h 224218"/>
                <a:gd name="connsiteX2" fmla="*/ 119645 w 122066"/>
                <a:gd name="connsiteY2" fmla="*/ 220028 h 224218"/>
                <a:gd name="connsiteX3" fmla="*/ 119265 w 122066"/>
                <a:gd name="connsiteY3" fmla="*/ 220980 h 224218"/>
                <a:gd name="connsiteX4" fmla="*/ 114312 w 122066"/>
                <a:gd name="connsiteY4" fmla="*/ 224219 h 224218"/>
                <a:gd name="connsiteX5" fmla="*/ 91642 w 122066"/>
                <a:gd name="connsiteY5" fmla="*/ 224219 h 224218"/>
                <a:gd name="connsiteX6" fmla="*/ 7250 w 122066"/>
                <a:gd name="connsiteY6" fmla="*/ 224219 h 224218"/>
                <a:gd name="connsiteX7" fmla="*/ 1536 w 122066"/>
                <a:gd name="connsiteY7" fmla="*/ 218504 h 224218"/>
                <a:gd name="connsiteX8" fmla="*/ 964 w 122066"/>
                <a:gd name="connsiteY8" fmla="*/ 162496 h 224218"/>
                <a:gd name="connsiteX9" fmla="*/ 392 w 122066"/>
                <a:gd name="connsiteY9" fmla="*/ 75533 h 224218"/>
                <a:gd name="connsiteX10" fmla="*/ 202 w 122066"/>
                <a:gd name="connsiteY10" fmla="*/ 60960 h 224218"/>
                <a:gd name="connsiteX11" fmla="*/ 1631 w 122066"/>
                <a:gd name="connsiteY11" fmla="*/ 20193 h 224218"/>
                <a:gd name="connsiteX12" fmla="*/ 31730 w 122066"/>
                <a:gd name="connsiteY12" fmla="*/ 286 h 224218"/>
                <a:gd name="connsiteX13" fmla="*/ 48017 w 122066"/>
                <a:gd name="connsiteY13" fmla="*/ 1238 h 224218"/>
                <a:gd name="connsiteX14" fmla="*/ 60591 w 122066"/>
                <a:gd name="connsiteY14" fmla="*/ 2000 h 224218"/>
                <a:gd name="connsiteX15" fmla="*/ 60686 w 122066"/>
                <a:gd name="connsiteY15" fmla="*/ 2000 h 224218"/>
                <a:gd name="connsiteX16" fmla="*/ 76307 w 122066"/>
                <a:gd name="connsiteY16" fmla="*/ 1048 h 224218"/>
                <a:gd name="connsiteX17" fmla="*/ 94214 w 122066"/>
                <a:gd name="connsiteY17" fmla="*/ 0 h 224218"/>
                <a:gd name="connsiteX18" fmla="*/ 110120 w 122066"/>
                <a:gd name="connsiteY18" fmla="*/ 2191 h 224218"/>
                <a:gd name="connsiteX19" fmla="*/ 111740 w 122066"/>
                <a:gd name="connsiteY19" fmla="*/ 2762 h 224218"/>
                <a:gd name="connsiteX20" fmla="*/ 119360 w 122066"/>
                <a:gd name="connsiteY20" fmla="*/ 10858 h 224218"/>
                <a:gd name="connsiteX21" fmla="*/ 120979 w 122066"/>
                <a:gd name="connsiteY21" fmla="*/ 48482 h 224218"/>
                <a:gd name="connsiteX22" fmla="*/ 120027 w 122066"/>
                <a:gd name="connsiteY22" fmla="*/ 62294 h 224218"/>
                <a:gd name="connsiteX23" fmla="*/ 120693 w 122066"/>
                <a:gd name="connsiteY23" fmla="*/ 125825 h 224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2066" h="224218">
                  <a:moveTo>
                    <a:pt x="120788" y="125921"/>
                  </a:moveTo>
                  <a:cubicBezTo>
                    <a:pt x="121550" y="156305"/>
                    <a:pt x="122408" y="187738"/>
                    <a:pt x="120027" y="218504"/>
                  </a:cubicBezTo>
                  <a:cubicBezTo>
                    <a:pt x="120027" y="219075"/>
                    <a:pt x="119836" y="219551"/>
                    <a:pt x="119645" y="220028"/>
                  </a:cubicBezTo>
                  <a:lnTo>
                    <a:pt x="119265" y="220980"/>
                  </a:lnTo>
                  <a:cubicBezTo>
                    <a:pt x="118312" y="222980"/>
                    <a:pt x="116502" y="224219"/>
                    <a:pt x="114312" y="224219"/>
                  </a:cubicBezTo>
                  <a:lnTo>
                    <a:pt x="91642" y="224219"/>
                  </a:lnTo>
                  <a:cubicBezTo>
                    <a:pt x="91642" y="224219"/>
                    <a:pt x="7250" y="224219"/>
                    <a:pt x="7250" y="224219"/>
                  </a:cubicBezTo>
                  <a:cubicBezTo>
                    <a:pt x="4203" y="224219"/>
                    <a:pt x="1536" y="221647"/>
                    <a:pt x="1536" y="218504"/>
                  </a:cubicBezTo>
                  <a:cubicBezTo>
                    <a:pt x="1440" y="199834"/>
                    <a:pt x="1250" y="181166"/>
                    <a:pt x="964" y="162496"/>
                  </a:cubicBezTo>
                  <a:cubicBezTo>
                    <a:pt x="583" y="133541"/>
                    <a:pt x="297" y="104489"/>
                    <a:pt x="392" y="75533"/>
                  </a:cubicBezTo>
                  <a:cubicBezTo>
                    <a:pt x="392" y="70771"/>
                    <a:pt x="392" y="65913"/>
                    <a:pt x="202" y="60960"/>
                  </a:cubicBezTo>
                  <a:cubicBezTo>
                    <a:pt x="-84" y="47434"/>
                    <a:pt x="-369" y="33338"/>
                    <a:pt x="1631" y="20193"/>
                  </a:cubicBezTo>
                  <a:cubicBezTo>
                    <a:pt x="4298" y="2572"/>
                    <a:pt x="19157" y="286"/>
                    <a:pt x="31730" y="286"/>
                  </a:cubicBezTo>
                  <a:cubicBezTo>
                    <a:pt x="37064" y="286"/>
                    <a:pt x="42588" y="762"/>
                    <a:pt x="48017" y="1238"/>
                  </a:cubicBezTo>
                  <a:cubicBezTo>
                    <a:pt x="52494" y="1619"/>
                    <a:pt x="56781" y="2000"/>
                    <a:pt x="60591" y="2000"/>
                  </a:cubicBezTo>
                  <a:lnTo>
                    <a:pt x="60686" y="2000"/>
                  </a:lnTo>
                  <a:cubicBezTo>
                    <a:pt x="65924" y="2000"/>
                    <a:pt x="70973" y="1524"/>
                    <a:pt x="76307" y="1048"/>
                  </a:cubicBezTo>
                  <a:cubicBezTo>
                    <a:pt x="82212" y="571"/>
                    <a:pt x="88403" y="0"/>
                    <a:pt x="94214" y="0"/>
                  </a:cubicBezTo>
                  <a:cubicBezTo>
                    <a:pt x="100881" y="0"/>
                    <a:pt x="106025" y="762"/>
                    <a:pt x="110120" y="2191"/>
                  </a:cubicBezTo>
                  <a:lnTo>
                    <a:pt x="111740" y="2762"/>
                  </a:lnTo>
                  <a:cubicBezTo>
                    <a:pt x="117074" y="4667"/>
                    <a:pt x="117264" y="4858"/>
                    <a:pt x="119360" y="10858"/>
                  </a:cubicBezTo>
                  <a:cubicBezTo>
                    <a:pt x="123265" y="21908"/>
                    <a:pt x="122122" y="36004"/>
                    <a:pt x="120979" y="48482"/>
                  </a:cubicBezTo>
                  <a:cubicBezTo>
                    <a:pt x="120598" y="53340"/>
                    <a:pt x="120122" y="58007"/>
                    <a:pt x="120027" y="62294"/>
                  </a:cubicBezTo>
                  <a:cubicBezTo>
                    <a:pt x="119550" y="83439"/>
                    <a:pt x="120027" y="104966"/>
                    <a:pt x="120693" y="12582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8" name="Forma Livre: Forma 27">
              <a:extLst>
                <a:ext uri="{FF2B5EF4-FFF2-40B4-BE49-F238E27FC236}">
                  <a16:creationId xmlns:a16="http://schemas.microsoft.com/office/drawing/2014/main" id="{C9A41960-F3C1-4B64-89DC-52E7FA359ED5}"/>
                </a:ext>
              </a:extLst>
            </p:cNvPr>
            <p:cNvSpPr/>
            <p:nvPr/>
          </p:nvSpPr>
          <p:spPr>
            <a:xfrm>
              <a:off x="8035048" y="3634003"/>
              <a:ext cx="121173" cy="117538"/>
            </a:xfrm>
            <a:custGeom>
              <a:avLst/>
              <a:gdLst>
                <a:gd name="connsiteX0" fmla="*/ 120040 w 121173"/>
                <a:gd name="connsiteY0" fmla="*/ 111919 h 117538"/>
                <a:gd name="connsiteX1" fmla="*/ 119659 w 121173"/>
                <a:gd name="connsiteY1" fmla="*/ 113443 h 117538"/>
                <a:gd name="connsiteX2" fmla="*/ 119183 w 121173"/>
                <a:gd name="connsiteY2" fmla="*/ 114491 h 117538"/>
                <a:gd name="connsiteX3" fmla="*/ 114325 w 121173"/>
                <a:gd name="connsiteY3" fmla="*/ 117539 h 117538"/>
                <a:gd name="connsiteX4" fmla="*/ 91655 w 121173"/>
                <a:gd name="connsiteY4" fmla="*/ 117539 h 117538"/>
                <a:gd name="connsiteX5" fmla="*/ 7264 w 121173"/>
                <a:gd name="connsiteY5" fmla="*/ 117539 h 117538"/>
                <a:gd name="connsiteX6" fmla="*/ 1549 w 121173"/>
                <a:gd name="connsiteY6" fmla="*/ 111824 h 117538"/>
                <a:gd name="connsiteX7" fmla="*/ 977 w 121173"/>
                <a:gd name="connsiteY7" fmla="*/ 86106 h 117538"/>
                <a:gd name="connsiteX8" fmla="*/ 406 w 121173"/>
                <a:gd name="connsiteY8" fmla="*/ 46577 h 117538"/>
                <a:gd name="connsiteX9" fmla="*/ 215 w 121173"/>
                <a:gd name="connsiteY9" fmla="*/ 39338 h 117538"/>
                <a:gd name="connsiteX10" fmla="*/ 5359 w 121173"/>
                <a:gd name="connsiteY10" fmla="*/ 6001 h 117538"/>
                <a:gd name="connsiteX11" fmla="*/ 24123 w 121173"/>
                <a:gd name="connsiteY11" fmla="*/ 0 h 117538"/>
                <a:gd name="connsiteX12" fmla="*/ 32600 w 121173"/>
                <a:gd name="connsiteY12" fmla="*/ 286 h 117538"/>
                <a:gd name="connsiteX13" fmla="*/ 38887 w 121173"/>
                <a:gd name="connsiteY13" fmla="*/ 571 h 117538"/>
                <a:gd name="connsiteX14" fmla="*/ 45269 w 121173"/>
                <a:gd name="connsiteY14" fmla="*/ 571 h 117538"/>
                <a:gd name="connsiteX15" fmla="*/ 67271 w 121173"/>
                <a:gd name="connsiteY15" fmla="*/ 667 h 117538"/>
                <a:gd name="connsiteX16" fmla="*/ 89274 w 121173"/>
                <a:gd name="connsiteY16" fmla="*/ 762 h 117538"/>
                <a:gd name="connsiteX17" fmla="*/ 97466 w 121173"/>
                <a:gd name="connsiteY17" fmla="*/ 762 h 117538"/>
                <a:gd name="connsiteX18" fmla="*/ 120516 w 121173"/>
                <a:gd name="connsiteY18" fmla="*/ 26670 h 117538"/>
                <a:gd name="connsiteX19" fmla="*/ 120516 w 121173"/>
                <a:gd name="connsiteY19" fmla="*/ 31433 h 117538"/>
                <a:gd name="connsiteX20" fmla="*/ 119754 w 121173"/>
                <a:gd name="connsiteY20" fmla="*/ 111824 h 117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21173" h="117538">
                  <a:moveTo>
                    <a:pt x="120040" y="111919"/>
                  </a:moveTo>
                  <a:cubicBezTo>
                    <a:pt x="120040" y="112586"/>
                    <a:pt x="119754" y="113062"/>
                    <a:pt x="119659" y="113443"/>
                  </a:cubicBezTo>
                  <a:lnTo>
                    <a:pt x="119183" y="114491"/>
                  </a:lnTo>
                  <a:cubicBezTo>
                    <a:pt x="118325" y="116396"/>
                    <a:pt x="116516" y="117539"/>
                    <a:pt x="114325" y="117539"/>
                  </a:cubicBezTo>
                  <a:lnTo>
                    <a:pt x="91655" y="117539"/>
                  </a:lnTo>
                  <a:cubicBezTo>
                    <a:pt x="91655" y="117539"/>
                    <a:pt x="7264" y="117539"/>
                    <a:pt x="7264" y="117539"/>
                  </a:cubicBezTo>
                  <a:cubicBezTo>
                    <a:pt x="4121" y="117539"/>
                    <a:pt x="1549" y="114967"/>
                    <a:pt x="1549" y="111824"/>
                  </a:cubicBezTo>
                  <a:cubicBezTo>
                    <a:pt x="1549" y="103251"/>
                    <a:pt x="1263" y="94679"/>
                    <a:pt x="977" y="86106"/>
                  </a:cubicBezTo>
                  <a:cubicBezTo>
                    <a:pt x="596" y="73152"/>
                    <a:pt x="311" y="59722"/>
                    <a:pt x="406" y="46577"/>
                  </a:cubicBezTo>
                  <a:cubicBezTo>
                    <a:pt x="406" y="44577"/>
                    <a:pt x="406" y="42100"/>
                    <a:pt x="215" y="39338"/>
                  </a:cubicBezTo>
                  <a:cubicBezTo>
                    <a:pt x="-166" y="28385"/>
                    <a:pt x="-737" y="13335"/>
                    <a:pt x="5359" y="6001"/>
                  </a:cubicBezTo>
                  <a:cubicBezTo>
                    <a:pt x="9931" y="571"/>
                    <a:pt x="18218" y="0"/>
                    <a:pt x="24123" y="0"/>
                  </a:cubicBezTo>
                  <a:cubicBezTo>
                    <a:pt x="26981" y="0"/>
                    <a:pt x="29933" y="191"/>
                    <a:pt x="32600" y="286"/>
                  </a:cubicBezTo>
                  <a:cubicBezTo>
                    <a:pt x="34886" y="381"/>
                    <a:pt x="37077" y="571"/>
                    <a:pt x="38887" y="571"/>
                  </a:cubicBezTo>
                  <a:lnTo>
                    <a:pt x="45269" y="571"/>
                  </a:lnTo>
                  <a:cubicBezTo>
                    <a:pt x="52603" y="571"/>
                    <a:pt x="59937" y="571"/>
                    <a:pt x="67271" y="667"/>
                  </a:cubicBezTo>
                  <a:cubicBezTo>
                    <a:pt x="74606" y="667"/>
                    <a:pt x="81940" y="762"/>
                    <a:pt x="89274" y="762"/>
                  </a:cubicBezTo>
                  <a:cubicBezTo>
                    <a:pt x="89274" y="762"/>
                    <a:pt x="97466" y="762"/>
                    <a:pt x="97466" y="762"/>
                  </a:cubicBezTo>
                  <a:cubicBezTo>
                    <a:pt x="120040" y="762"/>
                    <a:pt x="120230" y="8858"/>
                    <a:pt x="120516" y="26670"/>
                  </a:cubicBezTo>
                  <a:lnTo>
                    <a:pt x="120516" y="31433"/>
                  </a:lnTo>
                  <a:cubicBezTo>
                    <a:pt x="121278" y="56293"/>
                    <a:pt x="121754" y="84963"/>
                    <a:pt x="119754" y="11182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9" name="Forma Livre: Forma 28">
              <a:extLst>
                <a:ext uri="{FF2B5EF4-FFF2-40B4-BE49-F238E27FC236}">
                  <a16:creationId xmlns:a16="http://schemas.microsoft.com/office/drawing/2014/main" id="{11A60E99-BC3B-BD2D-DDE5-23FC534064DA}"/>
                </a:ext>
              </a:extLst>
            </p:cNvPr>
            <p:cNvSpPr/>
            <p:nvPr/>
          </p:nvSpPr>
          <p:spPr>
            <a:xfrm>
              <a:off x="8045902" y="3645909"/>
              <a:ext cx="98878" cy="93916"/>
            </a:xfrm>
            <a:custGeom>
              <a:avLst/>
              <a:gdLst>
                <a:gd name="connsiteX0" fmla="*/ 98423 w 98878"/>
                <a:gd name="connsiteY0" fmla="*/ 12954 h 93916"/>
                <a:gd name="connsiteX1" fmla="*/ 85659 w 98878"/>
                <a:gd name="connsiteY1" fmla="*/ 381 h 93916"/>
                <a:gd name="connsiteX2" fmla="*/ 82802 w 98878"/>
                <a:gd name="connsiteY2" fmla="*/ 381 h 93916"/>
                <a:gd name="connsiteX3" fmla="*/ 73467 w 98878"/>
                <a:gd name="connsiteY3" fmla="*/ 381 h 93916"/>
                <a:gd name="connsiteX4" fmla="*/ 51655 w 98878"/>
                <a:gd name="connsiteY4" fmla="*/ 191 h 93916"/>
                <a:gd name="connsiteX5" fmla="*/ 39082 w 98878"/>
                <a:gd name="connsiteY5" fmla="*/ 0 h 93916"/>
                <a:gd name="connsiteX6" fmla="*/ 31652 w 98878"/>
                <a:gd name="connsiteY6" fmla="*/ 0 h 93916"/>
                <a:gd name="connsiteX7" fmla="*/ 21461 w 98878"/>
                <a:gd name="connsiteY7" fmla="*/ 0 h 93916"/>
                <a:gd name="connsiteX8" fmla="*/ 10412 w 98878"/>
                <a:gd name="connsiteY8" fmla="*/ 381 h 93916"/>
                <a:gd name="connsiteX9" fmla="*/ 3363 w 98878"/>
                <a:gd name="connsiteY9" fmla="*/ 3048 h 93916"/>
                <a:gd name="connsiteX10" fmla="*/ 2411 w 98878"/>
                <a:gd name="connsiteY10" fmla="*/ 8954 h 93916"/>
                <a:gd name="connsiteX11" fmla="*/ 696 w 98878"/>
                <a:gd name="connsiteY11" fmla="*/ 42863 h 93916"/>
                <a:gd name="connsiteX12" fmla="*/ 1268 w 98878"/>
                <a:gd name="connsiteY12" fmla="*/ 53816 h 93916"/>
                <a:gd name="connsiteX13" fmla="*/ 1744 w 98878"/>
                <a:gd name="connsiteY13" fmla="*/ 73533 h 93916"/>
                <a:gd name="connsiteX14" fmla="*/ 2220 w 98878"/>
                <a:gd name="connsiteY14" fmla="*/ 93917 h 93916"/>
                <a:gd name="connsiteX15" fmla="*/ 21937 w 98878"/>
                <a:gd name="connsiteY15" fmla="*/ 93917 h 93916"/>
                <a:gd name="connsiteX16" fmla="*/ 98137 w 98878"/>
                <a:gd name="connsiteY16" fmla="*/ 93917 h 93916"/>
                <a:gd name="connsiteX17" fmla="*/ 98613 w 98878"/>
                <a:gd name="connsiteY17" fmla="*/ 57817 h 93916"/>
                <a:gd name="connsiteX18" fmla="*/ 98804 w 98878"/>
                <a:gd name="connsiteY18" fmla="*/ 30575 h 93916"/>
                <a:gd name="connsiteX19" fmla="*/ 98423 w 98878"/>
                <a:gd name="connsiteY19" fmla="*/ 12668 h 9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8878" h="93916">
                  <a:moveTo>
                    <a:pt x="98423" y="12954"/>
                  </a:moveTo>
                  <a:cubicBezTo>
                    <a:pt x="97946" y="1429"/>
                    <a:pt x="95660" y="381"/>
                    <a:pt x="85659" y="381"/>
                  </a:cubicBezTo>
                  <a:lnTo>
                    <a:pt x="82802" y="381"/>
                  </a:lnTo>
                  <a:cubicBezTo>
                    <a:pt x="79658" y="381"/>
                    <a:pt x="76610" y="381"/>
                    <a:pt x="73467" y="381"/>
                  </a:cubicBezTo>
                  <a:cubicBezTo>
                    <a:pt x="66228" y="381"/>
                    <a:pt x="58989" y="286"/>
                    <a:pt x="51655" y="191"/>
                  </a:cubicBezTo>
                  <a:lnTo>
                    <a:pt x="39082" y="0"/>
                  </a:lnTo>
                  <a:lnTo>
                    <a:pt x="31652" y="0"/>
                  </a:lnTo>
                  <a:cubicBezTo>
                    <a:pt x="28223" y="0"/>
                    <a:pt x="24890" y="0"/>
                    <a:pt x="21461" y="0"/>
                  </a:cubicBezTo>
                  <a:cubicBezTo>
                    <a:pt x="17746" y="0"/>
                    <a:pt x="14126" y="191"/>
                    <a:pt x="10412" y="381"/>
                  </a:cubicBezTo>
                  <a:cubicBezTo>
                    <a:pt x="6983" y="571"/>
                    <a:pt x="4601" y="1524"/>
                    <a:pt x="3363" y="3048"/>
                  </a:cubicBezTo>
                  <a:cubicBezTo>
                    <a:pt x="2315" y="4382"/>
                    <a:pt x="1934" y="6382"/>
                    <a:pt x="2411" y="8954"/>
                  </a:cubicBezTo>
                  <a:cubicBezTo>
                    <a:pt x="-923" y="18193"/>
                    <a:pt x="-66" y="31337"/>
                    <a:pt x="696" y="42863"/>
                  </a:cubicBezTo>
                  <a:cubicBezTo>
                    <a:pt x="982" y="46863"/>
                    <a:pt x="1172" y="50578"/>
                    <a:pt x="1268" y="53816"/>
                  </a:cubicBezTo>
                  <a:cubicBezTo>
                    <a:pt x="1363" y="60389"/>
                    <a:pt x="1553" y="66961"/>
                    <a:pt x="1744" y="73533"/>
                  </a:cubicBezTo>
                  <a:cubicBezTo>
                    <a:pt x="1934" y="80296"/>
                    <a:pt x="2125" y="87154"/>
                    <a:pt x="2220" y="93917"/>
                  </a:cubicBezTo>
                  <a:lnTo>
                    <a:pt x="21937" y="93917"/>
                  </a:lnTo>
                  <a:cubicBezTo>
                    <a:pt x="21937" y="93917"/>
                    <a:pt x="98137" y="93917"/>
                    <a:pt x="98137" y="93917"/>
                  </a:cubicBezTo>
                  <a:cubicBezTo>
                    <a:pt x="98804" y="81915"/>
                    <a:pt x="98708" y="69723"/>
                    <a:pt x="98613" y="57817"/>
                  </a:cubicBezTo>
                  <a:cubicBezTo>
                    <a:pt x="98613" y="48768"/>
                    <a:pt x="98518" y="39624"/>
                    <a:pt x="98804" y="30575"/>
                  </a:cubicBezTo>
                  <a:cubicBezTo>
                    <a:pt x="98994" y="24479"/>
                    <a:pt x="98804" y="18383"/>
                    <a:pt x="98423" y="12668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35" name="Gráfico 4">
            <a:extLst>
              <a:ext uri="{FF2B5EF4-FFF2-40B4-BE49-F238E27FC236}">
                <a16:creationId xmlns:a16="http://schemas.microsoft.com/office/drawing/2014/main" id="{F9F63488-8814-622E-58FD-0A0439B0059C}"/>
              </a:ext>
            </a:extLst>
          </p:cNvPr>
          <p:cNvGrpSpPr/>
          <p:nvPr/>
        </p:nvGrpSpPr>
        <p:grpSpPr>
          <a:xfrm>
            <a:off x="6198899" y="5396209"/>
            <a:ext cx="270123" cy="298876"/>
            <a:chOff x="10273855" y="2271721"/>
            <a:chExt cx="270123" cy="298876"/>
          </a:xfrm>
          <a:solidFill>
            <a:srgbClr val="04B0FF"/>
          </a:solidFill>
        </p:grpSpPr>
        <p:sp>
          <p:nvSpPr>
            <p:cNvPr id="36" name="Forma Livre: Forma 35">
              <a:extLst>
                <a:ext uri="{FF2B5EF4-FFF2-40B4-BE49-F238E27FC236}">
                  <a16:creationId xmlns:a16="http://schemas.microsoft.com/office/drawing/2014/main" id="{D0F96C97-746F-0B48-FF1A-CA8888A5F839}"/>
                </a:ext>
              </a:extLst>
            </p:cNvPr>
            <p:cNvSpPr/>
            <p:nvPr/>
          </p:nvSpPr>
          <p:spPr>
            <a:xfrm>
              <a:off x="10446300" y="2470298"/>
              <a:ext cx="97678" cy="38187"/>
            </a:xfrm>
            <a:custGeom>
              <a:avLst/>
              <a:gdLst>
                <a:gd name="connsiteX0" fmla="*/ 1760 w 97678"/>
                <a:gd name="connsiteY0" fmla="*/ 14189 h 38187"/>
                <a:gd name="connsiteX1" fmla="*/ 1909 w 97678"/>
                <a:gd name="connsiteY1" fmla="*/ 19094 h 38187"/>
                <a:gd name="connsiteX2" fmla="*/ 0 w 97678"/>
                <a:gd name="connsiteY2" fmla="*/ 37926 h 38187"/>
                <a:gd name="connsiteX3" fmla="*/ 13441 w 97678"/>
                <a:gd name="connsiteY3" fmla="*/ 38188 h 38187"/>
                <a:gd name="connsiteX4" fmla="*/ 97679 w 97678"/>
                <a:gd name="connsiteY4" fmla="*/ 19281 h 38187"/>
                <a:gd name="connsiteX5" fmla="*/ 97679 w 97678"/>
                <a:gd name="connsiteY5" fmla="*/ 18982 h 38187"/>
                <a:gd name="connsiteX6" fmla="*/ 97679 w 97678"/>
                <a:gd name="connsiteY6" fmla="*/ 18308 h 38187"/>
                <a:gd name="connsiteX7" fmla="*/ 97679 w 97678"/>
                <a:gd name="connsiteY7" fmla="*/ 0 h 38187"/>
                <a:gd name="connsiteX8" fmla="*/ 13403 w 97678"/>
                <a:gd name="connsiteY8" fmla="*/ 14377 h 38187"/>
                <a:gd name="connsiteX9" fmla="*/ 1760 w 97678"/>
                <a:gd name="connsiteY9" fmla="*/ 14189 h 38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78" h="38187">
                  <a:moveTo>
                    <a:pt x="1760" y="14189"/>
                  </a:moveTo>
                  <a:cubicBezTo>
                    <a:pt x="1835" y="15799"/>
                    <a:pt x="1909" y="17447"/>
                    <a:pt x="1909" y="19094"/>
                  </a:cubicBezTo>
                  <a:cubicBezTo>
                    <a:pt x="1909" y="25534"/>
                    <a:pt x="1236" y="31861"/>
                    <a:pt x="0" y="37926"/>
                  </a:cubicBezTo>
                  <a:cubicBezTo>
                    <a:pt x="4381" y="38076"/>
                    <a:pt x="8873" y="38188"/>
                    <a:pt x="13441" y="38188"/>
                  </a:cubicBezTo>
                  <a:cubicBezTo>
                    <a:pt x="59566" y="38188"/>
                    <a:pt x="97155" y="29727"/>
                    <a:pt x="97679" y="19281"/>
                  </a:cubicBezTo>
                  <a:cubicBezTo>
                    <a:pt x="97679" y="19169"/>
                    <a:pt x="97679" y="19057"/>
                    <a:pt x="97679" y="18982"/>
                  </a:cubicBezTo>
                  <a:cubicBezTo>
                    <a:pt x="97679" y="18795"/>
                    <a:pt x="97679" y="18532"/>
                    <a:pt x="97679" y="18308"/>
                  </a:cubicBezTo>
                  <a:lnTo>
                    <a:pt x="97679" y="0"/>
                  </a:lnTo>
                  <a:cubicBezTo>
                    <a:pt x="77612" y="12654"/>
                    <a:pt x="34856" y="14377"/>
                    <a:pt x="13403" y="14377"/>
                  </a:cubicBezTo>
                  <a:cubicBezTo>
                    <a:pt x="9996" y="14377"/>
                    <a:pt x="6028" y="14339"/>
                    <a:pt x="1760" y="14189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7" name="Forma Livre: Forma 36">
              <a:extLst>
                <a:ext uri="{FF2B5EF4-FFF2-40B4-BE49-F238E27FC236}">
                  <a16:creationId xmlns:a16="http://schemas.microsoft.com/office/drawing/2014/main" id="{6A2E96C5-90A8-8C5C-8EF9-571C7C04A113}"/>
                </a:ext>
              </a:extLst>
            </p:cNvPr>
            <p:cNvSpPr/>
            <p:nvPr/>
          </p:nvSpPr>
          <p:spPr>
            <a:xfrm>
              <a:off x="10273855" y="2408187"/>
              <a:ext cx="162411" cy="162411"/>
            </a:xfrm>
            <a:custGeom>
              <a:avLst/>
              <a:gdLst>
                <a:gd name="connsiteX0" fmla="*/ 81206 w 162411"/>
                <a:gd name="connsiteY0" fmla="*/ 0 h 162411"/>
                <a:gd name="connsiteX1" fmla="*/ 0 w 162411"/>
                <a:gd name="connsiteY1" fmla="*/ 81206 h 162411"/>
                <a:gd name="connsiteX2" fmla="*/ 81206 w 162411"/>
                <a:gd name="connsiteY2" fmla="*/ 162411 h 162411"/>
                <a:gd name="connsiteX3" fmla="*/ 162411 w 162411"/>
                <a:gd name="connsiteY3" fmla="*/ 81206 h 162411"/>
                <a:gd name="connsiteX4" fmla="*/ 81206 w 162411"/>
                <a:gd name="connsiteY4" fmla="*/ 0 h 162411"/>
                <a:gd name="connsiteX5" fmla="*/ 81206 w 162411"/>
                <a:gd name="connsiteY5" fmla="*/ 143954 h 162411"/>
                <a:gd name="connsiteX6" fmla="*/ 18458 w 162411"/>
                <a:gd name="connsiteY6" fmla="*/ 81206 h 162411"/>
                <a:gd name="connsiteX7" fmla="*/ 81206 w 162411"/>
                <a:gd name="connsiteY7" fmla="*/ 18457 h 162411"/>
                <a:gd name="connsiteX8" fmla="*/ 143954 w 162411"/>
                <a:gd name="connsiteY8" fmla="*/ 81206 h 162411"/>
                <a:gd name="connsiteX9" fmla="*/ 81206 w 162411"/>
                <a:gd name="connsiteY9" fmla="*/ 143954 h 162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2411" h="162411">
                  <a:moveTo>
                    <a:pt x="81206" y="0"/>
                  </a:moveTo>
                  <a:cubicBezTo>
                    <a:pt x="36428" y="0"/>
                    <a:pt x="0" y="36428"/>
                    <a:pt x="0" y="81206"/>
                  </a:cubicBezTo>
                  <a:cubicBezTo>
                    <a:pt x="0" y="125983"/>
                    <a:pt x="36428" y="162411"/>
                    <a:pt x="81206" y="162411"/>
                  </a:cubicBezTo>
                  <a:cubicBezTo>
                    <a:pt x="125983" y="162411"/>
                    <a:pt x="162411" y="125983"/>
                    <a:pt x="162411" y="81206"/>
                  </a:cubicBezTo>
                  <a:cubicBezTo>
                    <a:pt x="162411" y="36428"/>
                    <a:pt x="125983" y="0"/>
                    <a:pt x="81206" y="0"/>
                  </a:cubicBezTo>
                  <a:close/>
                  <a:moveTo>
                    <a:pt x="81206" y="143954"/>
                  </a:moveTo>
                  <a:cubicBezTo>
                    <a:pt x="46612" y="143954"/>
                    <a:pt x="18458" y="115799"/>
                    <a:pt x="18458" y="81206"/>
                  </a:cubicBezTo>
                  <a:cubicBezTo>
                    <a:pt x="18458" y="46612"/>
                    <a:pt x="46612" y="18457"/>
                    <a:pt x="81206" y="18457"/>
                  </a:cubicBezTo>
                  <a:cubicBezTo>
                    <a:pt x="115800" y="18457"/>
                    <a:pt x="143954" y="46612"/>
                    <a:pt x="143954" y="81206"/>
                  </a:cubicBezTo>
                  <a:cubicBezTo>
                    <a:pt x="143954" y="115799"/>
                    <a:pt x="115800" y="143954"/>
                    <a:pt x="81206" y="14395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38" name="Forma Livre: Forma 37">
              <a:extLst>
                <a:ext uri="{FF2B5EF4-FFF2-40B4-BE49-F238E27FC236}">
                  <a16:creationId xmlns:a16="http://schemas.microsoft.com/office/drawing/2014/main" id="{B015FC06-81AF-3152-ECC5-3C883E446D95}"/>
                </a:ext>
              </a:extLst>
            </p:cNvPr>
            <p:cNvSpPr/>
            <p:nvPr/>
          </p:nvSpPr>
          <p:spPr>
            <a:xfrm>
              <a:off x="10377225" y="2271721"/>
              <a:ext cx="164956" cy="28828"/>
            </a:xfrm>
            <a:custGeom>
              <a:avLst/>
              <a:gdLst>
                <a:gd name="connsiteX0" fmla="*/ 164957 w 164956"/>
                <a:gd name="connsiteY0" fmla="*/ 14414 h 28828"/>
                <a:gd name="connsiteX1" fmla="*/ 82478 w 164956"/>
                <a:gd name="connsiteY1" fmla="*/ 0 h 28828"/>
                <a:gd name="connsiteX2" fmla="*/ 0 w 164956"/>
                <a:gd name="connsiteY2" fmla="*/ 14414 h 28828"/>
                <a:gd name="connsiteX3" fmla="*/ 82478 w 164956"/>
                <a:gd name="connsiteY3" fmla="*/ 28828 h 28828"/>
                <a:gd name="connsiteX4" fmla="*/ 164957 w 164956"/>
                <a:gd name="connsiteY4" fmla="*/ 14414 h 28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956" h="28828">
                  <a:moveTo>
                    <a:pt x="164957" y="14414"/>
                  </a:moveTo>
                  <a:cubicBezTo>
                    <a:pt x="159940" y="8873"/>
                    <a:pt x="130326" y="0"/>
                    <a:pt x="82478" y="0"/>
                  </a:cubicBezTo>
                  <a:cubicBezTo>
                    <a:pt x="34631" y="0"/>
                    <a:pt x="5017" y="8873"/>
                    <a:pt x="0" y="14414"/>
                  </a:cubicBezTo>
                  <a:cubicBezTo>
                    <a:pt x="5017" y="19955"/>
                    <a:pt x="34631" y="28828"/>
                    <a:pt x="82478" y="28828"/>
                  </a:cubicBezTo>
                  <a:cubicBezTo>
                    <a:pt x="130326" y="28828"/>
                    <a:pt x="159940" y="19955"/>
                    <a:pt x="164957" y="14414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1" name="Forma Livre: Forma 40">
              <a:extLst>
                <a:ext uri="{FF2B5EF4-FFF2-40B4-BE49-F238E27FC236}">
                  <a16:creationId xmlns:a16="http://schemas.microsoft.com/office/drawing/2014/main" id="{FFAC7C31-EFA4-AE92-ED2E-A8B6715CEAFE}"/>
                </a:ext>
              </a:extLst>
            </p:cNvPr>
            <p:cNvSpPr/>
            <p:nvPr/>
          </p:nvSpPr>
          <p:spPr>
            <a:xfrm>
              <a:off x="10341058" y="2453788"/>
              <a:ext cx="30288" cy="71508"/>
            </a:xfrm>
            <a:custGeom>
              <a:avLst/>
              <a:gdLst>
                <a:gd name="connsiteX0" fmla="*/ 25384 w 30288"/>
                <a:gd name="connsiteY0" fmla="*/ 37739 h 71508"/>
                <a:gd name="connsiteX1" fmla="*/ 17222 w 30288"/>
                <a:gd name="connsiteY1" fmla="*/ 33171 h 71508"/>
                <a:gd name="connsiteX2" fmla="*/ 17222 w 30288"/>
                <a:gd name="connsiteY2" fmla="*/ 33171 h 71508"/>
                <a:gd name="connsiteX3" fmla="*/ 8050 w 30288"/>
                <a:gd name="connsiteY3" fmla="*/ 28192 h 71508"/>
                <a:gd name="connsiteX4" fmla="*/ 5616 w 30288"/>
                <a:gd name="connsiteY4" fmla="*/ 25047 h 71508"/>
                <a:gd name="connsiteX5" fmla="*/ 4792 w 30288"/>
                <a:gd name="connsiteY5" fmla="*/ 21116 h 71508"/>
                <a:gd name="connsiteX6" fmla="*/ 7525 w 30288"/>
                <a:gd name="connsiteY6" fmla="*/ 14526 h 71508"/>
                <a:gd name="connsiteX7" fmla="*/ 16211 w 30288"/>
                <a:gd name="connsiteY7" fmla="*/ 11456 h 71508"/>
                <a:gd name="connsiteX8" fmla="*/ 24036 w 30288"/>
                <a:gd name="connsiteY8" fmla="*/ 12692 h 71508"/>
                <a:gd name="connsiteX9" fmla="*/ 26807 w 30288"/>
                <a:gd name="connsiteY9" fmla="*/ 13815 h 71508"/>
                <a:gd name="connsiteX10" fmla="*/ 27817 w 30288"/>
                <a:gd name="connsiteY10" fmla="*/ 11119 h 71508"/>
                <a:gd name="connsiteX11" fmla="*/ 19955 w 30288"/>
                <a:gd name="connsiteY11" fmla="*/ 8985 h 71508"/>
                <a:gd name="connsiteX12" fmla="*/ 16361 w 30288"/>
                <a:gd name="connsiteY12" fmla="*/ 5017 h 71508"/>
                <a:gd name="connsiteX13" fmla="*/ 16361 w 30288"/>
                <a:gd name="connsiteY13" fmla="*/ 0 h 71508"/>
                <a:gd name="connsiteX14" fmla="*/ 14227 w 30288"/>
                <a:gd name="connsiteY14" fmla="*/ 0 h 71508"/>
                <a:gd name="connsiteX15" fmla="*/ 14227 w 30288"/>
                <a:gd name="connsiteY15" fmla="*/ 5653 h 71508"/>
                <a:gd name="connsiteX16" fmla="*/ 11194 w 30288"/>
                <a:gd name="connsiteY16" fmla="*/ 9510 h 71508"/>
                <a:gd name="connsiteX17" fmla="*/ 3706 w 30288"/>
                <a:gd name="connsiteY17" fmla="*/ 13665 h 71508"/>
                <a:gd name="connsiteX18" fmla="*/ 412 w 30288"/>
                <a:gd name="connsiteY18" fmla="*/ 22127 h 71508"/>
                <a:gd name="connsiteX19" fmla="*/ 1311 w 30288"/>
                <a:gd name="connsiteY19" fmla="*/ 26732 h 71508"/>
                <a:gd name="connsiteX20" fmla="*/ 5878 w 30288"/>
                <a:gd name="connsiteY20" fmla="*/ 32011 h 71508"/>
                <a:gd name="connsiteX21" fmla="*/ 14377 w 30288"/>
                <a:gd name="connsiteY21" fmla="*/ 36316 h 71508"/>
                <a:gd name="connsiteX22" fmla="*/ 22688 w 30288"/>
                <a:gd name="connsiteY22" fmla="*/ 41295 h 71508"/>
                <a:gd name="connsiteX23" fmla="*/ 25009 w 30288"/>
                <a:gd name="connsiteY23" fmla="*/ 44702 h 71508"/>
                <a:gd name="connsiteX24" fmla="*/ 25833 w 30288"/>
                <a:gd name="connsiteY24" fmla="*/ 48821 h 71508"/>
                <a:gd name="connsiteX25" fmla="*/ 22239 w 30288"/>
                <a:gd name="connsiteY25" fmla="*/ 56608 h 71508"/>
                <a:gd name="connsiteX26" fmla="*/ 13141 w 30288"/>
                <a:gd name="connsiteY26" fmla="*/ 59566 h 71508"/>
                <a:gd name="connsiteX27" fmla="*/ 973 w 30288"/>
                <a:gd name="connsiteY27" fmla="*/ 56496 h 71508"/>
                <a:gd name="connsiteX28" fmla="*/ 0 w 30288"/>
                <a:gd name="connsiteY28" fmla="*/ 59266 h 71508"/>
                <a:gd name="connsiteX29" fmla="*/ 4568 w 30288"/>
                <a:gd name="connsiteY29" fmla="*/ 61138 h 71508"/>
                <a:gd name="connsiteX30" fmla="*/ 9996 w 30288"/>
                <a:gd name="connsiteY30" fmla="*/ 62149 h 71508"/>
                <a:gd name="connsiteX31" fmla="*/ 13628 w 30288"/>
                <a:gd name="connsiteY31" fmla="*/ 66118 h 71508"/>
                <a:gd name="connsiteX32" fmla="*/ 13628 w 30288"/>
                <a:gd name="connsiteY32" fmla="*/ 71509 h 71508"/>
                <a:gd name="connsiteX33" fmla="*/ 15837 w 30288"/>
                <a:gd name="connsiteY33" fmla="*/ 71509 h 71508"/>
                <a:gd name="connsiteX34" fmla="*/ 15837 w 30288"/>
                <a:gd name="connsiteY34" fmla="*/ 65556 h 71508"/>
                <a:gd name="connsiteX35" fmla="*/ 18869 w 30288"/>
                <a:gd name="connsiteY35" fmla="*/ 61700 h 71508"/>
                <a:gd name="connsiteX36" fmla="*/ 27031 w 30288"/>
                <a:gd name="connsiteY36" fmla="*/ 56945 h 71508"/>
                <a:gd name="connsiteX37" fmla="*/ 27031 w 30288"/>
                <a:gd name="connsiteY37" fmla="*/ 56945 h 71508"/>
                <a:gd name="connsiteX38" fmla="*/ 30288 w 30288"/>
                <a:gd name="connsiteY38" fmla="*/ 48222 h 71508"/>
                <a:gd name="connsiteX39" fmla="*/ 29502 w 30288"/>
                <a:gd name="connsiteY39" fmla="*/ 43317 h 71508"/>
                <a:gd name="connsiteX40" fmla="*/ 25384 w 30288"/>
                <a:gd name="connsiteY40" fmla="*/ 37701 h 71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0288" h="71508">
                  <a:moveTo>
                    <a:pt x="25384" y="37739"/>
                  </a:moveTo>
                  <a:cubicBezTo>
                    <a:pt x="23362" y="36091"/>
                    <a:pt x="20779" y="34631"/>
                    <a:pt x="17222" y="33171"/>
                  </a:cubicBezTo>
                  <a:cubicBezTo>
                    <a:pt x="17222" y="33171"/>
                    <a:pt x="17222" y="33171"/>
                    <a:pt x="17222" y="33171"/>
                  </a:cubicBezTo>
                  <a:cubicBezTo>
                    <a:pt x="12654" y="31299"/>
                    <a:pt x="9847" y="29764"/>
                    <a:pt x="8050" y="28192"/>
                  </a:cubicBezTo>
                  <a:cubicBezTo>
                    <a:pt x="6926" y="27218"/>
                    <a:pt x="6140" y="26207"/>
                    <a:pt x="5616" y="25047"/>
                  </a:cubicBezTo>
                  <a:cubicBezTo>
                    <a:pt x="5054" y="23886"/>
                    <a:pt x="4792" y="22651"/>
                    <a:pt x="4792" y="21116"/>
                  </a:cubicBezTo>
                  <a:cubicBezTo>
                    <a:pt x="4792" y="18607"/>
                    <a:pt x="5766" y="16249"/>
                    <a:pt x="7525" y="14526"/>
                  </a:cubicBezTo>
                  <a:cubicBezTo>
                    <a:pt x="9584" y="12505"/>
                    <a:pt x="12542" y="11494"/>
                    <a:pt x="16211" y="11456"/>
                  </a:cubicBezTo>
                  <a:cubicBezTo>
                    <a:pt x="18982" y="11456"/>
                    <a:pt x="21602" y="11868"/>
                    <a:pt x="24036" y="12692"/>
                  </a:cubicBezTo>
                  <a:cubicBezTo>
                    <a:pt x="25084" y="13029"/>
                    <a:pt x="25983" y="13441"/>
                    <a:pt x="26807" y="13815"/>
                  </a:cubicBezTo>
                  <a:lnTo>
                    <a:pt x="27817" y="11119"/>
                  </a:lnTo>
                  <a:cubicBezTo>
                    <a:pt x="25496" y="9996"/>
                    <a:pt x="22838" y="9247"/>
                    <a:pt x="19955" y="8985"/>
                  </a:cubicBezTo>
                  <a:cubicBezTo>
                    <a:pt x="17896" y="8798"/>
                    <a:pt x="16361" y="7076"/>
                    <a:pt x="16361" y="5017"/>
                  </a:cubicBezTo>
                  <a:lnTo>
                    <a:pt x="16361" y="0"/>
                  </a:lnTo>
                  <a:lnTo>
                    <a:pt x="14227" y="0"/>
                  </a:lnTo>
                  <a:lnTo>
                    <a:pt x="14227" y="5653"/>
                  </a:lnTo>
                  <a:cubicBezTo>
                    <a:pt x="14227" y="7488"/>
                    <a:pt x="12954" y="9098"/>
                    <a:pt x="11194" y="9510"/>
                  </a:cubicBezTo>
                  <a:cubicBezTo>
                    <a:pt x="8162" y="10258"/>
                    <a:pt x="5578" y="11681"/>
                    <a:pt x="3706" y="13665"/>
                  </a:cubicBezTo>
                  <a:cubicBezTo>
                    <a:pt x="1572" y="15912"/>
                    <a:pt x="412" y="18907"/>
                    <a:pt x="412" y="22127"/>
                  </a:cubicBezTo>
                  <a:cubicBezTo>
                    <a:pt x="412" y="23811"/>
                    <a:pt x="711" y="25384"/>
                    <a:pt x="1311" y="26732"/>
                  </a:cubicBezTo>
                  <a:cubicBezTo>
                    <a:pt x="2172" y="28678"/>
                    <a:pt x="3669" y="30401"/>
                    <a:pt x="5878" y="32011"/>
                  </a:cubicBezTo>
                  <a:cubicBezTo>
                    <a:pt x="7937" y="33471"/>
                    <a:pt x="10633" y="34856"/>
                    <a:pt x="14377" y="36316"/>
                  </a:cubicBezTo>
                  <a:cubicBezTo>
                    <a:pt x="18158" y="37851"/>
                    <a:pt x="20891" y="39461"/>
                    <a:pt x="22688" y="41295"/>
                  </a:cubicBezTo>
                  <a:cubicBezTo>
                    <a:pt x="23737" y="42344"/>
                    <a:pt x="24485" y="43467"/>
                    <a:pt x="25009" y="44702"/>
                  </a:cubicBezTo>
                  <a:cubicBezTo>
                    <a:pt x="25534" y="45975"/>
                    <a:pt x="25796" y="47323"/>
                    <a:pt x="25833" y="48821"/>
                  </a:cubicBezTo>
                  <a:cubicBezTo>
                    <a:pt x="25833" y="51966"/>
                    <a:pt x="24560" y="54624"/>
                    <a:pt x="22239" y="56608"/>
                  </a:cubicBezTo>
                  <a:cubicBezTo>
                    <a:pt x="19880" y="58555"/>
                    <a:pt x="16810" y="59641"/>
                    <a:pt x="13141" y="59566"/>
                  </a:cubicBezTo>
                  <a:cubicBezTo>
                    <a:pt x="9023" y="59566"/>
                    <a:pt x="4642" y="58443"/>
                    <a:pt x="973" y="56496"/>
                  </a:cubicBezTo>
                  <a:lnTo>
                    <a:pt x="0" y="59266"/>
                  </a:lnTo>
                  <a:cubicBezTo>
                    <a:pt x="1273" y="59978"/>
                    <a:pt x="2808" y="60614"/>
                    <a:pt x="4568" y="61138"/>
                  </a:cubicBezTo>
                  <a:cubicBezTo>
                    <a:pt x="6327" y="61662"/>
                    <a:pt x="8162" y="61999"/>
                    <a:pt x="9996" y="62149"/>
                  </a:cubicBezTo>
                  <a:cubicBezTo>
                    <a:pt x="12056" y="62336"/>
                    <a:pt x="13628" y="64058"/>
                    <a:pt x="13628" y="66118"/>
                  </a:cubicBezTo>
                  <a:lnTo>
                    <a:pt x="13628" y="71509"/>
                  </a:lnTo>
                  <a:lnTo>
                    <a:pt x="15837" y="71509"/>
                  </a:lnTo>
                  <a:lnTo>
                    <a:pt x="15837" y="65556"/>
                  </a:lnTo>
                  <a:cubicBezTo>
                    <a:pt x="15837" y="63722"/>
                    <a:pt x="17072" y="62149"/>
                    <a:pt x="18869" y="61700"/>
                  </a:cubicBezTo>
                  <a:cubicBezTo>
                    <a:pt x="22201" y="60876"/>
                    <a:pt x="25047" y="59229"/>
                    <a:pt x="27031" y="56945"/>
                  </a:cubicBezTo>
                  <a:cubicBezTo>
                    <a:pt x="27031" y="56945"/>
                    <a:pt x="27031" y="56945"/>
                    <a:pt x="27031" y="56945"/>
                  </a:cubicBezTo>
                  <a:cubicBezTo>
                    <a:pt x="29128" y="54549"/>
                    <a:pt x="30288" y="51441"/>
                    <a:pt x="30288" y="48222"/>
                  </a:cubicBezTo>
                  <a:cubicBezTo>
                    <a:pt x="30288" y="46425"/>
                    <a:pt x="30026" y="44777"/>
                    <a:pt x="29502" y="43317"/>
                  </a:cubicBezTo>
                  <a:cubicBezTo>
                    <a:pt x="28753" y="41221"/>
                    <a:pt x="27368" y="39311"/>
                    <a:pt x="25384" y="3770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5" name="Forma Livre: Forma 44">
              <a:extLst>
                <a:ext uri="{FF2B5EF4-FFF2-40B4-BE49-F238E27FC236}">
                  <a16:creationId xmlns:a16="http://schemas.microsoft.com/office/drawing/2014/main" id="{0A73D745-89F9-4510-B451-ACFAECFE9895}"/>
                </a:ext>
              </a:extLst>
            </p:cNvPr>
            <p:cNvSpPr/>
            <p:nvPr/>
          </p:nvSpPr>
          <p:spPr>
            <a:xfrm>
              <a:off x="10300250" y="2434582"/>
              <a:ext cx="109621" cy="109621"/>
            </a:xfrm>
            <a:custGeom>
              <a:avLst/>
              <a:gdLst>
                <a:gd name="connsiteX0" fmla="*/ 54811 w 109621"/>
                <a:gd name="connsiteY0" fmla="*/ 0 h 109621"/>
                <a:gd name="connsiteX1" fmla="*/ 0 w 109621"/>
                <a:gd name="connsiteY1" fmla="*/ 54811 h 109621"/>
                <a:gd name="connsiteX2" fmla="*/ 54811 w 109621"/>
                <a:gd name="connsiteY2" fmla="*/ 109622 h 109621"/>
                <a:gd name="connsiteX3" fmla="*/ 109622 w 109621"/>
                <a:gd name="connsiteY3" fmla="*/ 54811 h 109621"/>
                <a:gd name="connsiteX4" fmla="*/ 54811 w 109621"/>
                <a:gd name="connsiteY4" fmla="*/ 0 h 109621"/>
                <a:gd name="connsiteX5" fmla="*/ 73867 w 109621"/>
                <a:gd name="connsiteY5" fmla="*/ 81393 h 109621"/>
                <a:gd name="connsiteX6" fmla="*/ 64620 w 109621"/>
                <a:gd name="connsiteY6" fmla="*/ 87720 h 109621"/>
                <a:gd name="connsiteX7" fmla="*/ 64620 w 109621"/>
                <a:gd name="connsiteY7" fmla="*/ 94721 h 109621"/>
                <a:gd name="connsiteX8" fmla="*/ 60651 w 109621"/>
                <a:gd name="connsiteY8" fmla="*/ 98690 h 109621"/>
                <a:gd name="connsiteX9" fmla="*/ 50468 w 109621"/>
                <a:gd name="connsiteY9" fmla="*/ 98690 h 109621"/>
                <a:gd name="connsiteX10" fmla="*/ 46499 w 109621"/>
                <a:gd name="connsiteY10" fmla="*/ 94721 h 109621"/>
                <a:gd name="connsiteX11" fmla="*/ 46499 w 109621"/>
                <a:gd name="connsiteY11" fmla="*/ 88843 h 109621"/>
                <a:gd name="connsiteX12" fmla="*/ 43167 w 109621"/>
                <a:gd name="connsiteY12" fmla="*/ 88019 h 109621"/>
                <a:gd name="connsiteX13" fmla="*/ 35118 w 109621"/>
                <a:gd name="connsiteY13" fmla="*/ 84313 h 109621"/>
                <a:gd name="connsiteX14" fmla="*/ 33732 w 109621"/>
                <a:gd name="connsiteY14" fmla="*/ 83339 h 109621"/>
                <a:gd name="connsiteX15" fmla="*/ 32310 w 109621"/>
                <a:gd name="connsiteY15" fmla="*/ 78772 h 109621"/>
                <a:gd name="connsiteX16" fmla="*/ 36016 w 109621"/>
                <a:gd name="connsiteY16" fmla="*/ 68401 h 109621"/>
                <a:gd name="connsiteX17" fmla="*/ 38525 w 109621"/>
                <a:gd name="connsiteY17" fmla="*/ 65968 h 109621"/>
                <a:gd name="connsiteX18" fmla="*/ 41969 w 109621"/>
                <a:gd name="connsiteY18" fmla="*/ 66417 h 109621"/>
                <a:gd name="connsiteX19" fmla="*/ 44328 w 109621"/>
                <a:gd name="connsiteY19" fmla="*/ 67989 h 109621"/>
                <a:gd name="connsiteX20" fmla="*/ 54062 w 109621"/>
                <a:gd name="connsiteY20" fmla="*/ 70872 h 109621"/>
                <a:gd name="connsiteX21" fmla="*/ 57993 w 109621"/>
                <a:gd name="connsiteY21" fmla="*/ 69787 h 109621"/>
                <a:gd name="connsiteX22" fmla="*/ 58779 w 109621"/>
                <a:gd name="connsiteY22" fmla="*/ 68064 h 109621"/>
                <a:gd name="connsiteX23" fmla="*/ 58592 w 109621"/>
                <a:gd name="connsiteY23" fmla="*/ 67091 h 109621"/>
                <a:gd name="connsiteX24" fmla="*/ 57918 w 109621"/>
                <a:gd name="connsiteY24" fmla="*/ 66155 h 109621"/>
                <a:gd name="connsiteX25" fmla="*/ 52302 w 109621"/>
                <a:gd name="connsiteY25" fmla="*/ 62973 h 109621"/>
                <a:gd name="connsiteX26" fmla="*/ 42119 w 109621"/>
                <a:gd name="connsiteY26" fmla="*/ 57731 h 109621"/>
                <a:gd name="connsiteX27" fmla="*/ 34856 w 109621"/>
                <a:gd name="connsiteY27" fmla="*/ 49195 h 109621"/>
                <a:gd name="connsiteX28" fmla="*/ 33283 w 109621"/>
                <a:gd name="connsiteY28" fmla="*/ 41408 h 109621"/>
                <a:gd name="connsiteX29" fmla="*/ 38712 w 109621"/>
                <a:gd name="connsiteY29" fmla="*/ 27480 h 109621"/>
                <a:gd name="connsiteX30" fmla="*/ 47098 w 109621"/>
                <a:gd name="connsiteY30" fmla="*/ 21977 h 109621"/>
                <a:gd name="connsiteX31" fmla="*/ 47098 w 109621"/>
                <a:gd name="connsiteY31" fmla="*/ 15238 h 109621"/>
                <a:gd name="connsiteX32" fmla="*/ 51067 w 109621"/>
                <a:gd name="connsiteY32" fmla="*/ 11269 h 109621"/>
                <a:gd name="connsiteX33" fmla="*/ 61138 w 109621"/>
                <a:gd name="connsiteY33" fmla="*/ 11269 h 109621"/>
                <a:gd name="connsiteX34" fmla="*/ 65107 w 109621"/>
                <a:gd name="connsiteY34" fmla="*/ 15238 h 109621"/>
                <a:gd name="connsiteX35" fmla="*/ 65107 w 109621"/>
                <a:gd name="connsiteY35" fmla="*/ 20816 h 109621"/>
                <a:gd name="connsiteX36" fmla="*/ 73942 w 109621"/>
                <a:gd name="connsiteY36" fmla="*/ 24148 h 109621"/>
                <a:gd name="connsiteX37" fmla="*/ 75552 w 109621"/>
                <a:gd name="connsiteY37" fmla="*/ 25084 h 109621"/>
                <a:gd name="connsiteX38" fmla="*/ 77274 w 109621"/>
                <a:gd name="connsiteY38" fmla="*/ 29914 h 109621"/>
                <a:gd name="connsiteX39" fmla="*/ 73418 w 109621"/>
                <a:gd name="connsiteY39" fmla="*/ 40097 h 109621"/>
                <a:gd name="connsiteX40" fmla="*/ 71022 w 109621"/>
                <a:gd name="connsiteY40" fmla="*/ 42419 h 109621"/>
                <a:gd name="connsiteX41" fmla="*/ 67690 w 109621"/>
                <a:gd name="connsiteY41" fmla="*/ 42119 h 109621"/>
                <a:gd name="connsiteX42" fmla="*/ 65444 w 109621"/>
                <a:gd name="connsiteY42" fmla="*/ 40846 h 109621"/>
                <a:gd name="connsiteX43" fmla="*/ 62261 w 109621"/>
                <a:gd name="connsiteY43" fmla="*/ 39386 h 109621"/>
                <a:gd name="connsiteX44" fmla="*/ 56982 w 109621"/>
                <a:gd name="connsiteY44" fmla="*/ 38562 h 109621"/>
                <a:gd name="connsiteX45" fmla="*/ 53800 w 109621"/>
                <a:gd name="connsiteY45" fmla="*/ 39386 h 109621"/>
                <a:gd name="connsiteX46" fmla="*/ 53463 w 109621"/>
                <a:gd name="connsiteY46" fmla="*/ 40247 h 109621"/>
                <a:gd name="connsiteX47" fmla="*/ 53500 w 109621"/>
                <a:gd name="connsiteY47" fmla="*/ 40771 h 109621"/>
                <a:gd name="connsiteX48" fmla="*/ 54025 w 109621"/>
                <a:gd name="connsiteY48" fmla="*/ 41370 h 109621"/>
                <a:gd name="connsiteX49" fmla="*/ 60726 w 109621"/>
                <a:gd name="connsiteY49" fmla="*/ 44890 h 109621"/>
                <a:gd name="connsiteX50" fmla="*/ 61138 w 109621"/>
                <a:gd name="connsiteY50" fmla="*/ 45077 h 109621"/>
                <a:gd name="connsiteX51" fmla="*/ 71134 w 109621"/>
                <a:gd name="connsiteY51" fmla="*/ 50767 h 109621"/>
                <a:gd name="connsiteX52" fmla="*/ 77686 w 109621"/>
                <a:gd name="connsiteY52" fmla="*/ 59828 h 109621"/>
                <a:gd name="connsiteX53" fmla="*/ 78922 w 109621"/>
                <a:gd name="connsiteY53" fmla="*/ 67428 h 109621"/>
                <a:gd name="connsiteX54" fmla="*/ 73718 w 109621"/>
                <a:gd name="connsiteY54" fmla="*/ 81393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09621" h="109621">
                  <a:moveTo>
                    <a:pt x="54811" y="0"/>
                  </a:moveTo>
                  <a:cubicBezTo>
                    <a:pt x="24597" y="0"/>
                    <a:pt x="0" y="24597"/>
                    <a:pt x="0" y="54811"/>
                  </a:cubicBezTo>
                  <a:cubicBezTo>
                    <a:pt x="0" y="85024"/>
                    <a:pt x="24597" y="109622"/>
                    <a:pt x="54811" y="109622"/>
                  </a:cubicBezTo>
                  <a:cubicBezTo>
                    <a:pt x="85024" y="109622"/>
                    <a:pt x="109622" y="85024"/>
                    <a:pt x="109622" y="54811"/>
                  </a:cubicBezTo>
                  <a:cubicBezTo>
                    <a:pt x="109622" y="24597"/>
                    <a:pt x="85024" y="0"/>
                    <a:pt x="54811" y="0"/>
                  </a:cubicBezTo>
                  <a:close/>
                  <a:moveTo>
                    <a:pt x="73867" y="81393"/>
                  </a:moveTo>
                  <a:cubicBezTo>
                    <a:pt x="71434" y="84163"/>
                    <a:pt x="68289" y="86335"/>
                    <a:pt x="64620" y="87720"/>
                  </a:cubicBezTo>
                  <a:lnTo>
                    <a:pt x="64620" y="94721"/>
                  </a:lnTo>
                  <a:cubicBezTo>
                    <a:pt x="64620" y="96930"/>
                    <a:pt x="62823" y="98690"/>
                    <a:pt x="60651" y="98690"/>
                  </a:cubicBezTo>
                  <a:lnTo>
                    <a:pt x="50468" y="98690"/>
                  </a:lnTo>
                  <a:cubicBezTo>
                    <a:pt x="48259" y="98690"/>
                    <a:pt x="46499" y="96892"/>
                    <a:pt x="46499" y="94721"/>
                  </a:cubicBezTo>
                  <a:lnTo>
                    <a:pt x="46499" y="88843"/>
                  </a:lnTo>
                  <a:cubicBezTo>
                    <a:pt x="45376" y="88618"/>
                    <a:pt x="44253" y="88356"/>
                    <a:pt x="43167" y="88019"/>
                  </a:cubicBezTo>
                  <a:cubicBezTo>
                    <a:pt x="40022" y="87121"/>
                    <a:pt x="37289" y="85848"/>
                    <a:pt x="35118" y="84313"/>
                  </a:cubicBezTo>
                  <a:lnTo>
                    <a:pt x="33732" y="83339"/>
                  </a:lnTo>
                  <a:cubicBezTo>
                    <a:pt x="32273" y="82291"/>
                    <a:pt x="31711" y="80419"/>
                    <a:pt x="32310" y="78772"/>
                  </a:cubicBezTo>
                  <a:lnTo>
                    <a:pt x="36016" y="68401"/>
                  </a:lnTo>
                  <a:cubicBezTo>
                    <a:pt x="36428" y="67241"/>
                    <a:pt x="37364" y="66342"/>
                    <a:pt x="38525" y="65968"/>
                  </a:cubicBezTo>
                  <a:cubicBezTo>
                    <a:pt x="39685" y="65593"/>
                    <a:pt x="40958" y="65743"/>
                    <a:pt x="41969" y="66417"/>
                  </a:cubicBezTo>
                  <a:lnTo>
                    <a:pt x="44328" y="67989"/>
                  </a:lnTo>
                  <a:cubicBezTo>
                    <a:pt x="46424" y="69412"/>
                    <a:pt x="50094" y="71059"/>
                    <a:pt x="54062" y="70872"/>
                  </a:cubicBezTo>
                  <a:cubicBezTo>
                    <a:pt x="55747" y="70872"/>
                    <a:pt x="57169" y="70460"/>
                    <a:pt x="57993" y="69787"/>
                  </a:cubicBezTo>
                  <a:cubicBezTo>
                    <a:pt x="58555" y="69337"/>
                    <a:pt x="58779" y="68851"/>
                    <a:pt x="58779" y="68064"/>
                  </a:cubicBezTo>
                  <a:cubicBezTo>
                    <a:pt x="58779" y="67578"/>
                    <a:pt x="58705" y="67278"/>
                    <a:pt x="58592" y="67091"/>
                  </a:cubicBezTo>
                  <a:cubicBezTo>
                    <a:pt x="58517" y="66904"/>
                    <a:pt x="58368" y="66604"/>
                    <a:pt x="57918" y="66155"/>
                  </a:cubicBezTo>
                  <a:cubicBezTo>
                    <a:pt x="57357" y="65593"/>
                    <a:pt x="55859" y="64395"/>
                    <a:pt x="52302" y="62973"/>
                  </a:cubicBezTo>
                  <a:cubicBezTo>
                    <a:pt x="47960" y="61250"/>
                    <a:pt x="44740" y="59603"/>
                    <a:pt x="42119" y="57731"/>
                  </a:cubicBezTo>
                  <a:cubicBezTo>
                    <a:pt x="38749" y="55335"/>
                    <a:pt x="36316" y="52452"/>
                    <a:pt x="34856" y="49195"/>
                  </a:cubicBezTo>
                  <a:cubicBezTo>
                    <a:pt x="33807" y="46799"/>
                    <a:pt x="33283" y="44178"/>
                    <a:pt x="33283" y="41408"/>
                  </a:cubicBezTo>
                  <a:cubicBezTo>
                    <a:pt x="33283" y="36166"/>
                    <a:pt x="35193" y="31187"/>
                    <a:pt x="38712" y="27480"/>
                  </a:cubicBezTo>
                  <a:cubicBezTo>
                    <a:pt x="40958" y="25084"/>
                    <a:pt x="43804" y="23212"/>
                    <a:pt x="47098" y="21977"/>
                  </a:cubicBezTo>
                  <a:lnTo>
                    <a:pt x="47098" y="15238"/>
                  </a:lnTo>
                  <a:cubicBezTo>
                    <a:pt x="47098" y="13029"/>
                    <a:pt x="48858" y="11269"/>
                    <a:pt x="51067" y="11269"/>
                  </a:cubicBezTo>
                  <a:lnTo>
                    <a:pt x="61138" y="11269"/>
                  </a:lnTo>
                  <a:cubicBezTo>
                    <a:pt x="63347" y="11269"/>
                    <a:pt x="65107" y="13066"/>
                    <a:pt x="65107" y="15238"/>
                  </a:cubicBezTo>
                  <a:lnTo>
                    <a:pt x="65107" y="20816"/>
                  </a:lnTo>
                  <a:cubicBezTo>
                    <a:pt x="68326" y="21490"/>
                    <a:pt x="71284" y="22613"/>
                    <a:pt x="73942" y="24148"/>
                  </a:cubicBezTo>
                  <a:lnTo>
                    <a:pt x="75552" y="25084"/>
                  </a:lnTo>
                  <a:cubicBezTo>
                    <a:pt x="77237" y="26058"/>
                    <a:pt x="77948" y="28117"/>
                    <a:pt x="77274" y="29914"/>
                  </a:cubicBezTo>
                  <a:lnTo>
                    <a:pt x="73418" y="40097"/>
                  </a:lnTo>
                  <a:cubicBezTo>
                    <a:pt x="73006" y="41183"/>
                    <a:pt x="72145" y="42044"/>
                    <a:pt x="71022" y="42419"/>
                  </a:cubicBezTo>
                  <a:cubicBezTo>
                    <a:pt x="69936" y="42793"/>
                    <a:pt x="68701" y="42718"/>
                    <a:pt x="67690" y="42119"/>
                  </a:cubicBezTo>
                  <a:lnTo>
                    <a:pt x="65444" y="40846"/>
                  </a:lnTo>
                  <a:cubicBezTo>
                    <a:pt x="64620" y="40397"/>
                    <a:pt x="63609" y="39835"/>
                    <a:pt x="62261" y="39386"/>
                  </a:cubicBezTo>
                  <a:cubicBezTo>
                    <a:pt x="60614" y="38824"/>
                    <a:pt x="58892" y="38562"/>
                    <a:pt x="56982" y="38562"/>
                  </a:cubicBezTo>
                  <a:cubicBezTo>
                    <a:pt x="55485" y="38562"/>
                    <a:pt x="54324" y="38862"/>
                    <a:pt x="53800" y="39386"/>
                  </a:cubicBezTo>
                  <a:cubicBezTo>
                    <a:pt x="53538" y="39648"/>
                    <a:pt x="53463" y="40022"/>
                    <a:pt x="53463" y="40247"/>
                  </a:cubicBezTo>
                  <a:cubicBezTo>
                    <a:pt x="53463" y="40584"/>
                    <a:pt x="53463" y="40734"/>
                    <a:pt x="53500" y="40771"/>
                  </a:cubicBezTo>
                  <a:cubicBezTo>
                    <a:pt x="53575" y="40921"/>
                    <a:pt x="53763" y="41108"/>
                    <a:pt x="54025" y="41370"/>
                  </a:cubicBezTo>
                  <a:cubicBezTo>
                    <a:pt x="54736" y="42007"/>
                    <a:pt x="56458" y="43130"/>
                    <a:pt x="60726" y="44890"/>
                  </a:cubicBezTo>
                  <a:cubicBezTo>
                    <a:pt x="60876" y="44927"/>
                    <a:pt x="60988" y="45002"/>
                    <a:pt x="61138" y="45077"/>
                  </a:cubicBezTo>
                  <a:cubicBezTo>
                    <a:pt x="65369" y="46836"/>
                    <a:pt x="68551" y="48633"/>
                    <a:pt x="71134" y="50767"/>
                  </a:cubicBezTo>
                  <a:cubicBezTo>
                    <a:pt x="74242" y="53313"/>
                    <a:pt x="76451" y="56383"/>
                    <a:pt x="77686" y="59828"/>
                  </a:cubicBezTo>
                  <a:cubicBezTo>
                    <a:pt x="78510" y="62112"/>
                    <a:pt x="78922" y="64695"/>
                    <a:pt x="78922" y="67428"/>
                  </a:cubicBezTo>
                  <a:cubicBezTo>
                    <a:pt x="78922" y="72557"/>
                    <a:pt x="77087" y="77536"/>
                    <a:pt x="73718" y="8139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10671220-6818-5C07-8B05-3BE6B5E0C9D3}"/>
                </a:ext>
              </a:extLst>
            </p:cNvPr>
            <p:cNvSpPr/>
            <p:nvPr/>
          </p:nvSpPr>
          <p:spPr>
            <a:xfrm>
              <a:off x="10375390" y="2388569"/>
              <a:ext cx="168551" cy="44889"/>
            </a:xfrm>
            <a:custGeom>
              <a:avLst/>
              <a:gdLst>
                <a:gd name="connsiteX0" fmla="*/ 37 w 168551"/>
                <a:gd name="connsiteY0" fmla="*/ 0 h 44889"/>
                <a:gd name="connsiteX1" fmla="*/ 37 w 168551"/>
                <a:gd name="connsiteY1" fmla="*/ 9959 h 44889"/>
                <a:gd name="connsiteX2" fmla="*/ 52976 w 168551"/>
                <a:gd name="connsiteY2" fmla="*/ 43504 h 44889"/>
                <a:gd name="connsiteX3" fmla="*/ 84313 w 168551"/>
                <a:gd name="connsiteY3" fmla="*/ 44890 h 44889"/>
                <a:gd name="connsiteX4" fmla="*/ 168551 w 168551"/>
                <a:gd name="connsiteY4" fmla="*/ 25983 h 44889"/>
                <a:gd name="connsiteX5" fmla="*/ 168551 w 168551"/>
                <a:gd name="connsiteY5" fmla="*/ 25683 h 44889"/>
                <a:gd name="connsiteX6" fmla="*/ 168551 w 168551"/>
                <a:gd name="connsiteY6" fmla="*/ 25009 h 44889"/>
                <a:gd name="connsiteX7" fmla="*/ 168551 w 168551"/>
                <a:gd name="connsiteY7" fmla="*/ 0 h 44889"/>
                <a:gd name="connsiteX8" fmla="*/ 84276 w 168551"/>
                <a:gd name="connsiteY8" fmla="*/ 13478 h 44889"/>
                <a:gd name="connsiteX9" fmla="*/ 0 w 168551"/>
                <a:gd name="connsiteY9" fmla="*/ 0 h 44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8551" h="44889">
                  <a:moveTo>
                    <a:pt x="37" y="0"/>
                  </a:moveTo>
                  <a:lnTo>
                    <a:pt x="37" y="9959"/>
                  </a:lnTo>
                  <a:cubicBezTo>
                    <a:pt x="21378" y="14751"/>
                    <a:pt x="39948" y="26844"/>
                    <a:pt x="52976" y="43504"/>
                  </a:cubicBezTo>
                  <a:cubicBezTo>
                    <a:pt x="62673" y="44403"/>
                    <a:pt x="73231" y="44890"/>
                    <a:pt x="84313" y="44890"/>
                  </a:cubicBezTo>
                  <a:cubicBezTo>
                    <a:pt x="130438" y="44890"/>
                    <a:pt x="168027" y="36428"/>
                    <a:pt x="168551" y="25983"/>
                  </a:cubicBezTo>
                  <a:cubicBezTo>
                    <a:pt x="168551" y="25870"/>
                    <a:pt x="168551" y="25758"/>
                    <a:pt x="168551" y="25683"/>
                  </a:cubicBezTo>
                  <a:cubicBezTo>
                    <a:pt x="168551" y="25496"/>
                    <a:pt x="168551" y="25234"/>
                    <a:pt x="168551" y="25009"/>
                  </a:cubicBezTo>
                  <a:lnTo>
                    <a:pt x="168551" y="0"/>
                  </a:lnTo>
                  <a:cubicBezTo>
                    <a:pt x="145039" y="12991"/>
                    <a:pt x="91876" y="13478"/>
                    <a:pt x="84276" y="13478"/>
                  </a:cubicBezTo>
                  <a:cubicBezTo>
                    <a:pt x="76676" y="13478"/>
                    <a:pt x="23474" y="12991"/>
                    <a:pt x="0" y="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8" name="Forma Livre: Forma 47">
              <a:extLst>
                <a:ext uri="{FF2B5EF4-FFF2-40B4-BE49-F238E27FC236}">
                  <a16:creationId xmlns:a16="http://schemas.microsoft.com/office/drawing/2014/main" id="{68F9B35A-BA3B-0E2F-4D69-B2520CC8330A}"/>
                </a:ext>
              </a:extLst>
            </p:cNvPr>
            <p:cNvSpPr/>
            <p:nvPr/>
          </p:nvSpPr>
          <p:spPr>
            <a:xfrm>
              <a:off x="10436715" y="2431025"/>
              <a:ext cx="107225" cy="41707"/>
            </a:xfrm>
            <a:custGeom>
              <a:avLst/>
              <a:gdLst>
                <a:gd name="connsiteX0" fmla="*/ 37 w 107225"/>
                <a:gd name="connsiteY0" fmla="*/ 13703 h 41707"/>
                <a:gd name="connsiteX1" fmla="*/ 9884 w 107225"/>
                <a:gd name="connsiteY1" fmla="*/ 41445 h 41707"/>
                <a:gd name="connsiteX2" fmla="*/ 22988 w 107225"/>
                <a:gd name="connsiteY2" fmla="*/ 41707 h 41707"/>
                <a:gd name="connsiteX3" fmla="*/ 107226 w 107225"/>
                <a:gd name="connsiteY3" fmla="*/ 22800 h 41707"/>
                <a:gd name="connsiteX4" fmla="*/ 107226 w 107225"/>
                <a:gd name="connsiteY4" fmla="*/ 22501 h 41707"/>
                <a:gd name="connsiteX5" fmla="*/ 107226 w 107225"/>
                <a:gd name="connsiteY5" fmla="*/ 21827 h 41707"/>
                <a:gd name="connsiteX6" fmla="*/ 107226 w 107225"/>
                <a:gd name="connsiteY6" fmla="*/ 0 h 41707"/>
                <a:gd name="connsiteX7" fmla="*/ 22950 w 107225"/>
                <a:gd name="connsiteY7" fmla="*/ 14377 h 41707"/>
                <a:gd name="connsiteX8" fmla="*/ 0 w 107225"/>
                <a:gd name="connsiteY8" fmla="*/ 13703 h 41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225" h="41707">
                  <a:moveTo>
                    <a:pt x="37" y="13703"/>
                  </a:moveTo>
                  <a:cubicBezTo>
                    <a:pt x="4717" y="22239"/>
                    <a:pt x="8087" y="31561"/>
                    <a:pt x="9884" y="41445"/>
                  </a:cubicBezTo>
                  <a:cubicBezTo>
                    <a:pt x="14152" y="41595"/>
                    <a:pt x="18532" y="41707"/>
                    <a:pt x="22988" y="41707"/>
                  </a:cubicBezTo>
                  <a:cubicBezTo>
                    <a:pt x="69113" y="41707"/>
                    <a:pt x="106702" y="33246"/>
                    <a:pt x="107226" y="22800"/>
                  </a:cubicBezTo>
                  <a:cubicBezTo>
                    <a:pt x="107226" y="22688"/>
                    <a:pt x="107226" y="22576"/>
                    <a:pt x="107226" y="22501"/>
                  </a:cubicBezTo>
                  <a:cubicBezTo>
                    <a:pt x="107226" y="22314"/>
                    <a:pt x="107226" y="22052"/>
                    <a:pt x="107226" y="21827"/>
                  </a:cubicBezTo>
                  <a:lnTo>
                    <a:pt x="107226" y="0"/>
                  </a:lnTo>
                  <a:cubicBezTo>
                    <a:pt x="87158" y="12654"/>
                    <a:pt x="44403" y="14377"/>
                    <a:pt x="22950" y="14377"/>
                  </a:cubicBezTo>
                  <a:cubicBezTo>
                    <a:pt x="16735" y="14377"/>
                    <a:pt x="8723" y="14227"/>
                    <a:pt x="0" y="13703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09E283BE-BC73-B671-42E0-79E115D4D183}"/>
                </a:ext>
              </a:extLst>
            </p:cNvPr>
            <p:cNvSpPr/>
            <p:nvPr/>
          </p:nvSpPr>
          <p:spPr>
            <a:xfrm>
              <a:off x="10375390" y="2343267"/>
              <a:ext cx="168551" cy="41707"/>
            </a:xfrm>
            <a:custGeom>
              <a:avLst/>
              <a:gdLst>
                <a:gd name="connsiteX0" fmla="*/ 37 w 168551"/>
                <a:gd name="connsiteY0" fmla="*/ 0 h 41707"/>
                <a:gd name="connsiteX1" fmla="*/ 37 w 168551"/>
                <a:gd name="connsiteY1" fmla="*/ 21827 h 41707"/>
                <a:gd name="connsiteX2" fmla="*/ 75 w 168551"/>
                <a:gd name="connsiteY2" fmla="*/ 22201 h 41707"/>
                <a:gd name="connsiteX3" fmla="*/ 75 w 168551"/>
                <a:gd name="connsiteY3" fmla="*/ 22800 h 41707"/>
                <a:gd name="connsiteX4" fmla="*/ 84313 w 168551"/>
                <a:gd name="connsiteY4" fmla="*/ 41707 h 41707"/>
                <a:gd name="connsiteX5" fmla="*/ 168551 w 168551"/>
                <a:gd name="connsiteY5" fmla="*/ 22800 h 41707"/>
                <a:gd name="connsiteX6" fmla="*/ 168551 w 168551"/>
                <a:gd name="connsiteY6" fmla="*/ 22501 h 41707"/>
                <a:gd name="connsiteX7" fmla="*/ 168551 w 168551"/>
                <a:gd name="connsiteY7" fmla="*/ 21827 h 41707"/>
                <a:gd name="connsiteX8" fmla="*/ 168551 w 168551"/>
                <a:gd name="connsiteY8" fmla="*/ 0 h 41707"/>
                <a:gd name="connsiteX9" fmla="*/ 84276 w 168551"/>
                <a:gd name="connsiteY9" fmla="*/ 14377 h 41707"/>
                <a:gd name="connsiteX10" fmla="*/ 0 w 168551"/>
                <a:gd name="connsiteY10" fmla="*/ 0 h 41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8551" h="41707">
                  <a:moveTo>
                    <a:pt x="37" y="0"/>
                  </a:moveTo>
                  <a:lnTo>
                    <a:pt x="37" y="21827"/>
                  </a:lnTo>
                  <a:cubicBezTo>
                    <a:pt x="37" y="21827"/>
                    <a:pt x="37" y="22127"/>
                    <a:pt x="75" y="22201"/>
                  </a:cubicBezTo>
                  <a:cubicBezTo>
                    <a:pt x="75" y="22389"/>
                    <a:pt x="75" y="22576"/>
                    <a:pt x="75" y="22800"/>
                  </a:cubicBezTo>
                  <a:cubicBezTo>
                    <a:pt x="599" y="33246"/>
                    <a:pt x="38188" y="41707"/>
                    <a:pt x="84313" y="41707"/>
                  </a:cubicBezTo>
                  <a:cubicBezTo>
                    <a:pt x="130438" y="41707"/>
                    <a:pt x="168027" y="33246"/>
                    <a:pt x="168551" y="22800"/>
                  </a:cubicBezTo>
                  <a:cubicBezTo>
                    <a:pt x="168551" y="22688"/>
                    <a:pt x="168551" y="22576"/>
                    <a:pt x="168551" y="22501"/>
                  </a:cubicBezTo>
                  <a:cubicBezTo>
                    <a:pt x="168551" y="22314"/>
                    <a:pt x="168551" y="22052"/>
                    <a:pt x="168551" y="21827"/>
                  </a:cubicBezTo>
                  <a:lnTo>
                    <a:pt x="168551" y="0"/>
                  </a:lnTo>
                  <a:cubicBezTo>
                    <a:pt x="148484" y="12654"/>
                    <a:pt x="105728" y="14377"/>
                    <a:pt x="84276" y="14377"/>
                  </a:cubicBezTo>
                  <a:cubicBezTo>
                    <a:pt x="62823" y="14377"/>
                    <a:pt x="20068" y="12692"/>
                    <a:pt x="0" y="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AB28281B-A495-F34C-EE29-5DA087CA6904}"/>
                </a:ext>
              </a:extLst>
            </p:cNvPr>
            <p:cNvSpPr/>
            <p:nvPr/>
          </p:nvSpPr>
          <p:spPr>
            <a:xfrm>
              <a:off x="10375390" y="2300849"/>
              <a:ext cx="168551" cy="44926"/>
            </a:xfrm>
            <a:custGeom>
              <a:avLst/>
              <a:gdLst>
                <a:gd name="connsiteX0" fmla="*/ 37 w 168551"/>
                <a:gd name="connsiteY0" fmla="*/ 0 h 44926"/>
                <a:gd name="connsiteX1" fmla="*/ 37 w 168551"/>
                <a:gd name="connsiteY1" fmla="*/ 25009 h 44926"/>
                <a:gd name="connsiteX2" fmla="*/ 75 w 168551"/>
                <a:gd name="connsiteY2" fmla="*/ 25421 h 44926"/>
                <a:gd name="connsiteX3" fmla="*/ 75 w 168551"/>
                <a:gd name="connsiteY3" fmla="*/ 26020 h 44926"/>
                <a:gd name="connsiteX4" fmla="*/ 84313 w 168551"/>
                <a:gd name="connsiteY4" fmla="*/ 44927 h 44926"/>
                <a:gd name="connsiteX5" fmla="*/ 168551 w 168551"/>
                <a:gd name="connsiteY5" fmla="*/ 26020 h 44926"/>
                <a:gd name="connsiteX6" fmla="*/ 168551 w 168551"/>
                <a:gd name="connsiteY6" fmla="*/ 25721 h 44926"/>
                <a:gd name="connsiteX7" fmla="*/ 168551 w 168551"/>
                <a:gd name="connsiteY7" fmla="*/ 25047 h 44926"/>
                <a:gd name="connsiteX8" fmla="*/ 168551 w 168551"/>
                <a:gd name="connsiteY8" fmla="*/ 37 h 44926"/>
                <a:gd name="connsiteX9" fmla="*/ 84276 w 168551"/>
                <a:gd name="connsiteY9" fmla="*/ 13516 h 44926"/>
                <a:gd name="connsiteX10" fmla="*/ 0 w 168551"/>
                <a:gd name="connsiteY10" fmla="*/ 37 h 44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8551" h="44926">
                  <a:moveTo>
                    <a:pt x="37" y="0"/>
                  </a:moveTo>
                  <a:lnTo>
                    <a:pt x="37" y="25009"/>
                  </a:lnTo>
                  <a:cubicBezTo>
                    <a:pt x="37" y="25009"/>
                    <a:pt x="37" y="25309"/>
                    <a:pt x="75" y="25421"/>
                  </a:cubicBezTo>
                  <a:cubicBezTo>
                    <a:pt x="75" y="25608"/>
                    <a:pt x="75" y="25796"/>
                    <a:pt x="75" y="26020"/>
                  </a:cubicBezTo>
                  <a:cubicBezTo>
                    <a:pt x="599" y="36466"/>
                    <a:pt x="38188" y="44927"/>
                    <a:pt x="84313" y="44927"/>
                  </a:cubicBezTo>
                  <a:cubicBezTo>
                    <a:pt x="130438" y="44927"/>
                    <a:pt x="168027" y="36466"/>
                    <a:pt x="168551" y="26020"/>
                  </a:cubicBezTo>
                  <a:cubicBezTo>
                    <a:pt x="168551" y="25908"/>
                    <a:pt x="168551" y="25796"/>
                    <a:pt x="168551" y="25721"/>
                  </a:cubicBezTo>
                  <a:cubicBezTo>
                    <a:pt x="168551" y="25534"/>
                    <a:pt x="168551" y="25271"/>
                    <a:pt x="168551" y="25047"/>
                  </a:cubicBezTo>
                  <a:lnTo>
                    <a:pt x="168551" y="37"/>
                  </a:lnTo>
                  <a:cubicBezTo>
                    <a:pt x="145039" y="13029"/>
                    <a:pt x="91876" y="13516"/>
                    <a:pt x="84276" y="13516"/>
                  </a:cubicBezTo>
                  <a:cubicBezTo>
                    <a:pt x="76676" y="13516"/>
                    <a:pt x="23474" y="13029"/>
                    <a:pt x="0" y="3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52" name="Gráfico 4">
            <a:extLst>
              <a:ext uri="{FF2B5EF4-FFF2-40B4-BE49-F238E27FC236}">
                <a16:creationId xmlns:a16="http://schemas.microsoft.com/office/drawing/2014/main" id="{1A059889-3518-AE6B-2812-D4524E5A12B9}"/>
              </a:ext>
            </a:extLst>
          </p:cNvPr>
          <p:cNvGrpSpPr/>
          <p:nvPr/>
        </p:nvGrpSpPr>
        <p:grpSpPr>
          <a:xfrm>
            <a:off x="6232479" y="3330788"/>
            <a:ext cx="299999" cy="338899"/>
            <a:chOff x="7905417" y="4611781"/>
            <a:chExt cx="299999" cy="338899"/>
          </a:xfrm>
          <a:solidFill>
            <a:srgbClr val="04B0FF"/>
          </a:solidFill>
        </p:grpSpPr>
        <p:sp>
          <p:nvSpPr>
            <p:cNvPr id="53" name="Forma Livre: Forma 52">
              <a:extLst>
                <a:ext uri="{FF2B5EF4-FFF2-40B4-BE49-F238E27FC236}">
                  <a16:creationId xmlns:a16="http://schemas.microsoft.com/office/drawing/2014/main" id="{AE434E98-938A-E86A-0253-7D0585AD12BF}"/>
                </a:ext>
              </a:extLst>
            </p:cNvPr>
            <p:cNvSpPr/>
            <p:nvPr/>
          </p:nvSpPr>
          <p:spPr>
            <a:xfrm>
              <a:off x="7907027" y="4701710"/>
              <a:ext cx="73081" cy="200748"/>
            </a:xfrm>
            <a:custGeom>
              <a:avLst/>
              <a:gdLst>
                <a:gd name="connsiteX0" fmla="*/ 0 w 73081"/>
                <a:gd name="connsiteY0" fmla="*/ 189405 h 200748"/>
                <a:gd name="connsiteX1" fmla="*/ 0 w 73081"/>
                <a:gd name="connsiteY1" fmla="*/ 11344 h 200748"/>
                <a:gd name="connsiteX2" fmla="*/ 12991 w 73081"/>
                <a:gd name="connsiteY2" fmla="*/ 0 h 200748"/>
                <a:gd name="connsiteX3" fmla="*/ 60090 w 73081"/>
                <a:gd name="connsiteY3" fmla="*/ 0 h 200748"/>
                <a:gd name="connsiteX4" fmla="*/ 73081 w 73081"/>
                <a:gd name="connsiteY4" fmla="*/ 11344 h 200748"/>
                <a:gd name="connsiteX5" fmla="*/ 73081 w 73081"/>
                <a:gd name="connsiteY5" fmla="*/ 189405 h 200748"/>
                <a:gd name="connsiteX6" fmla="*/ 60090 w 73081"/>
                <a:gd name="connsiteY6" fmla="*/ 200749 h 200748"/>
                <a:gd name="connsiteX7" fmla="*/ 12991 w 73081"/>
                <a:gd name="connsiteY7" fmla="*/ 200749 h 200748"/>
                <a:gd name="connsiteX8" fmla="*/ 0 w 73081"/>
                <a:gd name="connsiteY8" fmla="*/ 189405 h 200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081" h="200748">
                  <a:moveTo>
                    <a:pt x="0" y="189405"/>
                  </a:moveTo>
                  <a:lnTo>
                    <a:pt x="0" y="11344"/>
                  </a:lnTo>
                  <a:cubicBezTo>
                    <a:pt x="0" y="5092"/>
                    <a:pt x="5840" y="0"/>
                    <a:pt x="12991" y="0"/>
                  </a:cubicBezTo>
                  <a:lnTo>
                    <a:pt x="60090" y="0"/>
                  </a:lnTo>
                  <a:cubicBezTo>
                    <a:pt x="67278" y="0"/>
                    <a:pt x="73081" y="5092"/>
                    <a:pt x="73081" y="11344"/>
                  </a:cubicBezTo>
                  <a:lnTo>
                    <a:pt x="73081" y="189405"/>
                  </a:lnTo>
                  <a:cubicBezTo>
                    <a:pt x="73081" y="195657"/>
                    <a:pt x="67241" y="200749"/>
                    <a:pt x="60090" y="200749"/>
                  </a:cubicBezTo>
                  <a:lnTo>
                    <a:pt x="12991" y="200749"/>
                  </a:lnTo>
                  <a:cubicBezTo>
                    <a:pt x="5803" y="200749"/>
                    <a:pt x="0" y="195657"/>
                    <a:pt x="0" y="18940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4" name="Forma Livre: Forma 53">
              <a:extLst>
                <a:ext uri="{FF2B5EF4-FFF2-40B4-BE49-F238E27FC236}">
                  <a16:creationId xmlns:a16="http://schemas.microsoft.com/office/drawing/2014/main" id="{4BBCE127-2C4D-C07F-E15B-8B8D01C01674}"/>
                </a:ext>
              </a:extLst>
            </p:cNvPr>
            <p:cNvSpPr/>
            <p:nvPr/>
          </p:nvSpPr>
          <p:spPr>
            <a:xfrm>
              <a:off x="8125821" y="4611781"/>
              <a:ext cx="73118" cy="290677"/>
            </a:xfrm>
            <a:custGeom>
              <a:avLst/>
              <a:gdLst>
                <a:gd name="connsiteX0" fmla="*/ 73119 w 73118"/>
                <a:gd name="connsiteY0" fmla="*/ 18832 h 290677"/>
                <a:gd name="connsiteX1" fmla="*/ 73119 w 73118"/>
                <a:gd name="connsiteY1" fmla="*/ 271846 h 290677"/>
                <a:gd name="connsiteX2" fmla="*/ 60090 w 73118"/>
                <a:gd name="connsiteY2" fmla="*/ 290678 h 290677"/>
                <a:gd name="connsiteX3" fmla="*/ 12991 w 73118"/>
                <a:gd name="connsiteY3" fmla="*/ 290678 h 290677"/>
                <a:gd name="connsiteX4" fmla="*/ 0 w 73118"/>
                <a:gd name="connsiteY4" fmla="*/ 271846 h 290677"/>
                <a:gd name="connsiteX5" fmla="*/ 0 w 73118"/>
                <a:gd name="connsiteY5" fmla="*/ 18832 h 290677"/>
                <a:gd name="connsiteX6" fmla="*/ 12991 w 73118"/>
                <a:gd name="connsiteY6" fmla="*/ 0 h 290677"/>
                <a:gd name="connsiteX7" fmla="*/ 60090 w 73118"/>
                <a:gd name="connsiteY7" fmla="*/ 0 h 290677"/>
                <a:gd name="connsiteX8" fmla="*/ 73119 w 73118"/>
                <a:gd name="connsiteY8" fmla="*/ 18832 h 290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118" h="290677">
                  <a:moveTo>
                    <a:pt x="73119" y="18832"/>
                  </a:moveTo>
                  <a:lnTo>
                    <a:pt x="73119" y="271846"/>
                  </a:lnTo>
                  <a:cubicBezTo>
                    <a:pt x="73119" y="282029"/>
                    <a:pt x="67166" y="290678"/>
                    <a:pt x="60090" y="290678"/>
                  </a:cubicBezTo>
                  <a:lnTo>
                    <a:pt x="12991" y="290678"/>
                  </a:lnTo>
                  <a:cubicBezTo>
                    <a:pt x="5953" y="290678"/>
                    <a:pt x="0" y="282067"/>
                    <a:pt x="0" y="271846"/>
                  </a:cubicBezTo>
                  <a:lnTo>
                    <a:pt x="0" y="18832"/>
                  </a:lnTo>
                  <a:cubicBezTo>
                    <a:pt x="0" y="8648"/>
                    <a:pt x="5953" y="0"/>
                    <a:pt x="12991" y="0"/>
                  </a:cubicBezTo>
                  <a:lnTo>
                    <a:pt x="60090" y="0"/>
                  </a:lnTo>
                  <a:cubicBezTo>
                    <a:pt x="67128" y="0"/>
                    <a:pt x="73119" y="8611"/>
                    <a:pt x="73119" y="18832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237A031C-678E-9A8C-5F1A-767D21996B6B}"/>
                </a:ext>
              </a:extLst>
            </p:cNvPr>
            <p:cNvSpPr/>
            <p:nvPr/>
          </p:nvSpPr>
          <p:spPr>
            <a:xfrm>
              <a:off x="8014851" y="4774192"/>
              <a:ext cx="73081" cy="128229"/>
            </a:xfrm>
            <a:custGeom>
              <a:avLst/>
              <a:gdLst>
                <a:gd name="connsiteX0" fmla="*/ 0 w 73081"/>
                <a:gd name="connsiteY0" fmla="*/ 5279 h 128229"/>
                <a:gd name="connsiteX1" fmla="*/ 12991 w 73081"/>
                <a:gd name="connsiteY1" fmla="*/ 0 h 128229"/>
                <a:gd name="connsiteX2" fmla="*/ 60090 w 73081"/>
                <a:gd name="connsiteY2" fmla="*/ 0 h 128229"/>
                <a:gd name="connsiteX3" fmla="*/ 73081 w 73081"/>
                <a:gd name="connsiteY3" fmla="*/ 5279 h 128229"/>
                <a:gd name="connsiteX4" fmla="*/ 73081 w 73081"/>
                <a:gd name="connsiteY4" fmla="*/ 122950 h 128229"/>
                <a:gd name="connsiteX5" fmla="*/ 60090 w 73081"/>
                <a:gd name="connsiteY5" fmla="*/ 128229 h 128229"/>
                <a:gd name="connsiteX6" fmla="*/ 12991 w 73081"/>
                <a:gd name="connsiteY6" fmla="*/ 128229 h 128229"/>
                <a:gd name="connsiteX7" fmla="*/ 0 w 73081"/>
                <a:gd name="connsiteY7" fmla="*/ 122950 h 128229"/>
                <a:gd name="connsiteX8" fmla="*/ 0 w 73081"/>
                <a:gd name="connsiteY8" fmla="*/ 5279 h 128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081" h="128229">
                  <a:moveTo>
                    <a:pt x="0" y="5279"/>
                  </a:moveTo>
                  <a:cubicBezTo>
                    <a:pt x="0" y="3669"/>
                    <a:pt x="4905" y="0"/>
                    <a:pt x="12991" y="0"/>
                  </a:cubicBezTo>
                  <a:lnTo>
                    <a:pt x="60090" y="0"/>
                  </a:lnTo>
                  <a:cubicBezTo>
                    <a:pt x="68177" y="0"/>
                    <a:pt x="73081" y="3669"/>
                    <a:pt x="73081" y="5279"/>
                  </a:cubicBezTo>
                  <a:lnTo>
                    <a:pt x="73081" y="122950"/>
                  </a:lnTo>
                  <a:cubicBezTo>
                    <a:pt x="73081" y="124560"/>
                    <a:pt x="68177" y="128229"/>
                    <a:pt x="60090" y="128229"/>
                  </a:cubicBezTo>
                  <a:lnTo>
                    <a:pt x="12991" y="128229"/>
                  </a:lnTo>
                  <a:cubicBezTo>
                    <a:pt x="4905" y="128229"/>
                    <a:pt x="0" y="124560"/>
                    <a:pt x="0" y="122950"/>
                  </a:cubicBezTo>
                  <a:lnTo>
                    <a:pt x="0" y="527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57" name="Forma Livre: Forma 56">
              <a:extLst>
                <a:ext uri="{FF2B5EF4-FFF2-40B4-BE49-F238E27FC236}">
                  <a16:creationId xmlns:a16="http://schemas.microsoft.com/office/drawing/2014/main" id="{ACFCED73-E0CF-F847-3671-3E768425C561}"/>
                </a:ext>
              </a:extLst>
            </p:cNvPr>
            <p:cNvSpPr/>
            <p:nvPr/>
          </p:nvSpPr>
          <p:spPr>
            <a:xfrm>
              <a:off x="7905417" y="4926981"/>
              <a:ext cx="299999" cy="23699"/>
            </a:xfrm>
            <a:custGeom>
              <a:avLst/>
              <a:gdLst>
                <a:gd name="connsiteX0" fmla="*/ 0 w 299999"/>
                <a:gd name="connsiteY0" fmla="*/ 11831 h 23699"/>
                <a:gd name="connsiteX1" fmla="*/ 12991 w 299999"/>
                <a:gd name="connsiteY1" fmla="*/ 23699 h 23699"/>
                <a:gd name="connsiteX2" fmla="*/ 287009 w 299999"/>
                <a:gd name="connsiteY2" fmla="*/ 23699 h 23699"/>
                <a:gd name="connsiteX3" fmla="*/ 300000 w 299999"/>
                <a:gd name="connsiteY3" fmla="*/ 11831 h 23699"/>
                <a:gd name="connsiteX4" fmla="*/ 287009 w 299999"/>
                <a:gd name="connsiteY4" fmla="*/ 0 h 23699"/>
                <a:gd name="connsiteX5" fmla="*/ 12991 w 299999"/>
                <a:gd name="connsiteY5" fmla="*/ 0 h 23699"/>
                <a:gd name="connsiteX6" fmla="*/ 0 w 299999"/>
                <a:gd name="connsiteY6" fmla="*/ 11831 h 23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9999" h="23699">
                  <a:moveTo>
                    <a:pt x="0" y="11831"/>
                  </a:moveTo>
                  <a:cubicBezTo>
                    <a:pt x="0" y="18383"/>
                    <a:pt x="5803" y="23699"/>
                    <a:pt x="12991" y="23699"/>
                  </a:cubicBezTo>
                  <a:lnTo>
                    <a:pt x="287009" y="23699"/>
                  </a:lnTo>
                  <a:cubicBezTo>
                    <a:pt x="294197" y="23699"/>
                    <a:pt x="300000" y="18383"/>
                    <a:pt x="300000" y="11831"/>
                  </a:cubicBezTo>
                  <a:cubicBezTo>
                    <a:pt x="300000" y="5279"/>
                    <a:pt x="294197" y="0"/>
                    <a:pt x="287009" y="0"/>
                  </a:cubicBezTo>
                  <a:lnTo>
                    <a:pt x="12991" y="0"/>
                  </a:lnTo>
                  <a:cubicBezTo>
                    <a:pt x="5803" y="0"/>
                    <a:pt x="0" y="5317"/>
                    <a:pt x="0" y="11831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grpSp>
        <p:nvGrpSpPr>
          <p:cNvPr id="58" name="Gráfico 6">
            <a:extLst>
              <a:ext uri="{FF2B5EF4-FFF2-40B4-BE49-F238E27FC236}">
                <a16:creationId xmlns:a16="http://schemas.microsoft.com/office/drawing/2014/main" id="{8005787E-C2AC-DE3E-89D7-9B8064D7F376}"/>
              </a:ext>
            </a:extLst>
          </p:cNvPr>
          <p:cNvGrpSpPr/>
          <p:nvPr/>
        </p:nvGrpSpPr>
        <p:grpSpPr>
          <a:xfrm>
            <a:off x="6158611" y="2037236"/>
            <a:ext cx="361852" cy="328498"/>
            <a:chOff x="5533538" y="2646947"/>
            <a:chExt cx="361852" cy="328498"/>
          </a:xfrm>
          <a:solidFill>
            <a:srgbClr val="04B0FF"/>
          </a:solidFill>
        </p:grpSpPr>
        <p:sp>
          <p:nvSpPr>
            <p:cNvPr id="59" name="Forma Livre: Forma 58">
              <a:extLst>
                <a:ext uri="{FF2B5EF4-FFF2-40B4-BE49-F238E27FC236}">
                  <a16:creationId xmlns:a16="http://schemas.microsoft.com/office/drawing/2014/main" id="{CA8FDEEF-C40B-BB2D-1454-E7BFE923D2B0}"/>
                </a:ext>
              </a:extLst>
            </p:cNvPr>
            <p:cNvSpPr/>
            <p:nvPr/>
          </p:nvSpPr>
          <p:spPr>
            <a:xfrm>
              <a:off x="5533538" y="2868387"/>
              <a:ext cx="147736" cy="107058"/>
            </a:xfrm>
            <a:custGeom>
              <a:avLst/>
              <a:gdLst>
                <a:gd name="connsiteX0" fmla="*/ 74228 w 147736"/>
                <a:gd name="connsiteY0" fmla="*/ 0 h 107058"/>
                <a:gd name="connsiteX1" fmla="*/ 0 w 147736"/>
                <a:gd name="connsiteY1" fmla="*/ 74228 h 107058"/>
                <a:gd name="connsiteX2" fmla="*/ 0 w 147736"/>
                <a:gd name="connsiteY2" fmla="*/ 107058 h 107058"/>
                <a:gd name="connsiteX3" fmla="*/ 16415 w 147736"/>
                <a:gd name="connsiteY3" fmla="*/ 107058 h 107058"/>
                <a:gd name="connsiteX4" fmla="*/ 16415 w 147736"/>
                <a:gd name="connsiteY4" fmla="*/ 74228 h 107058"/>
                <a:gd name="connsiteX5" fmla="*/ 24263 w 147736"/>
                <a:gd name="connsiteY5" fmla="*/ 65661 h 107058"/>
                <a:gd name="connsiteX6" fmla="*/ 32830 w 147736"/>
                <a:gd name="connsiteY6" fmla="*/ 74228 h 107058"/>
                <a:gd name="connsiteX7" fmla="*/ 32830 w 147736"/>
                <a:gd name="connsiteY7" fmla="*/ 107058 h 107058"/>
                <a:gd name="connsiteX8" fmla="*/ 114906 w 147736"/>
                <a:gd name="connsiteY8" fmla="*/ 107058 h 107058"/>
                <a:gd name="connsiteX9" fmla="*/ 114906 w 147736"/>
                <a:gd name="connsiteY9" fmla="*/ 74228 h 107058"/>
                <a:gd name="connsiteX10" fmla="*/ 122819 w 147736"/>
                <a:gd name="connsiteY10" fmla="*/ 65661 h 107058"/>
                <a:gd name="connsiteX11" fmla="*/ 131321 w 147736"/>
                <a:gd name="connsiteY11" fmla="*/ 74228 h 107058"/>
                <a:gd name="connsiteX12" fmla="*/ 131321 w 147736"/>
                <a:gd name="connsiteY12" fmla="*/ 107058 h 107058"/>
                <a:gd name="connsiteX13" fmla="*/ 147736 w 147736"/>
                <a:gd name="connsiteY13" fmla="*/ 107058 h 107058"/>
                <a:gd name="connsiteX14" fmla="*/ 147736 w 147736"/>
                <a:gd name="connsiteY14" fmla="*/ 74228 h 107058"/>
                <a:gd name="connsiteX15" fmla="*/ 74162 w 147736"/>
                <a:gd name="connsiteY15" fmla="*/ 0 h 10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7736" h="107058">
                  <a:moveTo>
                    <a:pt x="74228" y="0"/>
                  </a:moveTo>
                  <a:cubicBezTo>
                    <a:pt x="32830" y="0"/>
                    <a:pt x="0" y="33484"/>
                    <a:pt x="0" y="74228"/>
                  </a:cubicBezTo>
                  <a:lnTo>
                    <a:pt x="0" y="107058"/>
                  </a:lnTo>
                  <a:lnTo>
                    <a:pt x="16415" y="107058"/>
                  </a:lnTo>
                  <a:lnTo>
                    <a:pt x="16415" y="74228"/>
                  </a:lnTo>
                  <a:cubicBezTo>
                    <a:pt x="16415" y="69650"/>
                    <a:pt x="19685" y="65661"/>
                    <a:pt x="24263" y="65661"/>
                  </a:cubicBezTo>
                  <a:cubicBezTo>
                    <a:pt x="28841" y="65661"/>
                    <a:pt x="32830" y="69584"/>
                    <a:pt x="32830" y="74228"/>
                  </a:cubicBezTo>
                  <a:lnTo>
                    <a:pt x="32830" y="107058"/>
                  </a:lnTo>
                  <a:lnTo>
                    <a:pt x="114906" y="107058"/>
                  </a:lnTo>
                  <a:lnTo>
                    <a:pt x="114906" y="74228"/>
                  </a:lnTo>
                  <a:cubicBezTo>
                    <a:pt x="114906" y="69650"/>
                    <a:pt x="118176" y="65661"/>
                    <a:pt x="122819" y="65661"/>
                  </a:cubicBezTo>
                  <a:cubicBezTo>
                    <a:pt x="127463" y="65661"/>
                    <a:pt x="131321" y="69584"/>
                    <a:pt x="131321" y="74228"/>
                  </a:cubicBezTo>
                  <a:lnTo>
                    <a:pt x="131321" y="107058"/>
                  </a:lnTo>
                  <a:lnTo>
                    <a:pt x="147736" y="107058"/>
                  </a:lnTo>
                  <a:lnTo>
                    <a:pt x="147736" y="74228"/>
                  </a:lnTo>
                  <a:cubicBezTo>
                    <a:pt x="147736" y="33484"/>
                    <a:pt x="115560" y="0"/>
                    <a:pt x="74162" y="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0" name="Forma Livre: Forma 59">
              <a:extLst>
                <a:ext uri="{FF2B5EF4-FFF2-40B4-BE49-F238E27FC236}">
                  <a16:creationId xmlns:a16="http://schemas.microsoft.com/office/drawing/2014/main" id="{CDC6D9F9-96D5-F622-D172-CDDA43654431}"/>
                </a:ext>
              </a:extLst>
            </p:cNvPr>
            <p:cNvSpPr/>
            <p:nvPr/>
          </p:nvSpPr>
          <p:spPr>
            <a:xfrm>
              <a:off x="5624116" y="2646947"/>
              <a:ext cx="180631" cy="107058"/>
            </a:xfrm>
            <a:custGeom>
              <a:avLst/>
              <a:gdLst>
                <a:gd name="connsiteX0" fmla="*/ 180632 w 180631"/>
                <a:gd name="connsiteY0" fmla="*/ 0 h 107058"/>
                <a:gd name="connsiteX1" fmla="*/ 0 w 180631"/>
                <a:gd name="connsiteY1" fmla="*/ 0 h 107058"/>
                <a:gd name="connsiteX2" fmla="*/ 0 w 180631"/>
                <a:gd name="connsiteY2" fmla="*/ 107058 h 107058"/>
                <a:gd name="connsiteX3" fmla="*/ 180632 w 180631"/>
                <a:gd name="connsiteY3" fmla="*/ 107058 h 107058"/>
                <a:gd name="connsiteX4" fmla="*/ 180632 w 180631"/>
                <a:gd name="connsiteY4" fmla="*/ 0 h 107058"/>
                <a:gd name="connsiteX5" fmla="*/ 126809 w 180631"/>
                <a:gd name="connsiteY5" fmla="*/ 61737 h 107058"/>
                <a:gd name="connsiteX6" fmla="*/ 71612 w 180631"/>
                <a:gd name="connsiteY6" fmla="*/ 89335 h 107058"/>
                <a:gd name="connsiteX7" fmla="*/ 59775 w 180631"/>
                <a:gd name="connsiteY7" fmla="*/ 82076 h 107058"/>
                <a:gd name="connsiteX8" fmla="*/ 59775 w 180631"/>
                <a:gd name="connsiteY8" fmla="*/ 26944 h 107058"/>
                <a:gd name="connsiteX9" fmla="*/ 71612 w 180631"/>
                <a:gd name="connsiteY9" fmla="*/ 19750 h 107058"/>
                <a:gd name="connsiteX10" fmla="*/ 126809 w 180631"/>
                <a:gd name="connsiteY10" fmla="*/ 47349 h 107058"/>
                <a:gd name="connsiteX11" fmla="*/ 131386 w 180631"/>
                <a:gd name="connsiteY11" fmla="*/ 54543 h 107058"/>
                <a:gd name="connsiteX12" fmla="*/ 126809 w 180631"/>
                <a:gd name="connsiteY12" fmla="*/ 61737 h 10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631" h="107058">
                  <a:moveTo>
                    <a:pt x="180632" y="0"/>
                  </a:moveTo>
                  <a:lnTo>
                    <a:pt x="0" y="0"/>
                  </a:lnTo>
                  <a:lnTo>
                    <a:pt x="0" y="107058"/>
                  </a:lnTo>
                  <a:lnTo>
                    <a:pt x="180632" y="107058"/>
                  </a:lnTo>
                  <a:lnTo>
                    <a:pt x="180632" y="0"/>
                  </a:lnTo>
                  <a:close/>
                  <a:moveTo>
                    <a:pt x="126809" y="61737"/>
                  </a:moveTo>
                  <a:lnTo>
                    <a:pt x="71612" y="89335"/>
                  </a:lnTo>
                  <a:cubicBezTo>
                    <a:pt x="66380" y="91951"/>
                    <a:pt x="59775" y="88027"/>
                    <a:pt x="59775" y="82076"/>
                  </a:cubicBezTo>
                  <a:lnTo>
                    <a:pt x="59775" y="26944"/>
                  </a:lnTo>
                  <a:cubicBezTo>
                    <a:pt x="59775" y="21058"/>
                    <a:pt x="66315" y="17069"/>
                    <a:pt x="71612" y="19750"/>
                  </a:cubicBezTo>
                  <a:lnTo>
                    <a:pt x="126809" y="47349"/>
                  </a:lnTo>
                  <a:cubicBezTo>
                    <a:pt x="129424" y="48657"/>
                    <a:pt x="131386" y="51273"/>
                    <a:pt x="131386" y="54543"/>
                  </a:cubicBezTo>
                  <a:cubicBezTo>
                    <a:pt x="131386" y="57813"/>
                    <a:pt x="129424" y="60429"/>
                    <a:pt x="126809" y="61737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1" name="Forma Livre: Forma 60">
              <a:extLst>
                <a:ext uri="{FF2B5EF4-FFF2-40B4-BE49-F238E27FC236}">
                  <a16:creationId xmlns:a16="http://schemas.microsoft.com/office/drawing/2014/main" id="{8C711447-6A88-2895-6554-604DC36849C9}"/>
                </a:ext>
              </a:extLst>
            </p:cNvPr>
            <p:cNvSpPr/>
            <p:nvPr/>
          </p:nvSpPr>
          <p:spPr>
            <a:xfrm>
              <a:off x="5566369" y="2776371"/>
              <a:ext cx="82795" cy="82795"/>
            </a:xfrm>
            <a:custGeom>
              <a:avLst/>
              <a:gdLst>
                <a:gd name="connsiteX0" fmla="*/ 41398 w 82795"/>
                <a:gd name="connsiteY0" fmla="*/ 82795 h 82795"/>
                <a:gd name="connsiteX1" fmla="*/ 82795 w 82795"/>
                <a:gd name="connsiteY1" fmla="*/ 41398 h 82795"/>
                <a:gd name="connsiteX2" fmla="*/ 41398 w 82795"/>
                <a:gd name="connsiteY2" fmla="*/ 0 h 82795"/>
                <a:gd name="connsiteX3" fmla="*/ 0 w 82795"/>
                <a:gd name="connsiteY3" fmla="*/ 41398 h 82795"/>
                <a:gd name="connsiteX4" fmla="*/ 41398 w 82795"/>
                <a:gd name="connsiteY4" fmla="*/ 82795 h 82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95" h="82795">
                  <a:moveTo>
                    <a:pt x="41398" y="82795"/>
                  </a:moveTo>
                  <a:cubicBezTo>
                    <a:pt x="64353" y="82795"/>
                    <a:pt x="82795" y="64418"/>
                    <a:pt x="82795" y="41398"/>
                  </a:cubicBezTo>
                  <a:cubicBezTo>
                    <a:pt x="82795" y="18377"/>
                    <a:pt x="64418" y="0"/>
                    <a:pt x="41398" y="0"/>
                  </a:cubicBezTo>
                  <a:cubicBezTo>
                    <a:pt x="18377" y="0"/>
                    <a:pt x="0" y="19031"/>
                    <a:pt x="0" y="41398"/>
                  </a:cubicBezTo>
                  <a:cubicBezTo>
                    <a:pt x="0" y="63764"/>
                    <a:pt x="18377" y="82795"/>
                    <a:pt x="41398" y="8279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3" name="Forma Livre: Forma 62">
              <a:extLst>
                <a:ext uri="{FF2B5EF4-FFF2-40B4-BE49-F238E27FC236}">
                  <a16:creationId xmlns:a16="http://schemas.microsoft.com/office/drawing/2014/main" id="{8FBF639C-52BD-F7E7-4B1A-0F4EF7BD535A}"/>
                </a:ext>
              </a:extLst>
            </p:cNvPr>
            <p:cNvSpPr/>
            <p:nvPr/>
          </p:nvSpPr>
          <p:spPr>
            <a:xfrm>
              <a:off x="5700371" y="2687036"/>
              <a:ext cx="28906" cy="28840"/>
            </a:xfrm>
            <a:custGeom>
              <a:avLst/>
              <a:gdLst>
                <a:gd name="connsiteX0" fmla="*/ 0 w 28906"/>
                <a:gd name="connsiteY0" fmla="*/ 28841 h 28840"/>
                <a:gd name="connsiteX1" fmla="*/ 28907 w 28906"/>
                <a:gd name="connsiteY1" fmla="*/ 14453 h 28840"/>
                <a:gd name="connsiteX2" fmla="*/ 0 w 28906"/>
                <a:gd name="connsiteY2" fmla="*/ 0 h 28840"/>
                <a:gd name="connsiteX3" fmla="*/ 0 w 28906"/>
                <a:gd name="connsiteY3" fmla="*/ 28841 h 28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06" h="28840">
                  <a:moveTo>
                    <a:pt x="0" y="28841"/>
                  </a:moveTo>
                  <a:lnTo>
                    <a:pt x="28907" y="14453"/>
                  </a:lnTo>
                  <a:lnTo>
                    <a:pt x="0" y="0"/>
                  </a:lnTo>
                  <a:lnTo>
                    <a:pt x="0" y="28841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4" name="Forma Livre: Forma 63">
              <a:extLst>
                <a:ext uri="{FF2B5EF4-FFF2-40B4-BE49-F238E27FC236}">
                  <a16:creationId xmlns:a16="http://schemas.microsoft.com/office/drawing/2014/main" id="{ABA79DEC-7223-B81B-0CB3-06C67F927802}"/>
                </a:ext>
              </a:extLst>
            </p:cNvPr>
            <p:cNvSpPr/>
            <p:nvPr/>
          </p:nvSpPr>
          <p:spPr>
            <a:xfrm>
              <a:off x="5746935" y="2868387"/>
              <a:ext cx="148455" cy="107058"/>
            </a:xfrm>
            <a:custGeom>
              <a:avLst/>
              <a:gdLst>
                <a:gd name="connsiteX0" fmla="*/ 74228 w 148455"/>
                <a:gd name="connsiteY0" fmla="*/ 0 h 107058"/>
                <a:gd name="connsiteX1" fmla="*/ 0 w 148455"/>
                <a:gd name="connsiteY1" fmla="*/ 74228 h 107058"/>
                <a:gd name="connsiteX2" fmla="*/ 0 w 148455"/>
                <a:gd name="connsiteY2" fmla="*/ 107058 h 107058"/>
                <a:gd name="connsiteX3" fmla="*/ 15761 w 148455"/>
                <a:gd name="connsiteY3" fmla="*/ 107058 h 107058"/>
                <a:gd name="connsiteX4" fmla="*/ 15761 w 148455"/>
                <a:gd name="connsiteY4" fmla="*/ 74228 h 107058"/>
                <a:gd name="connsiteX5" fmla="*/ 24329 w 148455"/>
                <a:gd name="connsiteY5" fmla="*/ 65661 h 107058"/>
                <a:gd name="connsiteX6" fmla="*/ 32830 w 148455"/>
                <a:gd name="connsiteY6" fmla="*/ 74228 h 107058"/>
                <a:gd name="connsiteX7" fmla="*/ 32830 w 148455"/>
                <a:gd name="connsiteY7" fmla="*/ 107058 h 107058"/>
                <a:gd name="connsiteX8" fmla="*/ 114252 w 148455"/>
                <a:gd name="connsiteY8" fmla="*/ 107058 h 107058"/>
                <a:gd name="connsiteX9" fmla="*/ 114252 w 148455"/>
                <a:gd name="connsiteY9" fmla="*/ 74228 h 107058"/>
                <a:gd name="connsiteX10" fmla="*/ 122819 w 148455"/>
                <a:gd name="connsiteY10" fmla="*/ 65661 h 107058"/>
                <a:gd name="connsiteX11" fmla="*/ 131387 w 148455"/>
                <a:gd name="connsiteY11" fmla="*/ 74228 h 107058"/>
                <a:gd name="connsiteX12" fmla="*/ 131387 w 148455"/>
                <a:gd name="connsiteY12" fmla="*/ 107058 h 107058"/>
                <a:gd name="connsiteX13" fmla="*/ 148456 w 148455"/>
                <a:gd name="connsiteY13" fmla="*/ 107058 h 107058"/>
                <a:gd name="connsiteX14" fmla="*/ 148456 w 148455"/>
                <a:gd name="connsiteY14" fmla="*/ 74228 h 107058"/>
                <a:gd name="connsiteX15" fmla="*/ 74228 w 148455"/>
                <a:gd name="connsiteY15" fmla="*/ 0 h 10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8455" h="107058">
                  <a:moveTo>
                    <a:pt x="74228" y="0"/>
                  </a:moveTo>
                  <a:cubicBezTo>
                    <a:pt x="32830" y="0"/>
                    <a:pt x="0" y="33484"/>
                    <a:pt x="0" y="74228"/>
                  </a:cubicBezTo>
                  <a:lnTo>
                    <a:pt x="0" y="107058"/>
                  </a:lnTo>
                  <a:lnTo>
                    <a:pt x="15761" y="107058"/>
                  </a:lnTo>
                  <a:lnTo>
                    <a:pt x="15761" y="74228"/>
                  </a:lnTo>
                  <a:cubicBezTo>
                    <a:pt x="15761" y="69650"/>
                    <a:pt x="19685" y="65661"/>
                    <a:pt x="24329" y="65661"/>
                  </a:cubicBezTo>
                  <a:cubicBezTo>
                    <a:pt x="28972" y="65661"/>
                    <a:pt x="32830" y="69584"/>
                    <a:pt x="32830" y="74228"/>
                  </a:cubicBezTo>
                  <a:lnTo>
                    <a:pt x="32830" y="107058"/>
                  </a:lnTo>
                  <a:lnTo>
                    <a:pt x="114252" y="107058"/>
                  </a:lnTo>
                  <a:lnTo>
                    <a:pt x="114252" y="74228"/>
                  </a:lnTo>
                  <a:cubicBezTo>
                    <a:pt x="114252" y="69650"/>
                    <a:pt x="118176" y="65661"/>
                    <a:pt x="122819" y="65661"/>
                  </a:cubicBezTo>
                  <a:cubicBezTo>
                    <a:pt x="127463" y="65661"/>
                    <a:pt x="131387" y="69584"/>
                    <a:pt x="131387" y="74228"/>
                  </a:cubicBezTo>
                  <a:lnTo>
                    <a:pt x="131387" y="107058"/>
                  </a:lnTo>
                  <a:lnTo>
                    <a:pt x="148456" y="107058"/>
                  </a:lnTo>
                  <a:lnTo>
                    <a:pt x="148456" y="74228"/>
                  </a:lnTo>
                  <a:cubicBezTo>
                    <a:pt x="148456" y="32830"/>
                    <a:pt x="115625" y="0"/>
                    <a:pt x="74228" y="0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66" name="Forma Livre: Forma 65">
              <a:extLst>
                <a:ext uri="{FF2B5EF4-FFF2-40B4-BE49-F238E27FC236}">
                  <a16:creationId xmlns:a16="http://schemas.microsoft.com/office/drawing/2014/main" id="{12151456-EF05-C310-871E-2FB9EE4DDD53}"/>
                </a:ext>
              </a:extLst>
            </p:cNvPr>
            <p:cNvSpPr/>
            <p:nvPr/>
          </p:nvSpPr>
          <p:spPr>
            <a:xfrm>
              <a:off x="5779765" y="2776371"/>
              <a:ext cx="82794" cy="82795"/>
            </a:xfrm>
            <a:custGeom>
              <a:avLst/>
              <a:gdLst>
                <a:gd name="connsiteX0" fmla="*/ 41398 w 82794"/>
                <a:gd name="connsiteY0" fmla="*/ 82795 h 82795"/>
                <a:gd name="connsiteX1" fmla="*/ 82795 w 82794"/>
                <a:gd name="connsiteY1" fmla="*/ 41398 h 82795"/>
                <a:gd name="connsiteX2" fmla="*/ 41398 w 82794"/>
                <a:gd name="connsiteY2" fmla="*/ 0 h 82795"/>
                <a:gd name="connsiteX3" fmla="*/ 0 w 82794"/>
                <a:gd name="connsiteY3" fmla="*/ 41398 h 82795"/>
                <a:gd name="connsiteX4" fmla="*/ 41398 w 82794"/>
                <a:gd name="connsiteY4" fmla="*/ 82795 h 82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794" h="82795">
                  <a:moveTo>
                    <a:pt x="41398" y="82795"/>
                  </a:moveTo>
                  <a:cubicBezTo>
                    <a:pt x="64353" y="82795"/>
                    <a:pt x="82795" y="64418"/>
                    <a:pt x="82795" y="41398"/>
                  </a:cubicBezTo>
                  <a:cubicBezTo>
                    <a:pt x="82795" y="18377"/>
                    <a:pt x="64418" y="0"/>
                    <a:pt x="41398" y="0"/>
                  </a:cubicBezTo>
                  <a:cubicBezTo>
                    <a:pt x="18377" y="0"/>
                    <a:pt x="0" y="19031"/>
                    <a:pt x="0" y="41398"/>
                  </a:cubicBezTo>
                  <a:cubicBezTo>
                    <a:pt x="0" y="63764"/>
                    <a:pt x="18377" y="82795"/>
                    <a:pt x="41398" y="82795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sp>
        <p:nvSpPr>
          <p:cNvPr id="69" name="Forma Livre: Forma 68">
            <a:extLst>
              <a:ext uri="{FF2B5EF4-FFF2-40B4-BE49-F238E27FC236}">
                <a16:creationId xmlns:a16="http://schemas.microsoft.com/office/drawing/2014/main" id="{FA433D95-3724-10D6-A970-1A297ADECD23}"/>
              </a:ext>
            </a:extLst>
          </p:cNvPr>
          <p:cNvSpPr/>
          <p:nvPr/>
        </p:nvSpPr>
        <p:spPr>
          <a:xfrm>
            <a:off x="599312" y="1180417"/>
            <a:ext cx="215140" cy="326506"/>
          </a:xfrm>
          <a:custGeom>
            <a:avLst/>
            <a:gdLst>
              <a:gd name="connsiteX0" fmla="*/ 202733 w 215140"/>
              <a:gd name="connsiteY0" fmla="*/ 176675 h 326506"/>
              <a:gd name="connsiteX1" fmla="*/ 133808 w 215140"/>
              <a:gd name="connsiteY1" fmla="*/ 144066 h 326506"/>
              <a:gd name="connsiteX2" fmla="*/ 128229 w 215140"/>
              <a:gd name="connsiteY2" fmla="*/ 137664 h 326506"/>
              <a:gd name="connsiteX3" fmla="*/ 128229 w 215140"/>
              <a:gd name="connsiteY3" fmla="*/ 91202 h 326506"/>
              <a:gd name="connsiteX4" fmla="*/ 131224 w 215140"/>
              <a:gd name="connsiteY4" fmla="*/ 85736 h 326506"/>
              <a:gd name="connsiteX5" fmla="*/ 137439 w 215140"/>
              <a:gd name="connsiteY5" fmla="*/ 85361 h 326506"/>
              <a:gd name="connsiteX6" fmla="*/ 155747 w 215140"/>
              <a:gd name="connsiteY6" fmla="*/ 97417 h 326506"/>
              <a:gd name="connsiteX7" fmla="*/ 163085 w 215140"/>
              <a:gd name="connsiteY7" fmla="*/ 100000 h 326506"/>
              <a:gd name="connsiteX8" fmla="*/ 163085 w 215140"/>
              <a:gd name="connsiteY8" fmla="*/ 100000 h 326506"/>
              <a:gd name="connsiteX9" fmla="*/ 168401 w 215140"/>
              <a:gd name="connsiteY9" fmla="*/ 98315 h 326506"/>
              <a:gd name="connsiteX10" fmla="*/ 195732 w 215140"/>
              <a:gd name="connsiteY10" fmla="*/ 81168 h 326506"/>
              <a:gd name="connsiteX11" fmla="*/ 198465 w 215140"/>
              <a:gd name="connsiteY11" fmla="*/ 77387 h 326506"/>
              <a:gd name="connsiteX12" fmla="*/ 196967 w 215140"/>
              <a:gd name="connsiteY12" fmla="*/ 74466 h 326506"/>
              <a:gd name="connsiteX13" fmla="*/ 196481 w 215140"/>
              <a:gd name="connsiteY13" fmla="*/ 73942 h 326506"/>
              <a:gd name="connsiteX14" fmla="*/ 133583 w 215140"/>
              <a:gd name="connsiteY14" fmla="*/ 39536 h 326506"/>
              <a:gd name="connsiteX15" fmla="*/ 128229 w 215140"/>
              <a:gd name="connsiteY15" fmla="*/ 33171 h 326506"/>
              <a:gd name="connsiteX16" fmla="*/ 128229 w 215140"/>
              <a:gd name="connsiteY16" fmla="*/ 7001 h 326506"/>
              <a:gd name="connsiteX17" fmla="*/ 121228 w 215140"/>
              <a:gd name="connsiteY17" fmla="*/ 0 h 326506"/>
              <a:gd name="connsiteX18" fmla="*/ 96556 w 215140"/>
              <a:gd name="connsiteY18" fmla="*/ 0 h 326506"/>
              <a:gd name="connsiteX19" fmla="*/ 89554 w 215140"/>
              <a:gd name="connsiteY19" fmla="*/ 7001 h 326506"/>
              <a:gd name="connsiteX20" fmla="*/ 89554 w 215140"/>
              <a:gd name="connsiteY20" fmla="*/ 32460 h 326506"/>
              <a:gd name="connsiteX21" fmla="*/ 83976 w 215140"/>
              <a:gd name="connsiteY21" fmla="*/ 38862 h 326506"/>
              <a:gd name="connsiteX22" fmla="*/ 51179 w 215140"/>
              <a:gd name="connsiteY22" fmla="*/ 48034 h 326506"/>
              <a:gd name="connsiteX23" fmla="*/ 6028 w 215140"/>
              <a:gd name="connsiteY23" fmla="*/ 109809 h 326506"/>
              <a:gd name="connsiteX24" fmla="*/ 18008 w 215140"/>
              <a:gd name="connsiteY24" fmla="*/ 145226 h 326506"/>
              <a:gd name="connsiteX25" fmla="*/ 84051 w 215140"/>
              <a:gd name="connsiteY25" fmla="*/ 179184 h 326506"/>
              <a:gd name="connsiteX26" fmla="*/ 89517 w 215140"/>
              <a:gd name="connsiteY26" fmla="*/ 185586 h 326506"/>
              <a:gd name="connsiteX27" fmla="*/ 89517 w 215140"/>
              <a:gd name="connsiteY27" fmla="*/ 243579 h 326506"/>
              <a:gd name="connsiteX28" fmla="*/ 86784 w 215140"/>
              <a:gd name="connsiteY28" fmla="*/ 248858 h 326506"/>
              <a:gd name="connsiteX29" fmla="*/ 80906 w 215140"/>
              <a:gd name="connsiteY29" fmla="*/ 249682 h 326506"/>
              <a:gd name="connsiteX30" fmla="*/ 38637 w 215140"/>
              <a:gd name="connsiteY30" fmla="*/ 220329 h 326506"/>
              <a:gd name="connsiteX31" fmla="*/ 38263 w 215140"/>
              <a:gd name="connsiteY31" fmla="*/ 219880 h 326506"/>
              <a:gd name="connsiteX32" fmla="*/ 32497 w 215140"/>
              <a:gd name="connsiteY32" fmla="*/ 217072 h 326506"/>
              <a:gd name="connsiteX33" fmla="*/ 28005 w 215140"/>
              <a:gd name="connsiteY33" fmla="*/ 218532 h 326506"/>
              <a:gd name="connsiteX34" fmla="*/ 3145 w 215140"/>
              <a:gd name="connsiteY34" fmla="*/ 233096 h 326506"/>
              <a:gd name="connsiteX35" fmla="*/ 0 w 215140"/>
              <a:gd name="connsiteY35" fmla="*/ 237289 h 326506"/>
              <a:gd name="connsiteX36" fmla="*/ 1310 w 215140"/>
              <a:gd name="connsiteY36" fmla="*/ 240247 h 326506"/>
              <a:gd name="connsiteX37" fmla="*/ 1760 w 215140"/>
              <a:gd name="connsiteY37" fmla="*/ 240808 h 326506"/>
              <a:gd name="connsiteX38" fmla="*/ 26769 w 215140"/>
              <a:gd name="connsiteY38" fmla="*/ 265706 h 326506"/>
              <a:gd name="connsiteX39" fmla="*/ 84088 w 215140"/>
              <a:gd name="connsiteY39" fmla="*/ 290228 h 326506"/>
              <a:gd name="connsiteX40" fmla="*/ 89554 w 215140"/>
              <a:gd name="connsiteY40" fmla="*/ 296630 h 326506"/>
              <a:gd name="connsiteX41" fmla="*/ 89554 w 215140"/>
              <a:gd name="connsiteY41" fmla="*/ 319543 h 326506"/>
              <a:gd name="connsiteX42" fmla="*/ 96556 w 215140"/>
              <a:gd name="connsiteY42" fmla="*/ 326507 h 326506"/>
              <a:gd name="connsiteX43" fmla="*/ 121228 w 215140"/>
              <a:gd name="connsiteY43" fmla="*/ 326507 h 326506"/>
              <a:gd name="connsiteX44" fmla="*/ 128229 w 215140"/>
              <a:gd name="connsiteY44" fmla="*/ 319543 h 326506"/>
              <a:gd name="connsiteX45" fmla="*/ 128229 w 215140"/>
              <a:gd name="connsiteY45" fmla="*/ 296593 h 326506"/>
              <a:gd name="connsiteX46" fmla="*/ 133733 w 215140"/>
              <a:gd name="connsiteY46" fmla="*/ 290191 h 326506"/>
              <a:gd name="connsiteX47" fmla="*/ 182703 w 215140"/>
              <a:gd name="connsiteY47" fmla="*/ 272482 h 326506"/>
              <a:gd name="connsiteX48" fmla="*/ 215125 w 215140"/>
              <a:gd name="connsiteY48" fmla="*/ 214863 h 326506"/>
              <a:gd name="connsiteX49" fmla="*/ 202696 w 215140"/>
              <a:gd name="connsiteY49" fmla="*/ 176600 h 326506"/>
              <a:gd name="connsiteX50" fmla="*/ 89554 w 215140"/>
              <a:gd name="connsiteY50" fmla="*/ 131149 h 326506"/>
              <a:gd name="connsiteX51" fmla="*/ 86747 w 215140"/>
              <a:gd name="connsiteY51" fmla="*/ 136466 h 326506"/>
              <a:gd name="connsiteX52" fmla="*/ 83078 w 215140"/>
              <a:gd name="connsiteY52" fmla="*/ 137589 h 326506"/>
              <a:gd name="connsiteX53" fmla="*/ 80756 w 215140"/>
              <a:gd name="connsiteY53" fmla="*/ 137140 h 326506"/>
              <a:gd name="connsiteX54" fmla="*/ 60315 w 215140"/>
              <a:gd name="connsiteY54" fmla="*/ 110108 h 326506"/>
              <a:gd name="connsiteX55" fmla="*/ 60315 w 215140"/>
              <a:gd name="connsiteY55" fmla="*/ 110108 h 326506"/>
              <a:gd name="connsiteX56" fmla="*/ 78360 w 215140"/>
              <a:gd name="connsiteY56" fmla="*/ 84837 h 326506"/>
              <a:gd name="connsiteX57" fmla="*/ 78809 w 215140"/>
              <a:gd name="connsiteY57" fmla="*/ 84650 h 326506"/>
              <a:gd name="connsiteX58" fmla="*/ 80719 w 215140"/>
              <a:gd name="connsiteY58" fmla="*/ 83901 h 326506"/>
              <a:gd name="connsiteX59" fmla="*/ 86709 w 215140"/>
              <a:gd name="connsiteY59" fmla="*/ 84575 h 326506"/>
              <a:gd name="connsiteX60" fmla="*/ 89517 w 215140"/>
              <a:gd name="connsiteY60" fmla="*/ 89929 h 326506"/>
              <a:gd name="connsiteX61" fmla="*/ 89517 w 215140"/>
              <a:gd name="connsiteY61" fmla="*/ 131112 h 326506"/>
              <a:gd name="connsiteX62" fmla="*/ 143504 w 215140"/>
              <a:gd name="connsiteY62" fmla="*/ 245451 h 326506"/>
              <a:gd name="connsiteX63" fmla="*/ 137402 w 215140"/>
              <a:gd name="connsiteY63" fmla="*/ 248633 h 326506"/>
              <a:gd name="connsiteX64" fmla="*/ 134706 w 215140"/>
              <a:gd name="connsiteY64" fmla="*/ 249232 h 326506"/>
              <a:gd name="connsiteX65" fmla="*/ 131224 w 215140"/>
              <a:gd name="connsiteY65" fmla="*/ 248222 h 326506"/>
              <a:gd name="connsiteX66" fmla="*/ 128267 w 215140"/>
              <a:gd name="connsiteY66" fmla="*/ 242793 h 326506"/>
              <a:gd name="connsiteX67" fmla="*/ 128267 w 215140"/>
              <a:gd name="connsiteY67" fmla="*/ 191913 h 326506"/>
              <a:gd name="connsiteX68" fmla="*/ 130925 w 215140"/>
              <a:gd name="connsiteY68" fmla="*/ 186709 h 326506"/>
              <a:gd name="connsiteX69" fmla="*/ 136690 w 215140"/>
              <a:gd name="connsiteY69" fmla="*/ 185773 h 326506"/>
              <a:gd name="connsiteX70" fmla="*/ 161176 w 215140"/>
              <a:gd name="connsiteY70" fmla="*/ 215387 h 326506"/>
              <a:gd name="connsiteX71" fmla="*/ 143504 w 215140"/>
              <a:gd name="connsiteY71" fmla="*/ 245563 h 326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215140" h="326506">
                <a:moveTo>
                  <a:pt x="202733" y="176675"/>
                </a:moveTo>
                <a:cubicBezTo>
                  <a:pt x="188282" y="159453"/>
                  <a:pt x="165069" y="148446"/>
                  <a:pt x="133808" y="144066"/>
                </a:cubicBezTo>
                <a:cubicBezTo>
                  <a:pt x="130625" y="143617"/>
                  <a:pt x="128229" y="140884"/>
                  <a:pt x="128229" y="137664"/>
                </a:cubicBezTo>
                <a:lnTo>
                  <a:pt x="128229" y="91202"/>
                </a:lnTo>
                <a:cubicBezTo>
                  <a:pt x="128229" y="88993"/>
                  <a:pt x="129352" y="86934"/>
                  <a:pt x="131224" y="85736"/>
                </a:cubicBezTo>
                <a:cubicBezTo>
                  <a:pt x="133096" y="84537"/>
                  <a:pt x="135455" y="84388"/>
                  <a:pt x="137439" y="85361"/>
                </a:cubicBezTo>
                <a:cubicBezTo>
                  <a:pt x="143879" y="88394"/>
                  <a:pt x="150019" y="92437"/>
                  <a:pt x="155747" y="97417"/>
                </a:cubicBezTo>
                <a:cubicBezTo>
                  <a:pt x="157806" y="99101"/>
                  <a:pt x="160240" y="100000"/>
                  <a:pt x="163085" y="100000"/>
                </a:cubicBezTo>
                <a:lnTo>
                  <a:pt x="163085" y="100000"/>
                </a:lnTo>
                <a:cubicBezTo>
                  <a:pt x="164283" y="100000"/>
                  <a:pt x="166941" y="99026"/>
                  <a:pt x="168401" y="98315"/>
                </a:cubicBezTo>
                <a:lnTo>
                  <a:pt x="195732" y="81168"/>
                </a:lnTo>
                <a:cubicBezTo>
                  <a:pt x="198428" y="79446"/>
                  <a:pt x="198465" y="78061"/>
                  <a:pt x="198465" y="77387"/>
                </a:cubicBezTo>
                <a:cubicBezTo>
                  <a:pt x="198465" y="76638"/>
                  <a:pt x="198315" y="75702"/>
                  <a:pt x="196967" y="74466"/>
                </a:cubicBezTo>
                <a:cubicBezTo>
                  <a:pt x="196780" y="74317"/>
                  <a:pt x="196630" y="74129"/>
                  <a:pt x="196481" y="73942"/>
                </a:cubicBezTo>
                <a:cubicBezTo>
                  <a:pt x="180307" y="55560"/>
                  <a:pt x="159154" y="43991"/>
                  <a:pt x="133583" y="39536"/>
                </a:cubicBezTo>
                <a:cubicBezTo>
                  <a:pt x="130475" y="39012"/>
                  <a:pt x="128229" y="36316"/>
                  <a:pt x="128229" y="33171"/>
                </a:cubicBezTo>
                <a:lnTo>
                  <a:pt x="128229" y="7001"/>
                </a:lnTo>
                <a:cubicBezTo>
                  <a:pt x="128229" y="3145"/>
                  <a:pt x="125084" y="0"/>
                  <a:pt x="121228" y="0"/>
                </a:cubicBezTo>
                <a:lnTo>
                  <a:pt x="96556" y="0"/>
                </a:lnTo>
                <a:cubicBezTo>
                  <a:pt x="92699" y="0"/>
                  <a:pt x="89554" y="3145"/>
                  <a:pt x="89554" y="7001"/>
                </a:cubicBezTo>
                <a:lnTo>
                  <a:pt x="89554" y="32460"/>
                </a:lnTo>
                <a:cubicBezTo>
                  <a:pt x="89554" y="35679"/>
                  <a:pt x="87158" y="38412"/>
                  <a:pt x="83976" y="38862"/>
                </a:cubicBezTo>
                <a:cubicBezTo>
                  <a:pt x="71883" y="40546"/>
                  <a:pt x="60839" y="43616"/>
                  <a:pt x="51179" y="48034"/>
                </a:cubicBezTo>
                <a:cubicBezTo>
                  <a:pt x="20292" y="62111"/>
                  <a:pt x="5504" y="82291"/>
                  <a:pt x="6028" y="109809"/>
                </a:cubicBezTo>
                <a:cubicBezTo>
                  <a:pt x="6252" y="123287"/>
                  <a:pt x="10183" y="134893"/>
                  <a:pt x="18008" y="145226"/>
                </a:cubicBezTo>
                <a:cubicBezTo>
                  <a:pt x="31337" y="163085"/>
                  <a:pt x="53538" y="174504"/>
                  <a:pt x="84051" y="179184"/>
                </a:cubicBezTo>
                <a:cubicBezTo>
                  <a:pt x="87196" y="179671"/>
                  <a:pt x="89517" y="182366"/>
                  <a:pt x="89517" y="185586"/>
                </a:cubicBezTo>
                <a:lnTo>
                  <a:pt x="89517" y="243579"/>
                </a:lnTo>
                <a:cubicBezTo>
                  <a:pt x="89517" y="245676"/>
                  <a:pt x="88506" y="247660"/>
                  <a:pt x="86784" y="248858"/>
                </a:cubicBezTo>
                <a:cubicBezTo>
                  <a:pt x="85062" y="250056"/>
                  <a:pt x="82890" y="250356"/>
                  <a:pt x="80906" y="249682"/>
                </a:cubicBezTo>
                <a:cubicBezTo>
                  <a:pt x="65930" y="244403"/>
                  <a:pt x="51741" y="234519"/>
                  <a:pt x="38637" y="220329"/>
                </a:cubicBezTo>
                <a:cubicBezTo>
                  <a:pt x="38487" y="220180"/>
                  <a:pt x="38375" y="220030"/>
                  <a:pt x="38263" y="219880"/>
                </a:cubicBezTo>
                <a:cubicBezTo>
                  <a:pt x="36765" y="217933"/>
                  <a:pt x="35043" y="217072"/>
                  <a:pt x="32497" y="217072"/>
                </a:cubicBezTo>
                <a:cubicBezTo>
                  <a:pt x="31786" y="217147"/>
                  <a:pt x="29540" y="217896"/>
                  <a:pt x="28005" y="218532"/>
                </a:cubicBezTo>
                <a:lnTo>
                  <a:pt x="3145" y="233096"/>
                </a:lnTo>
                <a:cubicBezTo>
                  <a:pt x="-37" y="234931"/>
                  <a:pt x="0" y="236466"/>
                  <a:pt x="0" y="237289"/>
                </a:cubicBezTo>
                <a:cubicBezTo>
                  <a:pt x="0" y="238038"/>
                  <a:pt x="187" y="238974"/>
                  <a:pt x="1310" y="240247"/>
                </a:cubicBezTo>
                <a:cubicBezTo>
                  <a:pt x="1460" y="240434"/>
                  <a:pt x="1610" y="240621"/>
                  <a:pt x="1760" y="240808"/>
                </a:cubicBezTo>
                <a:cubicBezTo>
                  <a:pt x="7900" y="249382"/>
                  <a:pt x="16323" y="257769"/>
                  <a:pt x="26769" y="265706"/>
                </a:cubicBezTo>
                <a:cubicBezTo>
                  <a:pt x="43542" y="278622"/>
                  <a:pt x="62823" y="286859"/>
                  <a:pt x="84088" y="290228"/>
                </a:cubicBezTo>
                <a:cubicBezTo>
                  <a:pt x="87233" y="290715"/>
                  <a:pt x="89554" y="293448"/>
                  <a:pt x="89554" y="296630"/>
                </a:cubicBezTo>
                <a:lnTo>
                  <a:pt x="89554" y="319543"/>
                </a:lnTo>
                <a:cubicBezTo>
                  <a:pt x="89554" y="323400"/>
                  <a:pt x="92699" y="326507"/>
                  <a:pt x="96556" y="326507"/>
                </a:cubicBezTo>
                <a:lnTo>
                  <a:pt x="121228" y="326507"/>
                </a:lnTo>
                <a:cubicBezTo>
                  <a:pt x="125084" y="326507"/>
                  <a:pt x="128229" y="323362"/>
                  <a:pt x="128229" y="319543"/>
                </a:cubicBezTo>
                <a:lnTo>
                  <a:pt x="128229" y="296593"/>
                </a:lnTo>
                <a:cubicBezTo>
                  <a:pt x="128229" y="293373"/>
                  <a:pt x="130588" y="290677"/>
                  <a:pt x="133733" y="290191"/>
                </a:cubicBezTo>
                <a:cubicBezTo>
                  <a:pt x="152565" y="287383"/>
                  <a:pt x="169038" y="281430"/>
                  <a:pt x="182703" y="272482"/>
                </a:cubicBezTo>
                <a:cubicBezTo>
                  <a:pt x="204043" y="258367"/>
                  <a:pt x="214639" y="239536"/>
                  <a:pt x="215125" y="214863"/>
                </a:cubicBezTo>
                <a:cubicBezTo>
                  <a:pt x="215425" y="199588"/>
                  <a:pt x="211381" y="187083"/>
                  <a:pt x="202696" y="176600"/>
                </a:cubicBezTo>
                <a:close/>
                <a:moveTo>
                  <a:pt x="89554" y="131149"/>
                </a:moveTo>
                <a:cubicBezTo>
                  <a:pt x="89554" y="133283"/>
                  <a:pt x="88506" y="135268"/>
                  <a:pt x="86747" y="136466"/>
                </a:cubicBezTo>
                <a:cubicBezTo>
                  <a:pt x="85661" y="137214"/>
                  <a:pt x="84388" y="137589"/>
                  <a:pt x="83078" y="137589"/>
                </a:cubicBezTo>
                <a:cubicBezTo>
                  <a:pt x="82291" y="137589"/>
                  <a:pt x="81505" y="137439"/>
                  <a:pt x="80756" y="137140"/>
                </a:cubicBezTo>
                <a:cubicBezTo>
                  <a:pt x="64021" y="130700"/>
                  <a:pt x="60427" y="118869"/>
                  <a:pt x="60315" y="110108"/>
                </a:cubicBezTo>
                <a:lnTo>
                  <a:pt x="60315" y="110108"/>
                </a:lnTo>
                <a:cubicBezTo>
                  <a:pt x="60277" y="102508"/>
                  <a:pt x="63385" y="91988"/>
                  <a:pt x="78360" y="84837"/>
                </a:cubicBezTo>
                <a:cubicBezTo>
                  <a:pt x="78510" y="84762"/>
                  <a:pt x="78660" y="84687"/>
                  <a:pt x="78809" y="84650"/>
                </a:cubicBezTo>
                <a:lnTo>
                  <a:pt x="80719" y="83901"/>
                </a:lnTo>
                <a:cubicBezTo>
                  <a:pt x="82703" y="83115"/>
                  <a:pt x="84949" y="83377"/>
                  <a:pt x="86709" y="84575"/>
                </a:cubicBezTo>
                <a:cubicBezTo>
                  <a:pt x="88469" y="85773"/>
                  <a:pt x="89517" y="87795"/>
                  <a:pt x="89517" y="89929"/>
                </a:cubicBezTo>
                <a:lnTo>
                  <a:pt x="89517" y="131112"/>
                </a:lnTo>
                <a:close/>
                <a:moveTo>
                  <a:pt x="143504" y="245451"/>
                </a:moveTo>
                <a:cubicBezTo>
                  <a:pt x="141483" y="246724"/>
                  <a:pt x="139274" y="247772"/>
                  <a:pt x="137402" y="248633"/>
                </a:cubicBezTo>
                <a:cubicBezTo>
                  <a:pt x="136541" y="249045"/>
                  <a:pt x="135642" y="249232"/>
                  <a:pt x="134706" y="249232"/>
                </a:cubicBezTo>
                <a:cubicBezTo>
                  <a:pt x="133471" y="249232"/>
                  <a:pt x="132273" y="248895"/>
                  <a:pt x="131224" y="248222"/>
                </a:cubicBezTo>
                <a:cubicBezTo>
                  <a:pt x="129352" y="247024"/>
                  <a:pt x="128267" y="244964"/>
                  <a:pt x="128267" y="242793"/>
                </a:cubicBezTo>
                <a:lnTo>
                  <a:pt x="128267" y="191913"/>
                </a:lnTo>
                <a:cubicBezTo>
                  <a:pt x="128267" y="189854"/>
                  <a:pt x="129240" y="187907"/>
                  <a:pt x="130925" y="186709"/>
                </a:cubicBezTo>
                <a:cubicBezTo>
                  <a:pt x="132572" y="185474"/>
                  <a:pt x="134744" y="185136"/>
                  <a:pt x="136690" y="185773"/>
                </a:cubicBezTo>
                <a:cubicBezTo>
                  <a:pt x="157057" y="192213"/>
                  <a:pt x="161250" y="205429"/>
                  <a:pt x="161176" y="215387"/>
                </a:cubicBezTo>
                <a:cubicBezTo>
                  <a:pt x="161063" y="228154"/>
                  <a:pt x="154961" y="238562"/>
                  <a:pt x="143504" y="245563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8658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B7831-0169-C76A-675B-2AC469088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Logotipo&#10;&#10;Descrição gerada automaticamente">
            <a:extLst>
              <a:ext uri="{FF2B5EF4-FFF2-40B4-BE49-F238E27FC236}">
                <a16:creationId xmlns:a16="http://schemas.microsoft.com/office/drawing/2014/main" id="{09A05630-CA6E-7A7A-5D20-C7F02E724B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8615" y="0"/>
            <a:ext cx="1123385" cy="1123385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5AD47FFD-84D3-567A-8CDD-27FED0E5036C}"/>
              </a:ext>
            </a:extLst>
          </p:cNvPr>
          <p:cNvSpPr txBox="1"/>
          <p:nvPr/>
        </p:nvSpPr>
        <p:spPr>
          <a:xfrm>
            <a:off x="403153" y="238526"/>
            <a:ext cx="107926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pt-BR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>
              <a:defRPr sz="3600" b="1">
                <a:solidFill>
                  <a:srgbClr val="04B0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atin typeface="+mn-lt"/>
              </a:rPr>
              <a:t>Compartilhamento de dados de consumo de água</a:t>
            </a:r>
          </a:p>
        </p:txBody>
      </p:sp>
      <p:sp>
        <p:nvSpPr>
          <p:cNvPr id="40" name="Text 4">
            <a:extLst>
              <a:ext uri="{FF2B5EF4-FFF2-40B4-BE49-F238E27FC236}">
                <a16:creationId xmlns:a16="http://schemas.microsoft.com/office/drawing/2014/main" id="{9A6B9BAD-A931-53F9-EE2A-91DA1C1F3216}"/>
              </a:ext>
            </a:extLst>
          </p:cNvPr>
          <p:cNvSpPr/>
          <p:nvPr/>
        </p:nvSpPr>
        <p:spPr>
          <a:xfrm>
            <a:off x="1008021" y="1090940"/>
            <a:ext cx="6369572" cy="686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35051">
              <a:lnSpc>
                <a:spcPct val="110000"/>
              </a:lnSpc>
            </a:pPr>
            <a:endParaRPr lang="pt-BR" sz="1945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0" name="Text 10">
            <a:extLst>
              <a:ext uri="{FF2B5EF4-FFF2-40B4-BE49-F238E27FC236}">
                <a16:creationId xmlns:a16="http://schemas.microsoft.com/office/drawing/2014/main" id="{CBEE0B5C-4822-5FA9-E11B-0D055FE3B9CE}"/>
              </a:ext>
            </a:extLst>
          </p:cNvPr>
          <p:cNvSpPr/>
          <p:nvPr/>
        </p:nvSpPr>
        <p:spPr>
          <a:xfrm>
            <a:off x="796529" y="1206161"/>
            <a:ext cx="10272086" cy="698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38144" indent="-238144" algn="just">
              <a:buFont typeface="Arial" panose="020B0604020202020204" pitchFamily="34" charset="0"/>
              <a:buChar char="•"/>
            </a:pPr>
            <a:r>
              <a:rPr lang="pt-BR" sz="1600" noProof="0" dirty="0">
                <a:solidFill>
                  <a:srgbClr val="444444"/>
                </a:solidFill>
              </a:rPr>
              <a:t>Os itens 2.2.1 e 2.2.1.1 Anexo 4 do Contrato indicam que o Poder Concedente será o responsável pela obtenção dos dados necessários à cobrança da Tarifa de RSD, e que esses dados serão adquiridos </a:t>
            </a:r>
            <a:r>
              <a:rPr lang="pt-BR" sz="1600" b="1" u="sng" noProof="0" dirty="0">
                <a:solidFill>
                  <a:srgbClr val="444444"/>
                </a:solidFill>
              </a:rPr>
              <a:t>anualmente</a:t>
            </a:r>
            <a:r>
              <a:rPr lang="pt-BR" sz="1600" noProof="0" dirty="0">
                <a:solidFill>
                  <a:srgbClr val="444444"/>
                </a:solidFill>
              </a:rPr>
              <a:t> dos Municípios e/ou da agência reguladora. Além disso, o item 2.5 </a:t>
            </a:r>
            <a:r>
              <a:rPr lang="pt-BR" sz="1600" b="1" noProof="0" dirty="0">
                <a:solidFill>
                  <a:srgbClr val="444444"/>
                </a:solidFill>
              </a:rPr>
              <a:t>autoriza o </a:t>
            </a:r>
            <a:r>
              <a:rPr lang="pt-BR" sz="1600" b="1" u="sng" noProof="0" dirty="0">
                <a:solidFill>
                  <a:srgbClr val="444444"/>
                </a:solidFill>
              </a:rPr>
              <a:t>cofaturamento </a:t>
            </a:r>
            <a:r>
              <a:rPr lang="pt-BR" sz="1600" b="1" noProof="0" dirty="0">
                <a:solidFill>
                  <a:srgbClr val="444444"/>
                </a:solidFill>
              </a:rPr>
              <a:t>desde que por conta e risco da Concessionária</a:t>
            </a:r>
            <a:r>
              <a:rPr lang="pt-BR" sz="1600" noProof="0" dirty="0">
                <a:solidFill>
                  <a:srgbClr val="444444"/>
                </a:solidFill>
              </a:rPr>
              <a:t>.</a:t>
            </a:r>
          </a:p>
        </p:txBody>
      </p:sp>
      <p:sp>
        <p:nvSpPr>
          <p:cNvPr id="57" name="Text 4">
            <a:extLst>
              <a:ext uri="{FF2B5EF4-FFF2-40B4-BE49-F238E27FC236}">
                <a16:creationId xmlns:a16="http://schemas.microsoft.com/office/drawing/2014/main" id="{E92F2DEE-6BB6-4E0E-235F-2F692B453A52}"/>
              </a:ext>
            </a:extLst>
          </p:cNvPr>
          <p:cNvSpPr/>
          <p:nvPr/>
        </p:nvSpPr>
        <p:spPr>
          <a:xfrm>
            <a:off x="1070559" y="5970850"/>
            <a:ext cx="6086143" cy="686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35051">
              <a:lnSpc>
                <a:spcPct val="110000"/>
              </a:lnSpc>
            </a:pPr>
            <a:endParaRPr lang="pt-BR" sz="1945" noProof="0" dirty="0">
              <a:latin typeface="+mj-lt"/>
            </a:endParaRPr>
          </a:p>
        </p:txBody>
      </p:sp>
      <p:sp>
        <p:nvSpPr>
          <p:cNvPr id="58" name="Google Shape;211;p10">
            <a:extLst>
              <a:ext uri="{FF2B5EF4-FFF2-40B4-BE49-F238E27FC236}">
                <a16:creationId xmlns:a16="http://schemas.microsoft.com/office/drawing/2014/main" id="{BC8A8A90-F1B6-B927-4FF1-9BB43DC96314}"/>
              </a:ext>
            </a:extLst>
          </p:cNvPr>
          <p:cNvSpPr/>
          <p:nvPr/>
        </p:nvSpPr>
        <p:spPr>
          <a:xfrm>
            <a:off x="670880" y="2559056"/>
            <a:ext cx="10855534" cy="2301967"/>
          </a:xfrm>
          <a:custGeom>
            <a:avLst/>
            <a:gdLst/>
            <a:ahLst/>
            <a:cxnLst/>
            <a:rect l="l" t="t" r="r" b="b"/>
            <a:pathLst>
              <a:path w="11458384" h="3537077" extrusionOk="0">
                <a:moveTo>
                  <a:pt x="69868" y="0"/>
                </a:moveTo>
                <a:lnTo>
                  <a:pt x="11318634" y="0"/>
                </a:lnTo>
                <a:cubicBezTo>
                  <a:pt x="11395816" y="0"/>
                  <a:pt x="11458384" y="62568"/>
                  <a:pt x="11458384" y="139750"/>
                </a:cubicBezTo>
                <a:lnTo>
                  <a:pt x="11458384" y="3397327"/>
                </a:lnTo>
                <a:cubicBezTo>
                  <a:pt x="11458384" y="3474509"/>
                  <a:pt x="11395816" y="3537077"/>
                  <a:pt x="11318634" y="3537077"/>
                </a:cubicBezTo>
                <a:lnTo>
                  <a:pt x="69868" y="3537077"/>
                </a:lnTo>
                <a:cubicBezTo>
                  <a:pt x="31281" y="3537077"/>
                  <a:pt x="0" y="3505796"/>
                  <a:pt x="0" y="3467209"/>
                </a:cubicBezTo>
                <a:lnTo>
                  <a:pt x="0" y="69868"/>
                </a:lnTo>
                <a:cubicBezTo>
                  <a:pt x="0" y="31307"/>
                  <a:pt x="31307" y="0"/>
                  <a:pt x="69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31003" dist="87335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63496" tIns="63496" rIns="63496" bIns="63496" anchor="ctr" anchorCtr="0">
            <a:noAutofit/>
          </a:bodyPr>
          <a:lstStyle/>
          <a:p>
            <a:endParaRPr lang="pt-BR" sz="1250" noProof="0" dirty="0"/>
          </a:p>
        </p:txBody>
      </p:sp>
      <p:sp>
        <p:nvSpPr>
          <p:cNvPr id="59" name="Google Shape;212;p10">
            <a:extLst>
              <a:ext uri="{FF2B5EF4-FFF2-40B4-BE49-F238E27FC236}">
                <a16:creationId xmlns:a16="http://schemas.microsoft.com/office/drawing/2014/main" id="{216B82B0-76E5-E4DA-18D2-BC5988B0994D}"/>
              </a:ext>
            </a:extLst>
          </p:cNvPr>
          <p:cNvSpPr/>
          <p:nvPr/>
        </p:nvSpPr>
        <p:spPr>
          <a:xfrm>
            <a:off x="665586" y="2609130"/>
            <a:ext cx="45719" cy="2301967"/>
          </a:xfrm>
          <a:custGeom>
            <a:avLst/>
            <a:gdLst/>
            <a:ahLst/>
            <a:cxnLst/>
            <a:rect l="l" t="t" r="r" b="b"/>
            <a:pathLst>
              <a:path w="69868" h="3537077" extrusionOk="0">
                <a:moveTo>
                  <a:pt x="69868" y="0"/>
                </a:moveTo>
                <a:lnTo>
                  <a:pt x="69868" y="0"/>
                </a:lnTo>
                <a:lnTo>
                  <a:pt x="69868" y="3537077"/>
                </a:lnTo>
                <a:lnTo>
                  <a:pt x="69868" y="3537077"/>
                </a:lnTo>
                <a:cubicBezTo>
                  <a:pt x="31281" y="3537077"/>
                  <a:pt x="0" y="3505796"/>
                  <a:pt x="0" y="3467209"/>
                </a:cubicBezTo>
                <a:lnTo>
                  <a:pt x="0" y="69868"/>
                </a:lnTo>
                <a:cubicBezTo>
                  <a:pt x="0" y="31307"/>
                  <a:pt x="31307" y="0"/>
                  <a:pt x="69868" y="0"/>
                </a:cubicBezTo>
                <a:close/>
              </a:path>
            </a:pathLst>
          </a:custGeom>
          <a:solidFill>
            <a:srgbClr val="00B2FF"/>
          </a:solidFill>
          <a:ln>
            <a:noFill/>
          </a:ln>
        </p:spPr>
        <p:txBody>
          <a:bodyPr spcFirstLastPara="1" wrap="square" lIns="63496" tIns="63496" rIns="63496" bIns="63496" anchor="ctr" anchorCtr="0">
            <a:noAutofit/>
          </a:bodyPr>
          <a:lstStyle/>
          <a:p>
            <a:endParaRPr lang="pt-BR" sz="1250" noProof="0" dirty="0"/>
          </a:p>
        </p:txBody>
      </p:sp>
      <p:sp>
        <p:nvSpPr>
          <p:cNvPr id="60" name="Google Shape;213;p10">
            <a:extLst>
              <a:ext uri="{FF2B5EF4-FFF2-40B4-BE49-F238E27FC236}">
                <a16:creationId xmlns:a16="http://schemas.microsoft.com/office/drawing/2014/main" id="{112E9856-015F-7DBA-5625-58316E1E005D}"/>
              </a:ext>
            </a:extLst>
          </p:cNvPr>
          <p:cNvSpPr/>
          <p:nvPr/>
        </p:nvSpPr>
        <p:spPr>
          <a:xfrm>
            <a:off x="894500" y="2377550"/>
            <a:ext cx="4332789" cy="376137"/>
          </a:xfrm>
          <a:custGeom>
            <a:avLst/>
            <a:gdLst/>
            <a:ahLst/>
            <a:cxnLst/>
            <a:rect l="l" t="t" r="r" b="b"/>
            <a:pathLst>
              <a:path w="2113513" h="454143" extrusionOk="0">
                <a:moveTo>
                  <a:pt x="69870" y="0"/>
                </a:moveTo>
                <a:lnTo>
                  <a:pt x="2043643" y="0"/>
                </a:lnTo>
                <a:cubicBezTo>
                  <a:pt x="2082231" y="0"/>
                  <a:pt x="2113513" y="31282"/>
                  <a:pt x="2113513" y="69870"/>
                </a:cubicBezTo>
                <a:lnTo>
                  <a:pt x="2113513" y="384273"/>
                </a:lnTo>
                <a:cubicBezTo>
                  <a:pt x="2113513" y="422861"/>
                  <a:pt x="2082231" y="454143"/>
                  <a:pt x="2043643" y="454143"/>
                </a:cubicBezTo>
                <a:lnTo>
                  <a:pt x="69870" y="454143"/>
                </a:lnTo>
                <a:cubicBezTo>
                  <a:pt x="31308" y="454143"/>
                  <a:pt x="0" y="422836"/>
                  <a:pt x="0" y="384273"/>
                </a:cubicBezTo>
                <a:lnTo>
                  <a:pt x="0" y="69870"/>
                </a:lnTo>
                <a:cubicBezTo>
                  <a:pt x="0" y="31308"/>
                  <a:pt x="31308" y="0"/>
                  <a:pt x="69870" y="0"/>
                </a:cubicBezTo>
                <a:close/>
              </a:path>
            </a:pathLst>
          </a:custGeom>
          <a:solidFill>
            <a:srgbClr val="00B2FF"/>
          </a:solidFill>
          <a:ln>
            <a:noFill/>
          </a:ln>
        </p:spPr>
        <p:txBody>
          <a:bodyPr spcFirstLastPara="1" wrap="square" lIns="63496" tIns="63496" rIns="63496" bIns="63496" anchor="ctr" anchorCtr="0">
            <a:noAutofit/>
          </a:bodyPr>
          <a:lstStyle/>
          <a:p>
            <a:endParaRPr lang="pt-BR" sz="1250" noProof="0" dirty="0"/>
          </a:p>
        </p:txBody>
      </p:sp>
      <p:sp>
        <p:nvSpPr>
          <p:cNvPr id="61" name="Google Shape;214;p10">
            <a:extLst>
              <a:ext uri="{FF2B5EF4-FFF2-40B4-BE49-F238E27FC236}">
                <a16:creationId xmlns:a16="http://schemas.microsoft.com/office/drawing/2014/main" id="{A7171740-127A-F1EA-1F09-44320D7F3CA5}"/>
              </a:ext>
            </a:extLst>
          </p:cNvPr>
          <p:cNvSpPr/>
          <p:nvPr/>
        </p:nvSpPr>
        <p:spPr>
          <a:xfrm>
            <a:off x="866532" y="2418329"/>
            <a:ext cx="4477716" cy="302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5571" tIns="72786" rIns="145571" bIns="72786" anchor="ctr" anchorCtr="0">
            <a:noAutofit/>
          </a:bodyPr>
          <a:lstStyle/>
          <a:p>
            <a:pPr lvl="0" algn="ctr">
              <a:lnSpc>
                <a:spcPct val="130000"/>
              </a:lnSpc>
            </a:pPr>
            <a:r>
              <a:rPr lang="pt-BR" sz="1500" b="1" noProof="0" dirty="0">
                <a:solidFill>
                  <a:schemeClr val="bg1"/>
                </a:solidFill>
                <a:cs typeface="Segoe UI" panose="020B0502040204020203" pitchFamily="34" charset="0"/>
              </a:rPr>
              <a:t>Anexo 4 do Contrato – itens 2.2.1 e 2.2.1.1</a:t>
            </a:r>
          </a:p>
        </p:txBody>
      </p:sp>
      <p:sp>
        <p:nvSpPr>
          <p:cNvPr id="62" name="Google Shape;216;p10">
            <a:extLst>
              <a:ext uri="{FF2B5EF4-FFF2-40B4-BE49-F238E27FC236}">
                <a16:creationId xmlns:a16="http://schemas.microsoft.com/office/drawing/2014/main" id="{2C8FECB6-14F3-00DC-C6D8-120CFB9E14C1}"/>
              </a:ext>
            </a:extLst>
          </p:cNvPr>
          <p:cNvSpPr/>
          <p:nvPr/>
        </p:nvSpPr>
        <p:spPr>
          <a:xfrm>
            <a:off x="894500" y="2990393"/>
            <a:ext cx="510022" cy="582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80000"/>
              </a:lnSpc>
            </a:pPr>
            <a:r>
              <a:rPr lang="pt-BR" sz="4585" noProof="0" dirty="0">
                <a:solidFill>
                  <a:srgbClr val="00B2FF"/>
                </a:solidFill>
                <a:latin typeface="Noto Sans SC"/>
                <a:ea typeface="Noto Sans SC"/>
                <a:cs typeface="Noto Sans SC"/>
                <a:sym typeface="Noto Sans SC"/>
              </a:rPr>
              <a:t>"</a:t>
            </a:r>
            <a:endParaRPr lang="pt-BR" sz="1111" noProof="0" dirty="0">
              <a:solidFill>
                <a:srgbClr val="00B2FF"/>
              </a:solidFill>
            </a:endParaRPr>
          </a:p>
        </p:txBody>
      </p:sp>
      <p:sp>
        <p:nvSpPr>
          <p:cNvPr id="63" name="Google Shape;217;p10">
            <a:extLst>
              <a:ext uri="{FF2B5EF4-FFF2-40B4-BE49-F238E27FC236}">
                <a16:creationId xmlns:a16="http://schemas.microsoft.com/office/drawing/2014/main" id="{9F174096-CA86-2C83-3F74-7F6FF56FACBE}"/>
              </a:ext>
            </a:extLst>
          </p:cNvPr>
          <p:cNvSpPr/>
          <p:nvPr/>
        </p:nvSpPr>
        <p:spPr>
          <a:xfrm>
            <a:off x="1233608" y="2810517"/>
            <a:ext cx="10010051" cy="1860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just"/>
            <a:r>
              <a:rPr lang="pt-BR" sz="1500" dirty="0">
                <a:solidFill>
                  <a:srgbClr val="444444"/>
                </a:solidFill>
                <a:latin typeface="+mj-lt"/>
                <a:cs typeface="Segoe UI" panose="020B0502040204020203" pitchFamily="34" charset="0"/>
              </a:rPr>
              <a:t>2.2.1 </a:t>
            </a:r>
            <a:r>
              <a:rPr lang="pt-BR" sz="1500" b="1" dirty="0">
                <a:solidFill>
                  <a:srgbClr val="444444"/>
                </a:solidFill>
                <a:latin typeface="+mj-lt"/>
                <a:cs typeface="Segoe UI" panose="020B0502040204020203" pitchFamily="34" charset="0"/>
              </a:rPr>
              <a:t>O PODER CONCEDENTE assegurará à CONCESSIONÁRIA</a:t>
            </a:r>
            <a:r>
              <a:rPr lang="pt-BR" sz="1500" dirty="0">
                <a:solidFill>
                  <a:srgbClr val="444444"/>
                </a:solidFill>
                <a:latin typeface="+mj-lt"/>
                <a:cs typeface="Segoe UI" panose="020B0502040204020203" pitchFamily="34" charset="0"/>
              </a:rPr>
              <a:t>, durante todo o PRAZO DO CONTRATO, </a:t>
            </a:r>
            <a:r>
              <a:rPr lang="pt-BR" sz="1500" b="1" dirty="0">
                <a:solidFill>
                  <a:srgbClr val="444444"/>
                </a:solidFill>
                <a:latin typeface="+mj-lt"/>
                <a:cs typeface="Segoe UI" panose="020B0502040204020203" pitchFamily="34" charset="0"/>
              </a:rPr>
              <a:t>o acesso à base cadastral de USUÁRIOS e aos dados de consumo de água </a:t>
            </a:r>
            <a:r>
              <a:rPr lang="pt-BR" sz="1500" dirty="0">
                <a:solidFill>
                  <a:srgbClr val="444444"/>
                </a:solidFill>
                <a:latin typeface="+mj-lt"/>
                <a:cs typeface="Segoe UI" panose="020B0502040204020203" pitchFamily="34" charset="0"/>
              </a:rPr>
              <a:t>fornecidos pela prestadora do serviço público de abastecimento de água potável atuante na área de abrangência da CONCESSÃO, em conformidade com a legislação vigente.</a:t>
            </a:r>
          </a:p>
          <a:p>
            <a:pPr algn="just"/>
            <a:r>
              <a:rPr lang="pt-BR" sz="1500" dirty="0">
                <a:solidFill>
                  <a:srgbClr val="444444"/>
                </a:solidFill>
                <a:latin typeface="+mj-lt"/>
                <a:cs typeface="Segoe UI" panose="020B0502040204020203" pitchFamily="34" charset="0"/>
              </a:rPr>
              <a:t>2.2.1.1 </a:t>
            </a:r>
            <a:r>
              <a:rPr lang="pt-BR" sz="1500" b="1" dirty="0">
                <a:solidFill>
                  <a:srgbClr val="444444"/>
                </a:solidFill>
                <a:latin typeface="+mj-lt"/>
                <a:cs typeface="Segoe UI" panose="020B0502040204020203" pitchFamily="34" charset="0"/>
              </a:rPr>
              <a:t>O PODER CONCEDENTE deverá obter, </a:t>
            </a:r>
            <a:r>
              <a:rPr lang="pt-BR" sz="1500" b="1" u="sng" dirty="0">
                <a:solidFill>
                  <a:srgbClr val="444444"/>
                </a:solidFill>
                <a:latin typeface="+mj-lt"/>
                <a:cs typeface="Segoe UI" panose="020B0502040204020203" pitchFamily="34" charset="0"/>
              </a:rPr>
              <a:t>anualmente</a:t>
            </a:r>
            <a:r>
              <a:rPr lang="pt-BR" sz="1500" b="1" dirty="0">
                <a:solidFill>
                  <a:srgbClr val="444444"/>
                </a:solidFill>
                <a:latin typeface="+mj-lt"/>
                <a:cs typeface="Segoe UI" panose="020B0502040204020203" pitchFamily="34" charset="0"/>
              </a:rPr>
              <a:t>, dos MUNICÍPIOS e/ou da agência reguladora do serviço de abastecimento de água potável</a:t>
            </a:r>
            <a:r>
              <a:rPr lang="pt-BR" sz="1500" dirty="0">
                <a:solidFill>
                  <a:srgbClr val="444444"/>
                </a:solidFill>
                <a:latin typeface="+mj-lt"/>
                <a:cs typeface="Segoe UI" panose="020B0502040204020203" pitchFamily="34" charset="0"/>
              </a:rPr>
              <a:t>, informações sobre o consumo de água das unidades autônomas de consumo, para fins de cobrança pela CONCESSIONÁRIA das TARIFAS DE RSD;</a:t>
            </a:r>
            <a:endParaRPr lang="pt-BR" sz="1500" noProof="0" dirty="0">
              <a:solidFill>
                <a:srgbClr val="444444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65" name="Google Shape;218;p10">
            <a:extLst>
              <a:ext uri="{FF2B5EF4-FFF2-40B4-BE49-F238E27FC236}">
                <a16:creationId xmlns:a16="http://schemas.microsoft.com/office/drawing/2014/main" id="{C25C2382-E55B-7830-382B-394BE61E94C3}"/>
              </a:ext>
            </a:extLst>
          </p:cNvPr>
          <p:cNvSpPr/>
          <p:nvPr/>
        </p:nvSpPr>
        <p:spPr>
          <a:xfrm flipV="1">
            <a:off x="980837" y="4648461"/>
            <a:ext cx="10035889" cy="45719"/>
          </a:xfrm>
          <a:custGeom>
            <a:avLst/>
            <a:gdLst/>
            <a:ahLst/>
            <a:cxnLst/>
            <a:rect l="l" t="t" r="r" b="b"/>
            <a:pathLst>
              <a:path w="10724768" h="8734" extrusionOk="0">
                <a:moveTo>
                  <a:pt x="0" y="0"/>
                </a:moveTo>
                <a:lnTo>
                  <a:pt x="10724768" y="0"/>
                </a:lnTo>
                <a:lnTo>
                  <a:pt x="10724768" y="8734"/>
                </a:lnTo>
                <a:lnTo>
                  <a:pt x="0" y="8734"/>
                </a:lnTo>
                <a:lnTo>
                  <a:pt x="0" y="0"/>
                </a:lnTo>
                <a:close/>
              </a:path>
            </a:pathLst>
          </a:custGeom>
          <a:solidFill>
            <a:srgbClr val="E1E8ED"/>
          </a:solidFill>
          <a:ln>
            <a:noFill/>
          </a:ln>
        </p:spPr>
        <p:txBody>
          <a:bodyPr/>
          <a:lstStyle/>
          <a:p>
            <a:endParaRPr lang="pt-BR" sz="1250" noProof="0" dirty="0"/>
          </a:p>
        </p:txBody>
      </p:sp>
      <p:sp>
        <p:nvSpPr>
          <p:cNvPr id="73" name="Google Shape;211;p10">
            <a:extLst>
              <a:ext uri="{FF2B5EF4-FFF2-40B4-BE49-F238E27FC236}">
                <a16:creationId xmlns:a16="http://schemas.microsoft.com/office/drawing/2014/main" id="{59365147-7AD4-4228-F1E0-81605E6E6E78}"/>
              </a:ext>
            </a:extLst>
          </p:cNvPr>
          <p:cNvSpPr/>
          <p:nvPr/>
        </p:nvSpPr>
        <p:spPr>
          <a:xfrm>
            <a:off x="665586" y="5162412"/>
            <a:ext cx="10869287" cy="1378304"/>
          </a:xfrm>
          <a:custGeom>
            <a:avLst/>
            <a:gdLst/>
            <a:ahLst/>
            <a:cxnLst/>
            <a:rect l="l" t="t" r="r" b="b"/>
            <a:pathLst>
              <a:path w="11458384" h="3537077" extrusionOk="0">
                <a:moveTo>
                  <a:pt x="69868" y="0"/>
                </a:moveTo>
                <a:lnTo>
                  <a:pt x="11318634" y="0"/>
                </a:lnTo>
                <a:cubicBezTo>
                  <a:pt x="11395816" y="0"/>
                  <a:pt x="11458384" y="62568"/>
                  <a:pt x="11458384" y="139750"/>
                </a:cubicBezTo>
                <a:lnTo>
                  <a:pt x="11458384" y="3397327"/>
                </a:lnTo>
                <a:cubicBezTo>
                  <a:pt x="11458384" y="3474509"/>
                  <a:pt x="11395816" y="3537077"/>
                  <a:pt x="11318634" y="3537077"/>
                </a:cubicBezTo>
                <a:lnTo>
                  <a:pt x="69868" y="3537077"/>
                </a:lnTo>
                <a:cubicBezTo>
                  <a:pt x="31281" y="3537077"/>
                  <a:pt x="0" y="3505796"/>
                  <a:pt x="0" y="3467209"/>
                </a:cubicBezTo>
                <a:lnTo>
                  <a:pt x="0" y="69868"/>
                </a:lnTo>
                <a:cubicBezTo>
                  <a:pt x="0" y="31307"/>
                  <a:pt x="31307" y="0"/>
                  <a:pt x="69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31003" dist="87335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63496" tIns="63496" rIns="63496" bIns="63496" anchor="ctr" anchorCtr="0">
            <a:noAutofit/>
          </a:bodyPr>
          <a:lstStyle/>
          <a:p>
            <a:endParaRPr lang="pt-BR" sz="1250" noProof="0" dirty="0"/>
          </a:p>
        </p:txBody>
      </p:sp>
      <p:sp>
        <p:nvSpPr>
          <p:cNvPr id="74" name="Google Shape;212;p10">
            <a:extLst>
              <a:ext uri="{FF2B5EF4-FFF2-40B4-BE49-F238E27FC236}">
                <a16:creationId xmlns:a16="http://schemas.microsoft.com/office/drawing/2014/main" id="{BC54F4EC-6053-401F-CF0F-C7A809A453BD}"/>
              </a:ext>
            </a:extLst>
          </p:cNvPr>
          <p:cNvSpPr/>
          <p:nvPr/>
        </p:nvSpPr>
        <p:spPr>
          <a:xfrm>
            <a:off x="668233" y="5229318"/>
            <a:ext cx="45719" cy="1378303"/>
          </a:xfrm>
          <a:custGeom>
            <a:avLst/>
            <a:gdLst/>
            <a:ahLst/>
            <a:cxnLst/>
            <a:rect l="l" t="t" r="r" b="b"/>
            <a:pathLst>
              <a:path w="69868" h="3537077" extrusionOk="0">
                <a:moveTo>
                  <a:pt x="69868" y="0"/>
                </a:moveTo>
                <a:lnTo>
                  <a:pt x="69868" y="0"/>
                </a:lnTo>
                <a:lnTo>
                  <a:pt x="69868" y="3537077"/>
                </a:lnTo>
                <a:lnTo>
                  <a:pt x="69868" y="3537077"/>
                </a:lnTo>
                <a:cubicBezTo>
                  <a:pt x="31281" y="3537077"/>
                  <a:pt x="0" y="3505796"/>
                  <a:pt x="0" y="3467209"/>
                </a:cubicBezTo>
                <a:lnTo>
                  <a:pt x="0" y="69868"/>
                </a:lnTo>
                <a:cubicBezTo>
                  <a:pt x="0" y="31307"/>
                  <a:pt x="31307" y="0"/>
                  <a:pt x="69868" y="0"/>
                </a:cubicBezTo>
                <a:close/>
              </a:path>
            </a:pathLst>
          </a:custGeom>
          <a:solidFill>
            <a:srgbClr val="00B2FF"/>
          </a:solidFill>
          <a:ln>
            <a:noFill/>
          </a:ln>
        </p:spPr>
        <p:txBody>
          <a:bodyPr spcFirstLastPara="1" wrap="square" lIns="63496" tIns="63496" rIns="63496" bIns="63496" anchor="ctr" anchorCtr="0">
            <a:noAutofit/>
          </a:bodyPr>
          <a:lstStyle/>
          <a:p>
            <a:endParaRPr lang="pt-BR" sz="1250" noProof="0" dirty="0"/>
          </a:p>
        </p:txBody>
      </p:sp>
      <p:sp>
        <p:nvSpPr>
          <p:cNvPr id="77" name="Google Shape;216;p10">
            <a:extLst>
              <a:ext uri="{FF2B5EF4-FFF2-40B4-BE49-F238E27FC236}">
                <a16:creationId xmlns:a16="http://schemas.microsoft.com/office/drawing/2014/main" id="{1BE1A9D0-DA94-734A-AB10-A2F2DA81A525}"/>
              </a:ext>
            </a:extLst>
          </p:cNvPr>
          <p:cNvSpPr/>
          <p:nvPr/>
        </p:nvSpPr>
        <p:spPr>
          <a:xfrm>
            <a:off x="894500" y="5625887"/>
            <a:ext cx="510022" cy="582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80000"/>
              </a:lnSpc>
            </a:pPr>
            <a:r>
              <a:rPr lang="pt-BR" sz="4585" noProof="0" dirty="0">
                <a:solidFill>
                  <a:srgbClr val="00B2FF"/>
                </a:solidFill>
                <a:latin typeface="Noto Sans SC"/>
                <a:ea typeface="Noto Sans SC"/>
                <a:cs typeface="Noto Sans SC"/>
                <a:sym typeface="Noto Sans SC"/>
              </a:rPr>
              <a:t>"</a:t>
            </a:r>
            <a:endParaRPr lang="pt-BR" sz="1111" noProof="0" dirty="0">
              <a:solidFill>
                <a:srgbClr val="00B2FF"/>
              </a:solidFill>
            </a:endParaRPr>
          </a:p>
        </p:txBody>
      </p:sp>
      <p:sp>
        <p:nvSpPr>
          <p:cNvPr id="78" name="Google Shape;217;p10">
            <a:extLst>
              <a:ext uri="{FF2B5EF4-FFF2-40B4-BE49-F238E27FC236}">
                <a16:creationId xmlns:a16="http://schemas.microsoft.com/office/drawing/2014/main" id="{24BB383A-EED9-D79E-51A6-3DD9C466ED1E}"/>
              </a:ext>
            </a:extLst>
          </p:cNvPr>
          <p:cNvSpPr/>
          <p:nvPr/>
        </p:nvSpPr>
        <p:spPr>
          <a:xfrm>
            <a:off x="1233608" y="5442260"/>
            <a:ext cx="9684859" cy="938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just"/>
            <a:r>
              <a:rPr lang="pt-BR" sz="1500" dirty="0">
                <a:solidFill>
                  <a:srgbClr val="444444"/>
                </a:solidFill>
                <a:cs typeface="Segoe UI" panose="020B0502040204020203" pitchFamily="34" charset="0"/>
              </a:rPr>
              <a:t>2.5 </a:t>
            </a:r>
            <a:r>
              <a:rPr lang="pt-BR" sz="1500" b="1" dirty="0">
                <a:solidFill>
                  <a:srgbClr val="444444"/>
                </a:solidFill>
                <a:cs typeface="Segoe UI" panose="020B0502040204020203" pitchFamily="34" charset="0"/>
              </a:rPr>
              <a:t>Fica permitido o cofaturamento da cobrança da TARIFA DE RSD</a:t>
            </a:r>
            <a:r>
              <a:rPr lang="pt-BR" sz="1500" dirty="0">
                <a:solidFill>
                  <a:srgbClr val="444444"/>
                </a:solidFill>
                <a:cs typeface="Segoe UI" panose="020B0502040204020203" pitchFamily="34" charset="0"/>
              </a:rPr>
              <a:t> em conjunto com outros serviços públicos, </a:t>
            </a:r>
            <a:r>
              <a:rPr lang="pt-BR" sz="1500" b="1" dirty="0">
                <a:solidFill>
                  <a:srgbClr val="444444"/>
                </a:solidFill>
                <a:cs typeface="Segoe UI" panose="020B0502040204020203" pitchFamily="34" charset="0"/>
              </a:rPr>
              <a:t>por conta e risco da CONCESSIONÁRIA</a:t>
            </a:r>
            <a:r>
              <a:rPr lang="pt-BR" sz="1500" dirty="0">
                <a:solidFill>
                  <a:srgbClr val="444444"/>
                </a:solidFill>
                <a:cs typeface="Segoe UI" panose="020B0502040204020203" pitchFamily="34" charset="0"/>
              </a:rPr>
              <a:t>, e mediante “não objeção” do PODER CONCEDENTE e da AGÊNCIA REGULADORA.</a:t>
            </a:r>
            <a:endParaRPr lang="pt-BR" sz="1500" noProof="0" dirty="0">
              <a:solidFill>
                <a:srgbClr val="444444"/>
              </a:solidFill>
              <a:cs typeface="Segoe UI" panose="020B0502040204020203" pitchFamily="34" charset="0"/>
            </a:endParaRPr>
          </a:p>
        </p:txBody>
      </p:sp>
      <p:sp>
        <p:nvSpPr>
          <p:cNvPr id="79" name="Google Shape;218;p10">
            <a:extLst>
              <a:ext uri="{FF2B5EF4-FFF2-40B4-BE49-F238E27FC236}">
                <a16:creationId xmlns:a16="http://schemas.microsoft.com/office/drawing/2014/main" id="{209A35D8-08AC-A62C-BFD7-D694E2876E14}"/>
              </a:ext>
            </a:extLst>
          </p:cNvPr>
          <p:cNvSpPr/>
          <p:nvPr/>
        </p:nvSpPr>
        <p:spPr>
          <a:xfrm flipV="1">
            <a:off x="911865" y="6325164"/>
            <a:ext cx="10114934" cy="45719"/>
          </a:xfrm>
          <a:custGeom>
            <a:avLst/>
            <a:gdLst/>
            <a:ahLst/>
            <a:cxnLst/>
            <a:rect l="l" t="t" r="r" b="b"/>
            <a:pathLst>
              <a:path w="10724768" h="8734" extrusionOk="0">
                <a:moveTo>
                  <a:pt x="0" y="0"/>
                </a:moveTo>
                <a:lnTo>
                  <a:pt x="10724768" y="0"/>
                </a:lnTo>
                <a:lnTo>
                  <a:pt x="10724768" y="8734"/>
                </a:lnTo>
                <a:lnTo>
                  <a:pt x="0" y="8734"/>
                </a:lnTo>
                <a:lnTo>
                  <a:pt x="0" y="0"/>
                </a:lnTo>
                <a:close/>
              </a:path>
            </a:pathLst>
          </a:custGeom>
          <a:solidFill>
            <a:srgbClr val="E1E8ED"/>
          </a:solidFill>
          <a:ln>
            <a:noFill/>
          </a:ln>
        </p:spPr>
        <p:txBody>
          <a:bodyPr/>
          <a:lstStyle/>
          <a:p>
            <a:endParaRPr lang="pt-BR" sz="1250" noProof="0" dirty="0"/>
          </a:p>
        </p:txBody>
      </p:sp>
      <p:sp>
        <p:nvSpPr>
          <p:cNvPr id="2" name="Google Shape;213;p10">
            <a:extLst>
              <a:ext uri="{FF2B5EF4-FFF2-40B4-BE49-F238E27FC236}">
                <a16:creationId xmlns:a16="http://schemas.microsoft.com/office/drawing/2014/main" id="{B3E95121-91C6-3B98-CE29-CF31969B4A7E}"/>
              </a:ext>
            </a:extLst>
          </p:cNvPr>
          <p:cNvSpPr/>
          <p:nvPr/>
        </p:nvSpPr>
        <p:spPr>
          <a:xfrm>
            <a:off x="866532" y="5121633"/>
            <a:ext cx="4332787" cy="376137"/>
          </a:xfrm>
          <a:custGeom>
            <a:avLst/>
            <a:gdLst/>
            <a:ahLst/>
            <a:cxnLst/>
            <a:rect l="l" t="t" r="r" b="b"/>
            <a:pathLst>
              <a:path w="2113513" h="454143" extrusionOk="0">
                <a:moveTo>
                  <a:pt x="69870" y="0"/>
                </a:moveTo>
                <a:lnTo>
                  <a:pt x="2043643" y="0"/>
                </a:lnTo>
                <a:cubicBezTo>
                  <a:pt x="2082231" y="0"/>
                  <a:pt x="2113513" y="31282"/>
                  <a:pt x="2113513" y="69870"/>
                </a:cubicBezTo>
                <a:lnTo>
                  <a:pt x="2113513" y="384273"/>
                </a:lnTo>
                <a:cubicBezTo>
                  <a:pt x="2113513" y="422861"/>
                  <a:pt x="2082231" y="454143"/>
                  <a:pt x="2043643" y="454143"/>
                </a:cubicBezTo>
                <a:lnTo>
                  <a:pt x="69870" y="454143"/>
                </a:lnTo>
                <a:cubicBezTo>
                  <a:pt x="31308" y="454143"/>
                  <a:pt x="0" y="422836"/>
                  <a:pt x="0" y="384273"/>
                </a:cubicBezTo>
                <a:lnTo>
                  <a:pt x="0" y="69870"/>
                </a:lnTo>
                <a:cubicBezTo>
                  <a:pt x="0" y="31308"/>
                  <a:pt x="31308" y="0"/>
                  <a:pt x="69870" y="0"/>
                </a:cubicBezTo>
                <a:close/>
              </a:path>
            </a:pathLst>
          </a:custGeom>
          <a:solidFill>
            <a:srgbClr val="00B2FF"/>
          </a:solidFill>
          <a:ln>
            <a:noFill/>
          </a:ln>
        </p:spPr>
        <p:txBody>
          <a:bodyPr spcFirstLastPara="1" wrap="square" lIns="63496" tIns="63496" rIns="63496" bIns="63496" anchor="ctr" anchorCtr="0">
            <a:noAutofit/>
          </a:bodyPr>
          <a:lstStyle/>
          <a:p>
            <a:endParaRPr lang="pt-BR" sz="1250" noProof="0" dirty="0"/>
          </a:p>
        </p:txBody>
      </p:sp>
      <p:sp>
        <p:nvSpPr>
          <p:cNvPr id="3" name="Google Shape;214;p10">
            <a:extLst>
              <a:ext uri="{FF2B5EF4-FFF2-40B4-BE49-F238E27FC236}">
                <a16:creationId xmlns:a16="http://schemas.microsoft.com/office/drawing/2014/main" id="{2BC54831-8B23-8DD9-4BEF-02E2807FD5D3}"/>
              </a:ext>
            </a:extLst>
          </p:cNvPr>
          <p:cNvSpPr/>
          <p:nvPr/>
        </p:nvSpPr>
        <p:spPr>
          <a:xfrm>
            <a:off x="838563" y="5162412"/>
            <a:ext cx="4332787" cy="302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5571" tIns="72786" rIns="145571" bIns="72786" anchor="ctr" anchorCtr="0">
            <a:noAutofit/>
          </a:bodyPr>
          <a:lstStyle/>
          <a:p>
            <a:pPr lvl="0" algn="ctr">
              <a:lnSpc>
                <a:spcPct val="130000"/>
              </a:lnSpc>
            </a:pPr>
            <a:r>
              <a:rPr lang="pt-BR" sz="1500" b="1" noProof="0" dirty="0">
                <a:solidFill>
                  <a:schemeClr val="bg1"/>
                </a:solidFill>
                <a:cs typeface="Segoe UI" panose="020B0502040204020203" pitchFamily="34" charset="0"/>
              </a:rPr>
              <a:t>Anexo 4 do Contrato – item 2.5</a:t>
            </a:r>
          </a:p>
        </p:txBody>
      </p:sp>
    </p:spTree>
    <p:extLst>
      <p:ext uri="{BB962C8B-B14F-4D97-AF65-F5344CB8AC3E}">
        <p14:creationId xmlns:p14="http://schemas.microsoft.com/office/powerpoint/2010/main" val="3640218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C23C5-4E8C-0A58-B47E-DA876464E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D16C2F3D-BA8B-A571-71D9-0DF9EC4BCFF6}"/>
              </a:ext>
            </a:extLst>
          </p:cNvPr>
          <p:cNvSpPr txBox="1"/>
          <p:nvPr/>
        </p:nvSpPr>
        <p:spPr>
          <a:xfrm>
            <a:off x="275948" y="158340"/>
            <a:ext cx="11415936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pt-BR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>
              <a:defRPr sz="3600" b="1">
                <a:solidFill>
                  <a:srgbClr val="04B0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atin typeface="+mn-lt"/>
              </a:rPr>
              <a:t>Defasagem anual do cadastro de usuários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F45B5134-2174-9AD1-75D1-96E7E0C7FB27}"/>
              </a:ext>
            </a:extLst>
          </p:cNvPr>
          <p:cNvSpPr/>
          <p:nvPr/>
        </p:nvSpPr>
        <p:spPr>
          <a:xfrm>
            <a:off x="275948" y="932234"/>
            <a:ext cx="6124136" cy="523565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 sz="1945" b="1" noProof="0" dirty="0">
              <a:solidFill>
                <a:schemeClr val="bg2"/>
              </a:solidFill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10C6098-25E1-9CC6-59C3-39778FE1B569}"/>
              </a:ext>
            </a:extLst>
          </p:cNvPr>
          <p:cNvSpPr/>
          <p:nvPr/>
        </p:nvSpPr>
        <p:spPr>
          <a:xfrm>
            <a:off x="1111172" y="787081"/>
            <a:ext cx="3441722" cy="686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pt-BR" sz="2400" b="1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pt-BR" sz="2400" b="1" noProof="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80A6D656-52D8-D781-62A9-01E7AE42A9C0}"/>
              </a:ext>
            </a:extLst>
          </p:cNvPr>
          <p:cNvSpPr/>
          <p:nvPr/>
        </p:nvSpPr>
        <p:spPr>
          <a:xfrm>
            <a:off x="1351288" y="1043422"/>
            <a:ext cx="4316311" cy="6868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just">
              <a:defRPr/>
            </a:pPr>
            <a:r>
              <a:rPr lang="pt-BR" sz="2400" b="1" noProof="0" dirty="0">
                <a:solidFill>
                  <a:srgbClr val="04B0FF"/>
                </a:solidFill>
              </a:rPr>
              <a:t>Impactos da manutenção do item </a:t>
            </a:r>
          </a:p>
        </p:txBody>
      </p:sp>
      <p:sp>
        <p:nvSpPr>
          <p:cNvPr id="9" name="Google Shape;179;p10">
            <a:extLst>
              <a:ext uri="{FF2B5EF4-FFF2-40B4-BE49-F238E27FC236}">
                <a16:creationId xmlns:a16="http://schemas.microsoft.com/office/drawing/2014/main" id="{7D9ABC54-025D-4115-6C19-E53F6D9A5A1C}"/>
              </a:ext>
            </a:extLst>
          </p:cNvPr>
          <p:cNvSpPr/>
          <p:nvPr/>
        </p:nvSpPr>
        <p:spPr>
          <a:xfrm>
            <a:off x="1108159" y="1798684"/>
            <a:ext cx="5065327" cy="686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>
              <a:lnSpc>
                <a:spcPct val="140000"/>
              </a:lnSpc>
            </a:pPr>
            <a:r>
              <a:rPr lang="pt-BR" sz="1400" b="1" dirty="0">
                <a:solidFill>
                  <a:srgbClr val="444444"/>
                </a:solidFill>
                <a:cs typeface="Segoe UI" panose="020B0502040204020203" pitchFamily="34" charset="0"/>
              </a:rPr>
              <a:t>Defasagem operacional: </a:t>
            </a:r>
            <a:r>
              <a:rPr lang="pt-BR" sz="1400" dirty="0">
                <a:solidFill>
                  <a:srgbClr val="444444"/>
                </a:solidFill>
                <a:cs typeface="Segoe UI" panose="020B0502040204020203" pitchFamily="34" charset="0"/>
              </a:rPr>
              <a:t>faturamento baseado em informações potencialmente desatualizadas, podendo implicar em cobranças indevida e perda de receitas. </a:t>
            </a:r>
          </a:p>
        </p:txBody>
      </p:sp>
      <p:sp>
        <p:nvSpPr>
          <p:cNvPr id="10" name="Google Shape;185;p10">
            <a:extLst>
              <a:ext uri="{FF2B5EF4-FFF2-40B4-BE49-F238E27FC236}">
                <a16:creationId xmlns:a16="http://schemas.microsoft.com/office/drawing/2014/main" id="{E60B74E2-2E9E-9B06-7114-6089DE860B51}"/>
              </a:ext>
            </a:extLst>
          </p:cNvPr>
          <p:cNvSpPr/>
          <p:nvPr/>
        </p:nvSpPr>
        <p:spPr>
          <a:xfrm>
            <a:off x="1094903" y="2823960"/>
            <a:ext cx="5065327" cy="391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just">
              <a:lnSpc>
                <a:spcPct val="140000"/>
              </a:lnSpc>
            </a:pPr>
            <a:r>
              <a:rPr lang="pt-BR" sz="1400" b="1" dirty="0">
                <a:solidFill>
                  <a:srgbClr val="444444"/>
                </a:solidFill>
                <a:cs typeface="Segoe UI" panose="020B0502040204020203" pitchFamily="34" charset="0"/>
              </a:rPr>
              <a:t>Aumento da inadimplência: </a:t>
            </a:r>
            <a:r>
              <a:rPr lang="pt-BR" sz="1400" dirty="0">
                <a:solidFill>
                  <a:srgbClr val="444444"/>
                </a:solidFill>
                <a:cs typeface="Segoe UI" panose="020B0502040204020203" pitchFamily="34" charset="0"/>
              </a:rPr>
              <a:t>boletos enviados com dados desatualizados reduzem a eficiência arrecadatória.</a:t>
            </a:r>
          </a:p>
        </p:txBody>
      </p:sp>
      <p:sp>
        <p:nvSpPr>
          <p:cNvPr id="11" name="Google Shape;185;p10">
            <a:extLst>
              <a:ext uri="{FF2B5EF4-FFF2-40B4-BE49-F238E27FC236}">
                <a16:creationId xmlns:a16="http://schemas.microsoft.com/office/drawing/2014/main" id="{8F2CF07D-E8E0-2B0D-C729-9BB4DD413196}"/>
              </a:ext>
            </a:extLst>
          </p:cNvPr>
          <p:cNvSpPr/>
          <p:nvPr/>
        </p:nvSpPr>
        <p:spPr>
          <a:xfrm>
            <a:off x="1060243" y="4538618"/>
            <a:ext cx="5103405" cy="391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>
              <a:lnSpc>
                <a:spcPct val="140000"/>
              </a:lnSpc>
            </a:pPr>
            <a:r>
              <a:rPr lang="pt-BR" sz="1400" b="1" dirty="0">
                <a:solidFill>
                  <a:srgbClr val="444444"/>
                </a:solidFill>
                <a:cs typeface="Segoe UI" panose="020B0502040204020203" pitchFamily="34" charset="0"/>
              </a:rPr>
              <a:t>Desequilíbrio econômico-financeiro: </a:t>
            </a:r>
            <a:r>
              <a:rPr lang="pt-BR" sz="1400" dirty="0">
                <a:solidFill>
                  <a:srgbClr val="444444"/>
                </a:solidFill>
                <a:cs typeface="Segoe UI" panose="020B0502040204020203" pitchFamily="34" charset="0"/>
              </a:rPr>
              <a:t>perdas operacionais e inadimplência sem mecanismo claro de recomposição contratual*.</a:t>
            </a:r>
          </a:p>
        </p:txBody>
      </p:sp>
      <p:sp>
        <p:nvSpPr>
          <p:cNvPr id="12" name="Google Shape;185;p10">
            <a:extLst>
              <a:ext uri="{FF2B5EF4-FFF2-40B4-BE49-F238E27FC236}">
                <a16:creationId xmlns:a16="http://schemas.microsoft.com/office/drawing/2014/main" id="{D65E69AC-73C6-034F-E1E2-D421DC6A7B00}"/>
              </a:ext>
            </a:extLst>
          </p:cNvPr>
          <p:cNvSpPr/>
          <p:nvPr/>
        </p:nvSpPr>
        <p:spPr>
          <a:xfrm>
            <a:off x="1070082" y="5300198"/>
            <a:ext cx="5103404" cy="391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>
              <a:lnSpc>
                <a:spcPct val="140000"/>
              </a:lnSpc>
            </a:pPr>
            <a:r>
              <a:rPr lang="pt-BR" sz="1400" b="1" dirty="0">
                <a:solidFill>
                  <a:srgbClr val="444444"/>
                </a:solidFill>
                <a:cs typeface="Segoe UI" panose="020B0502040204020203" pitchFamily="34" charset="0"/>
              </a:rPr>
              <a:t>Transferência excessiva de risco: </a:t>
            </a:r>
            <a:r>
              <a:rPr lang="pt-BR" sz="1400" dirty="0">
                <a:solidFill>
                  <a:srgbClr val="444444"/>
                </a:solidFill>
                <a:cs typeface="Segoe UI" panose="020B0502040204020203" pitchFamily="34" charset="0"/>
              </a:rPr>
              <a:t>concessionária responde por falhas decorrentes da própria limitação contratual de acesso aos dados.</a:t>
            </a:r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EF05D001-FE4A-F946-C738-A9197E1D2D82}"/>
              </a:ext>
            </a:extLst>
          </p:cNvPr>
          <p:cNvSpPr/>
          <p:nvPr/>
        </p:nvSpPr>
        <p:spPr>
          <a:xfrm>
            <a:off x="662998" y="1189155"/>
            <a:ext cx="490604" cy="475231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4B0FF"/>
          </a:solidFill>
          <a:ln/>
        </p:spPr>
        <p:txBody>
          <a:bodyPr/>
          <a:lstStyle/>
          <a:p>
            <a:endParaRPr lang="pt-BR" sz="1250" noProof="0" dirty="0"/>
          </a:p>
        </p:txBody>
      </p:sp>
      <p:pic>
        <p:nvPicPr>
          <p:cNvPr id="14" name="Gráfico 13" descr="Lista de Verificação com preenchimento sólido">
            <a:extLst>
              <a:ext uri="{FF2B5EF4-FFF2-40B4-BE49-F238E27FC236}">
                <a16:creationId xmlns:a16="http://schemas.microsoft.com/office/drawing/2014/main" id="{4C4EA124-1BF6-B7FC-7BB5-36E2FDC506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0911" y="1214258"/>
            <a:ext cx="394778" cy="394778"/>
          </a:xfrm>
          <a:prstGeom prst="rect">
            <a:avLst/>
          </a:prstGeom>
        </p:spPr>
      </p:pic>
      <p:sp>
        <p:nvSpPr>
          <p:cNvPr id="15" name="Text 4">
            <a:extLst>
              <a:ext uri="{FF2B5EF4-FFF2-40B4-BE49-F238E27FC236}">
                <a16:creationId xmlns:a16="http://schemas.microsoft.com/office/drawing/2014/main" id="{6B6294C0-D049-D823-0271-ED2A5AF6D73F}"/>
              </a:ext>
            </a:extLst>
          </p:cNvPr>
          <p:cNvSpPr/>
          <p:nvPr/>
        </p:nvSpPr>
        <p:spPr>
          <a:xfrm>
            <a:off x="1111172" y="787081"/>
            <a:ext cx="4316311" cy="686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endParaRPr lang="pt-BR" sz="2400" b="1" noProof="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Google Shape;185;p10">
            <a:extLst>
              <a:ext uri="{FF2B5EF4-FFF2-40B4-BE49-F238E27FC236}">
                <a16:creationId xmlns:a16="http://schemas.microsoft.com/office/drawing/2014/main" id="{CCBBC3FD-2E8B-C29D-468A-C5254B89CF84}"/>
              </a:ext>
            </a:extLst>
          </p:cNvPr>
          <p:cNvSpPr/>
          <p:nvPr/>
        </p:nvSpPr>
        <p:spPr>
          <a:xfrm>
            <a:off x="1094903" y="3550905"/>
            <a:ext cx="5065327" cy="391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just">
              <a:lnSpc>
                <a:spcPct val="140000"/>
              </a:lnSpc>
            </a:pPr>
            <a:r>
              <a:rPr lang="pt-BR" sz="1400" b="1" dirty="0">
                <a:solidFill>
                  <a:srgbClr val="444444"/>
                </a:solidFill>
                <a:cs typeface="Segoe UI" panose="020B0502040204020203" pitchFamily="34" charset="0"/>
              </a:rPr>
              <a:t>Risco operacional: </a:t>
            </a:r>
            <a:r>
              <a:rPr lang="pt-BR" sz="1400" dirty="0">
                <a:solidFill>
                  <a:srgbClr val="444444"/>
                </a:solidFill>
                <a:cs typeface="Segoe UI" panose="020B0502040204020203" pitchFamily="34" charset="0"/>
              </a:rPr>
              <a:t>necessidade de refaturamentos, compensações e correções recorrentes, com aumento de custos operacionais, insumos e mão de obra.</a:t>
            </a:r>
          </a:p>
          <a:p>
            <a:pPr lvl="0" algn="just">
              <a:lnSpc>
                <a:spcPct val="140000"/>
              </a:lnSpc>
            </a:pPr>
            <a:endParaRPr lang="pt-BR" sz="1400" dirty="0">
              <a:cs typeface="Segoe UI" panose="020B0502040204020203" pitchFamily="34" charset="0"/>
            </a:endParaRPr>
          </a:p>
        </p:txBody>
      </p:sp>
      <p:sp>
        <p:nvSpPr>
          <p:cNvPr id="17" name="Google Shape;195;p8">
            <a:extLst>
              <a:ext uri="{FF2B5EF4-FFF2-40B4-BE49-F238E27FC236}">
                <a16:creationId xmlns:a16="http://schemas.microsoft.com/office/drawing/2014/main" id="{DD645DEE-7083-0A56-6CF2-C6868173974F}"/>
              </a:ext>
            </a:extLst>
          </p:cNvPr>
          <p:cNvSpPr/>
          <p:nvPr/>
        </p:nvSpPr>
        <p:spPr>
          <a:xfrm>
            <a:off x="636522" y="5300198"/>
            <a:ext cx="291087" cy="274285"/>
          </a:xfrm>
          <a:custGeom>
            <a:avLst/>
            <a:gdLst/>
            <a:ahLst/>
            <a:cxnLst/>
            <a:rect l="l" t="t" r="r" b="b"/>
            <a:pathLst>
              <a:path w="238125" h="190500" extrusionOk="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04B0FF"/>
          </a:solidFill>
          <a:ln>
            <a:noFill/>
          </a:ln>
        </p:spPr>
        <p:txBody>
          <a:bodyPr spcFirstLastPara="1" wrap="square" lIns="131635" tIns="131635" rIns="131635" bIns="131635" anchor="ctr" anchorCtr="0">
            <a:noAutofit/>
          </a:bodyPr>
          <a:lstStyle/>
          <a:p>
            <a:endParaRPr lang="pt-BR" sz="3732" dirty="0"/>
          </a:p>
        </p:txBody>
      </p:sp>
      <p:pic>
        <p:nvPicPr>
          <p:cNvPr id="18" name="Gráfico 17" descr="Trabalhador de construção com preenchimento sólido">
            <a:extLst>
              <a:ext uri="{FF2B5EF4-FFF2-40B4-BE49-F238E27FC236}">
                <a16:creationId xmlns:a16="http://schemas.microsoft.com/office/drawing/2014/main" id="{BC4B8470-0965-6512-4DCF-33D125B6D9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995" y="3546423"/>
            <a:ext cx="411136" cy="411136"/>
          </a:xfrm>
          <a:prstGeom prst="rect">
            <a:avLst/>
          </a:prstGeom>
        </p:spPr>
      </p:pic>
      <p:pic>
        <p:nvPicPr>
          <p:cNvPr id="19" name="Gráfico 18" descr="Engrenagens com preenchimento sólido">
            <a:extLst>
              <a:ext uri="{FF2B5EF4-FFF2-40B4-BE49-F238E27FC236}">
                <a16:creationId xmlns:a16="http://schemas.microsoft.com/office/drawing/2014/main" id="{87B099B3-BFE2-78C3-FEBB-93EB7AB579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0448" y="1860177"/>
            <a:ext cx="407138" cy="407138"/>
          </a:xfrm>
          <a:prstGeom prst="rect">
            <a:avLst/>
          </a:prstGeom>
        </p:spPr>
      </p:pic>
      <p:pic>
        <p:nvPicPr>
          <p:cNvPr id="20" name="Gráfico 19" descr="Gráfico de barras com tendência ascendente com preenchimento sólido">
            <a:extLst>
              <a:ext uri="{FF2B5EF4-FFF2-40B4-BE49-F238E27FC236}">
                <a16:creationId xmlns:a16="http://schemas.microsoft.com/office/drawing/2014/main" id="{A7133A35-3F33-670A-F646-8644B4A5E0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3500" y="2774469"/>
            <a:ext cx="411136" cy="411136"/>
          </a:xfrm>
          <a:prstGeom prst="rect">
            <a:avLst/>
          </a:prstGeom>
        </p:spPr>
      </p:pic>
      <p:pic>
        <p:nvPicPr>
          <p:cNvPr id="21" name="Gráfico 20" descr="Dinheiro com preenchimento sólido">
            <a:extLst>
              <a:ext uri="{FF2B5EF4-FFF2-40B4-BE49-F238E27FC236}">
                <a16:creationId xmlns:a16="http://schemas.microsoft.com/office/drawing/2014/main" id="{1997C373-546E-E63E-EEE7-8745F344A6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7188" y="4502164"/>
            <a:ext cx="411136" cy="411136"/>
          </a:xfrm>
          <a:prstGeom prst="rect">
            <a:avLst/>
          </a:prstGeom>
        </p:spPr>
      </p:pic>
      <p:sp>
        <p:nvSpPr>
          <p:cNvPr id="2" name="Google Shape;211;p10">
            <a:extLst>
              <a:ext uri="{FF2B5EF4-FFF2-40B4-BE49-F238E27FC236}">
                <a16:creationId xmlns:a16="http://schemas.microsoft.com/office/drawing/2014/main" id="{36142A7A-A96A-EF85-CCEE-736DDF4F8171}"/>
              </a:ext>
            </a:extLst>
          </p:cNvPr>
          <p:cNvSpPr/>
          <p:nvPr/>
        </p:nvSpPr>
        <p:spPr>
          <a:xfrm>
            <a:off x="6739399" y="1841455"/>
            <a:ext cx="4997209" cy="3071845"/>
          </a:xfrm>
          <a:custGeom>
            <a:avLst/>
            <a:gdLst/>
            <a:ahLst/>
            <a:cxnLst/>
            <a:rect l="l" t="t" r="r" b="b"/>
            <a:pathLst>
              <a:path w="11458384" h="3537077" extrusionOk="0">
                <a:moveTo>
                  <a:pt x="69868" y="0"/>
                </a:moveTo>
                <a:lnTo>
                  <a:pt x="11318634" y="0"/>
                </a:lnTo>
                <a:cubicBezTo>
                  <a:pt x="11395816" y="0"/>
                  <a:pt x="11458384" y="62568"/>
                  <a:pt x="11458384" y="139750"/>
                </a:cubicBezTo>
                <a:lnTo>
                  <a:pt x="11458384" y="3397327"/>
                </a:lnTo>
                <a:cubicBezTo>
                  <a:pt x="11458384" y="3474509"/>
                  <a:pt x="11395816" y="3537077"/>
                  <a:pt x="11318634" y="3537077"/>
                </a:cubicBezTo>
                <a:lnTo>
                  <a:pt x="69868" y="3537077"/>
                </a:lnTo>
                <a:cubicBezTo>
                  <a:pt x="31281" y="3537077"/>
                  <a:pt x="0" y="3505796"/>
                  <a:pt x="0" y="3467209"/>
                </a:cubicBezTo>
                <a:lnTo>
                  <a:pt x="0" y="69868"/>
                </a:lnTo>
                <a:cubicBezTo>
                  <a:pt x="0" y="31307"/>
                  <a:pt x="31307" y="0"/>
                  <a:pt x="69868" y="0"/>
                </a:cubicBezTo>
                <a:close/>
              </a:path>
            </a:pathLst>
          </a:custGeom>
          <a:solidFill>
            <a:schemeClr val="bg1">
              <a:lumMod val="85000"/>
              <a:alpha val="20000"/>
            </a:schemeClr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9DA212EE-04E0-C252-E682-92D76ECE0849}"/>
              </a:ext>
            </a:extLst>
          </p:cNvPr>
          <p:cNvSpPr/>
          <p:nvPr/>
        </p:nvSpPr>
        <p:spPr>
          <a:xfrm>
            <a:off x="6912346" y="2004283"/>
            <a:ext cx="595313" cy="630565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4B0FF">
              <a:alpha val="20000"/>
            </a:srgbClr>
          </a:solidFill>
          <a:ln>
            <a:solidFill>
              <a:srgbClr val="04B0FF"/>
            </a:solidFill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86322CAF-E55F-EF1A-EF56-ADA27665EF70}"/>
              </a:ext>
            </a:extLst>
          </p:cNvPr>
          <p:cNvSpPr/>
          <p:nvPr/>
        </p:nvSpPr>
        <p:spPr>
          <a:xfrm>
            <a:off x="7318248" y="1681561"/>
            <a:ext cx="4316311" cy="686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endParaRPr lang="pt-BR" sz="2400" b="1" noProof="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D6FFA3F0-0373-2397-FEEA-1655E5147A6B}"/>
              </a:ext>
            </a:extLst>
          </p:cNvPr>
          <p:cNvSpPr/>
          <p:nvPr/>
        </p:nvSpPr>
        <p:spPr>
          <a:xfrm>
            <a:off x="7728460" y="2168900"/>
            <a:ext cx="3495886" cy="328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>
              <a:lnSpc>
                <a:spcPct val="110000"/>
              </a:lnSpc>
            </a:pPr>
            <a:r>
              <a:rPr lang="pt-BR" sz="2400" b="1" noProof="0" dirty="0">
                <a:solidFill>
                  <a:srgbClr val="04B0FF"/>
                </a:solidFill>
                <a:ea typeface="Noto Sans SC" pitchFamily="34" charset="-122"/>
                <a:cs typeface="Segoe UI" panose="020B0502040204020203" pitchFamily="34" charset="0"/>
              </a:rPr>
              <a:t>Providências mitigadoras</a:t>
            </a:r>
            <a:endParaRPr lang="pt-BR" sz="2400" noProof="0" dirty="0">
              <a:solidFill>
                <a:srgbClr val="04B0FF"/>
              </a:solidFill>
              <a:cs typeface="Segoe UI" panose="020B0502040204020203" pitchFamily="34" charset="0"/>
            </a:endParaRPr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F9A4D829-C43A-404F-12B4-853EA109C358}"/>
              </a:ext>
            </a:extLst>
          </p:cNvPr>
          <p:cNvSpPr/>
          <p:nvPr/>
        </p:nvSpPr>
        <p:spPr>
          <a:xfrm>
            <a:off x="7000593" y="2134017"/>
            <a:ext cx="418820" cy="397212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04B0F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411DA502-2BB8-1AA7-8CD6-4D6C7AD2C3D9}"/>
              </a:ext>
            </a:extLst>
          </p:cNvPr>
          <p:cNvSpPr/>
          <p:nvPr/>
        </p:nvSpPr>
        <p:spPr>
          <a:xfrm>
            <a:off x="7134655" y="2743981"/>
            <a:ext cx="304626" cy="30566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04B0F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85152983-A822-552C-12D8-5A3B863114B5}"/>
              </a:ext>
            </a:extLst>
          </p:cNvPr>
          <p:cNvSpPr txBox="1"/>
          <p:nvPr/>
        </p:nvSpPr>
        <p:spPr>
          <a:xfrm>
            <a:off x="7649826" y="2695851"/>
            <a:ext cx="37629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altLang="pt-BR" sz="1600" dirty="0">
                <a:solidFill>
                  <a:srgbClr val="444444"/>
                </a:solidFill>
                <a:cs typeface="Segoe UI" panose="020B0502040204020203" pitchFamily="34" charset="0"/>
              </a:rPr>
              <a:t>Sugerimos a apresentação de </a:t>
            </a:r>
            <a:r>
              <a:rPr lang="pt-BR" altLang="pt-BR" sz="1600" b="1" dirty="0">
                <a:solidFill>
                  <a:srgbClr val="444444"/>
                </a:solidFill>
                <a:cs typeface="Segoe UI" panose="020B0502040204020203" pitchFamily="34" charset="0"/>
              </a:rPr>
              <a:t>pedido de esclarecimento</a:t>
            </a:r>
            <a:r>
              <a:rPr lang="pt-BR" altLang="pt-BR" sz="1600" dirty="0">
                <a:solidFill>
                  <a:srgbClr val="444444"/>
                </a:solidFill>
                <a:cs typeface="Segoe UI" panose="020B0502040204020203" pitchFamily="34" charset="0"/>
              </a:rPr>
              <a:t> para tentar garantir que a concessionária terá acesso mensal ou contínuo ao cadastro atualizado e aos dados de consumo dos usuários dos serviços de abastecimento de água.</a:t>
            </a:r>
            <a:endParaRPr lang="pt-BR" sz="1600" dirty="0">
              <a:solidFill>
                <a:srgbClr val="444444"/>
              </a:solidFill>
              <a:cs typeface="Segoe UI" panose="020B0502040204020203" pitchFamily="34" charset="0"/>
            </a:endParaRPr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82065B05-5AA9-BD28-6CA4-B21A5DC6EDBE}"/>
              </a:ext>
            </a:extLst>
          </p:cNvPr>
          <p:cNvSpPr/>
          <p:nvPr/>
        </p:nvSpPr>
        <p:spPr>
          <a:xfrm>
            <a:off x="6727105" y="2525715"/>
            <a:ext cx="2765311" cy="686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35051">
              <a:lnSpc>
                <a:spcPct val="110000"/>
              </a:lnSpc>
            </a:pPr>
            <a:endParaRPr lang="pt-BR" sz="1945" noProof="0" dirty="0">
              <a:latin typeface="+mj-lt"/>
            </a:endParaRPr>
          </a:p>
        </p:txBody>
      </p:sp>
      <p:sp>
        <p:nvSpPr>
          <p:cNvPr id="27" name="Google Shape;212;p10">
            <a:extLst>
              <a:ext uri="{FF2B5EF4-FFF2-40B4-BE49-F238E27FC236}">
                <a16:creationId xmlns:a16="http://schemas.microsoft.com/office/drawing/2014/main" id="{2097CCE1-AA31-937C-3ED8-E3F76F89E00B}"/>
              </a:ext>
            </a:extLst>
          </p:cNvPr>
          <p:cNvSpPr/>
          <p:nvPr/>
        </p:nvSpPr>
        <p:spPr>
          <a:xfrm>
            <a:off x="6685748" y="1841456"/>
            <a:ext cx="103596" cy="3088560"/>
          </a:xfrm>
          <a:custGeom>
            <a:avLst/>
            <a:gdLst/>
            <a:ahLst/>
            <a:cxnLst/>
            <a:rect l="l" t="t" r="r" b="b"/>
            <a:pathLst>
              <a:path w="69868" h="3537077" extrusionOk="0">
                <a:moveTo>
                  <a:pt x="69868" y="0"/>
                </a:moveTo>
                <a:lnTo>
                  <a:pt x="69868" y="0"/>
                </a:lnTo>
                <a:lnTo>
                  <a:pt x="69868" y="3537077"/>
                </a:lnTo>
                <a:lnTo>
                  <a:pt x="69868" y="3537077"/>
                </a:lnTo>
                <a:cubicBezTo>
                  <a:pt x="31281" y="3537077"/>
                  <a:pt x="0" y="3505796"/>
                  <a:pt x="0" y="3467209"/>
                </a:cubicBezTo>
                <a:lnTo>
                  <a:pt x="0" y="69868"/>
                </a:lnTo>
                <a:cubicBezTo>
                  <a:pt x="0" y="31307"/>
                  <a:pt x="31307" y="0"/>
                  <a:pt x="69868" y="0"/>
                </a:cubicBezTo>
                <a:close/>
              </a:path>
            </a:pathLst>
          </a:custGeom>
          <a:solidFill>
            <a:srgbClr val="04B0FF"/>
          </a:solidFill>
          <a:ln>
            <a:noFill/>
          </a:ln>
        </p:spPr>
        <p:txBody>
          <a:bodyPr spcFirstLastPara="1" wrap="square" lIns="63496" tIns="63496" rIns="63496" bIns="63496" anchor="ctr" anchorCtr="0">
            <a:noAutofit/>
          </a:bodyPr>
          <a:lstStyle/>
          <a:p>
            <a:endParaRPr lang="pt-BR" sz="1250" noProof="0" dirty="0"/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31813BB4-4827-FE6D-6D32-EB30DED26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Google Shape;185;p10">
            <a:extLst>
              <a:ext uri="{FF2B5EF4-FFF2-40B4-BE49-F238E27FC236}">
                <a16:creationId xmlns:a16="http://schemas.microsoft.com/office/drawing/2014/main" id="{3D4709D5-6A91-C9A6-03DA-FA11B75FF4CE}"/>
              </a:ext>
            </a:extLst>
          </p:cNvPr>
          <p:cNvSpPr/>
          <p:nvPr/>
        </p:nvSpPr>
        <p:spPr>
          <a:xfrm>
            <a:off x="680250" y="6167980"/>
            <a:ext cx="5479980" cy="391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/>
            <a:r>
              <a:rPr lang="pt-BR" sz="1400" b="1" dirty="0">
                <a:solidFill>
                  <a:srgbClr val="444444"/>
                </a:solidFill>
                <a:latin typeface="+mj-lt"/>
                <a:cs typeface="Segoe UI" panose="020B0502040204020203" pitchFamily="34" charset="0"/>
              </a:rPr>
              <a:t>*</a:t>
            </a:r>
            <a:r>
              <a:rPr lang="pt-BR" sz="1200" dirty="0">
                <a:solidFill>
                  <a:srgbClr val="444444"/>
                </a:solidFill>
                <a:latin typeface="+mj-lt"/>
                <a:cs typeface="Segoe UI" panose="020B0502040204020203" pitchFamily="34" charset="0"/>
              </a:rPr>
              <a:t>O item 2.2.5 prevê o reequilíbrio em favor da Concessionária especificamente em caso de atraso na disponibilização dos dados da prestadora dos serviços de água.</a:t>
            </a:r>
          </a:p>
        </p:txBody>
      </p:sp>
    </p:spTree>
    <p:extLst>
      <p:ext uri="{BB962C8B-B14F-4D97-AF65-F5344CB8AC3E}">
        <p14:creationId xmlns:p14="http://schemas.microsoft.com/office/powerpoint/2010/main" val="1967014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82C84-B92C-D0C2-B241-57DB46741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Logotipo&#10;&#10;Descrição gerada automaticamente">
            <a:extLst>
              <a:ext uri="{FF2B5EF4-FFF2-40B4-BE49-F238E27FC236}">
                <a16:creationId xmlns:a16="http://schemas.microsoft.com/office/drawing/2014/main" id="{B53F2803-9ABA-7E1F-6E64-928FB343B6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8615" y="0"/>
            <a:ext cx="1123385" cy="1123385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D0AF6E5D-AB0D-45E1-3735-B0011EFEF913}"/>
              </a:ext>
            </a:extLst>
          </p:cNvPr>
          <p:cNvSpPr txBox="1"/>
          <p:nvPr/>
        </p:nvSpPr>
        <p:spPr>
          <a:xfrm>
            <a:off x="314048" y="272399"/>
            <a:ext cx="11415936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pt-BR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>
              <a:defRPr sz="3600" b="1">
                <a:solidFill>
                  <a:srgbClr val="04B0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atin typeface="+mn-lt"/>
              </a:rPr>
              <a:t>Inadimplência e mecanismos de mitigação</a:t>
            </a: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F9C91BDC-A90F-EAA7-C1B1-C480F34873D8}"/>
              </a:ext>
            </a:extLst>
          </p:cNvPr>
          <p:cNvSpPr/>
          <p:nvPr/>
        </p:nvSpPr>
        <p:spPr>
          <a:xfrm>
            <a:off x="515914" y="914535"/>
            <a:ext cx="3441722" cy="686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pt-BR" sz="2400" b="1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pt-BR" sz="2400" b="1" noProof="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0" name="Text 4">
            <a:extLst>
              <a:ext uri="{FF2B5EF4-FFF2-40B4-BE49-F238E27FC236}">
                <a16:creationId xmlns:a16="http://schemas.microsoft.com/office/drawing/2014/main" id="{44EEA8A0-D42B-587F-0017-21FFA1829317}"/>
              </a:ext>
            </a:extLst>
          </p:cNvPr>
          <p:cNvSpPr/>
          <p:nvPr/>
        </p:nvSpPr>
        <p:spPr>
          <a:xfrm>
            <a:off x="493724" y="914535"/>
            <a:ext cx="4316311" cy="686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endParaRPr lang="pt-BR" sz="2400" b="1" noProof="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0" name="Text 10">
            <a:extLst>
              <a:ext uri="{FF2B5EF4-FFF2-40B4-BE49-F238E27FC236}">
                <a16:creationId xmlns:a16="http://schemas.microsoft.com/office/drawing/2014/main" id="{15DC25F8-3534-BA28-826E-9B0D7C24C812}"/>
              </a:ext>
            </a:extLst>
          </p:cNvPr>
          <p:cNvSpPr/>
          <p:nvPr/>
        </p:nvSpPr>
        <p:spPr>
          <a:xfrm>
            <a:off x="596041" y="3505647"/>
            <a:ext cx="4797392" cy="1434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t-BR" altLang="pt-BR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2" name="Retângulo: Cantos Arredondados 51">
            <a:extLst>
              <a:ext uri="{FF2B5EF4-FFF2-40B4-BE49-F238E27FC236}">
                <a16:creationId xmlns:a16="http://schemas.microsoft.com/office/drawing/2014/main" id="{7027B693-2132-4289-6C16-FC4EAA8E6FC8}"/>
              </a:ext>
            </a:extLst>
          </p:cNvPr>
          <p:cNvSpPr/>
          <p:nvPr/>
        </p:nvSpPr>
        <p:spPr>
          <a:xfrm>
            <a:off x="314048" y="1160352"/>
            <a:ext cx="11275786" cy="266734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 sz="1945" b="1" dirty="0">
              <a:solidFill>
                <a:schemeClr val="bg2"/>
              </a:solidFill>
            </a:endParaRPr>
          </a:p>
        </p:txBody>
      </p:sp>
      <p:sp>
        <p:nvSpPr>
          <p:cNvPr id="54" name="Text 4">
            <a:extLst>
              <a:ext uri="{FF2B5EF4-FFF2-40B4-BE49-F238E27FC236}">
                <a16:creationId xmlns:a16="http://schemas.microsoft.com/office/drawing/2014/main" id="{60AD846E-566D-C7D2-E70D-177A6ACEC954}"/>
              </a:ext>
            </a:extLst>
          </p:cNvPr>
          <p:cNvSpPr/>
          <p:nvPr/>
        </p:nvSpPr>
        <p:spPr>
          <a:xfrm>
            <a:off x="1386473" y="1229463"/>
            <a:ext cx="3020149" cy="686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35051">
              <a:lnSpc>
                <a:spcPct val="110000"/>
              </a:lnSpc>
            </a:pPr>
            <a:r>
              <a:rPr lang="pt-BR" sz="2400" b="1" dirty="0">
                <a:solidFill>
                  <a:srgbClr val="04B0FF"/>
                </a:solidFill>
                <a:ea typeface="Noto Sans SC" pitchFamily="34" charset="-122"/>
                <a:cs typeface="Segoe UI" panose="020B0502040204020203" pitchFamily="34" charset="0"/>
              </a:rPr>
              <a:t>Matriz de riscos</a:t>
            </a:r>
            <a:endParaRPr lang="pt-BR" sz="2400" dirty="0">
              <a:solidFill>
                <a:srgbClr val="04B0FF"/>
              </a:solidFill>
              <a:cs typeface="Segoe UI" panose="020B0502040204020203" pitchFamily="34" charset="0"/>
            </a:endParaRPr>
          </a:p>
        </p:txBody>
      </p:sp>
      <p:sp>
        <p:nvSpPr>
          <p:cNvPr id="55" name="Shape 3">
            <a:extLst>
              <a:ext uri="{FF2B5EF4-FFF2-40B4-BE49-F238E27FC236}">
                <a16:creationId xmlns:a16="http://schemas.microsoft.com/office/drawing/2014/main" id="{736BF204-C802-3AF0-D5C7-C35711039467}"/>
              </a:ext>
            </a:extLst>
          </p:cNvPr>
          <p:cNvSpPr/>
          <p:nvPr/>
        </p:nvSpPr>
        <p:spPr>
          <a:xfrm>
            <a:off x="687100" y="1330055"/>
            <a:ext cx="490604" cy="475231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4B0FF">
              <a:alpha val="20000"/>
            </a:srgbClr>
          </a:solidFill>
          <a:ln>
            <a:solidFill>
              <a:srgbClr val="04B0FF"/>
            </a:solidFill>
          </a:ln>
        </p:spPr>
        <p:txBody>
          <a:bodyPr/>
          <a:lstStyle/>
          <a:p>
            <a:endParaRPr lang="pt-BR" sz="125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BE8D5A7A-EC19-05E8-6D22-BDBBA53325AB}"/>
              </a:ext>
            </a:extLst>
          </p:cNvPr>
          <p:cNvSpPr/>
          <p:nvPr/>
        </p:nvSpPr>
        <p:spPr>
          <a:xfrm>
            <a:off x="675070" y="2117244"/>
            <a:ext cx="10737862" cy="1349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444444"/>
                </a:solidFill>
                <a:cs typeface="Segoe UI" panose="020B0502040204020203" pitchFamily="34" charset="0"/>
              </a:rPr>
              <a:t>O itens C7 e C8 da Matriz de Riscos (Anexo 5 do Contrato) atribuem à Concessionária os riscos pela inadimplência dos:</a:t>
            </a:r>
          </a:p>
          <a:p>
            <a:pPr marL="285750" lvl="0" indent="-28575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t-BR" altLang="pt-BR" sz="1400" dirty="0">
              <a:solidFill>
                <a:srgbClr val="444444"/>
              </a:solidFill>
              <a:cs typeface="Segoe UI" panose="020B0502040204020203" pitchFamily="34" charset="0"/>
            </a:endParaRPr>
          </a:p>
          <a:p>
            <a:pPr marL="857250" lvl="1" indent="-400050" algn="just" fontAlgn="base">
              <a:spcBef>
                <a:spcPct val="0"/>
              </a:spcBef>
              <a:spcAft>
                <a:spcPct val="0"/>
              </a:spcAft>
              <a:buFont typeface="+mj-lt"/>
              <a:buAutoNum type="romanLcPeriod"/>
            </a:pPr>
            <a:r>
              <a:rPr lang="pt-BR" altLang="pt-BR" sz="1400" b="1" dirty="0">
                <a:solidFill>
                  <a:srgbClr val="444444"/>
                </a:solidFill>
                <a:cs typeface="Segoe UI" panose="020B0502040204020203" pitchFamily="34" charset="0"/>
              </a:rPr>
              <a:t>usuários</a:t>
            </a:r>
            <a:r>
              <a:rPr lang="pt-BR" altLang="pt-BR" sz="1400" dirty="0">
                <a:solidFill>
                  <a:srgbClr val="444444"/>
                </a:solidFill>
                <a:cs typeface="Segoe UI" panose="020B0502040204020203" pitchFamily="34" charset="0"/>
              </a:rPr>
              <a:t>, em relação à Tarifa de RSD, que implique em alteração do volume de receita tarifária prevista no </a:t>
            </a:r>
            <a:r>
              <a:rPr lang="pt-BR" altLang="pt-BR" sz="1400" b="1" dirty="0">
                <a:solidFill>
                  <a:srgbClr val="444444"/>
                </a:solidFill>
                <a:cs typeface="Segoe UI" panose="020B0502040204020203" pitchFamily="34" charset="0"/>
              </a:rPr>
              <a:t>estudo referencial do Poder Concedente</a:t>
            </a:r>
            <a:r>
              <a:rPr lang="pt-BR" altLang="pt-BR" sz="1400" dirty="0">
                <a:solidFill>
                  <a:srgbClr val="444444"/>
                </a:solidFill>
                <a:cs typeface="Segoe UI" panose="020B0502040204020203" pitchFamily="34" charset="0"/>
              </a:rPr>
              <a:t>; e </a:t>
            </a:r>
          </a:p>
          <a:p>
            <a:pPr marL="857250" lvl="1" indent="-400050" algn="just" fontAlgn="base">
              <a:spcBef>
                <a:spcPct val="0"/>
              </a:spcBef>
              <a:spcAft>
                <a:spcPct val="0"/>
              </a:spcAft>
              <a:buFont typeface="+mj-lt"/>
              <a:buAutoNum type="romanLcPeriod"/>
            </a:pPr>
            <a:r>
              <a:rPr lang="pt-BR" altLang="pt-BR" sz="1400" b="1" dirty="0">
                <a:solidFill>
                  <a:srgbClr val="444444"/>
                </a:solidFill>
                <a:cs typeface="Segoe UI" panose="020B0502040204020203" pitchFamily="34" charset="0"/>
              </a:rPr>
              <a:t>municípios</a:t>
            </a:r>
            <a:r>
              <a:rPr lang="pt-BR" altLang="pt-BR" sz="1400" dirty="0">
                <a:solidFill>
                  <a:srgbClr val="444444"/>
                </a:solidFill>
                <a:cs typeface="Segoe UI" panose="020B0502040204020203" pitchFamily="34" charset="0"/>
              </a:rPr>
              <a:t>, em relação à Tarifa de RPU, que implique em volume de receita maior ou menor do que o previsto no </a:t>
            </a:r>
            <a:r>
              <a:rPr lang="pt-BR" altLang="pt-BR" sz="1400" b="1" dirty="0">
                <a:solidFill>
                  <a:srgbClr val="444444"/>
                </a:solidFill>
                <a:cs typeface="Segoe UI" panose="020B0502040204020203" pitchFamily="34" charset="0"/>
              </a:rPr>
              <a:t>estudo referencial do Poder Concedente</a:t>
            </a:r>
            <a:r>
              <a:rPr lang="pt-BR" altLang="pt-BR" sz="1400" dirty="0">
                <a:solidFill>
                  <a:srgbClr val="444444"/>
                </a:solidFill>
                <a:cs typeface="Segoe UI" panose="020B0502040204020203" pitchFamily="34" charset="0"/>
              </a:rPr>
              <a:t>.</a:t>
            </a:r>
          </a:p>
          <a:p>
            <a:pPr marL="285750" indent="-28575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t-BR" altLang="pt-BR" sz="1400" dirty="0">
              <a:solidFill>
                <a:srgbClr val="444444"/>
              </a:solidFill>
              <a:cs typeface="Segoe UI" panose="020B0502040204020203" pitchFamily="34" charset="0"/>
            </a:endParaRPr>
          </a:p>
          <a:p>
            <a:pPr marL="285750" indent="-28575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sz="1400" dirty="0">
                <a:solidFill>
                  <a:srgbClr val="444444"/>
                </a:solidFill>
                <a:cs typeface="Segoe UI" panose="020B0502040204020203" pitchFamily="34" charset="0"/>
              </a:rPr>
              <a:t>Contudo, a Concessionária não deve ser penalizada por projeções eventualmente inadequadas realizadas pelo Poder Concedente. Além disso, o Edital não prevê mecanismos eficazes para solução das inadimplências.</a:t>
            </a:r>
          </a:p>
        </p:txBody>
      </p:sp>
      <p:pic>
        <p:nvPicPr>
          <p:cNvPr id="57" name="Gráfico 56" descr="Lupa com preenchimento sólido">
            <a:extLst>
              <a:ext uri="{FF2B5EF4-FFF2-40B4-BE49-F238E27FC236}">
                <a16:creationId xmlns:a16="http://schemas.microsoft.com/office/drawing/2014/main" id="{02979506-D88F-7A61-B2B9-EC17E5043C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728" y="1382991"/>
            <a:ext cx="395348" cy="395348"/>
          </a:xfrm>
          <a:prstGeom prst="rect">
            <a:avLst/>
          </a:prstGeom>
        </p:spPr>
      </p:pic>
      <p:sp>
        <p:nvSpPr>
          <p:cNvPr id="75" name="Text 4">
            <a:extLst>
              <a:ext uri="{FF2B5EF4-FFF2-40B4-BE49-F238E27FC236}">
                <a16:creationId xmlns:a16="http://schemas.microsoft.com/office/drawing/2014/main" id="{E033FBA0-699B-10D4-8D8D-B7383443F2DF}"/>
              </a:ext>
            </a:extLst>
          </p:cNvPr>
          <p:cNvSpPr/>
          <p:nvPr/>
        </p:nvSpPr>
        <p:spPr>
          <a:xfrm>
            <a:off x="7273523" y="883527"/>
            <a:ext cx="4316311" cy="686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endParaRPr lang="pt-BR" sz="2400" b="1" noProof="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Google Shape;211;p10">
            <a:extLst>
              <a:ext uri="{FF2B5EF4-FFF2-40B4-BE49-F238E27FC236}">
                <a16:creationId xmlns:a16="http://schemas.microsoft.com/office/drawing/2014/main" id="{5C78BAEF-3739-6F37-708E-0744A59B282C}"/>
              </a:ext>
            </a:extLst>
          </p:cNvPr>
          <p:cNvSpPr/>
          <p:nvPr/>
        </p:nvSpPr>
        <p:spPr>
          <a:xfrm>
            <a:off x="314049" y="4100100"/>
            <a:ext cx="11275786" cy="2361085"/>
          </a:xfrm>
          <a:custGeom>
            <a:avLst/>
            <a:gdLst/>
            <a:ahLst/>
            <a:cxnLst/>
            <a:rect l="l" t="t" r="r" b="b"/>
            <a:pathLst>
              <a:path w="11458384" h="3537077" extrusionOk="0">
                <a:moveTo>
                  <a:pt x="69868" y="0"/>
                </a:moveTo>
                <a:lnTo>
                  <a:pt x="11318634" y="0"/>
                </a:lnTo>
                <a:cubicBezTo>
                  <a:pt x="11395816" y="0"/>
                  <a:pt x="11458384" y="62568"/>
                  <a:pt x="11458384" y="139750"/>
                </a:cubicBezTo>
                <a:lnTo>
                  <a:pt x="11458384" y="3397327"/>
                </a:lnTo>
                <a:cubicBezTo>
                  <a:pt x="11458384" y="3474509"/>
                  <a:pt x="11395816" y="3537077"/>
                  <a:pt x="11318634" y="3537077"/>
                </a:cubicBezTo>
                <a:lnTo>
                  <a:pt x="69868" y="3537077"/>
                </a:lnTo>
                <a:cubicBezTo>
                  <a:pt x="31281" y="3537077"/>
                  <a:pt x="0" y="3505796"/>
                  <a:pt x="0" y="3467209"/>
                </a:cubicBezTo>
                <a:lnTo>
                  <a:pt x="0" y="69868"/>
                </a:lnTo>
                <a:cubicBezTo>
                  <a:pt x="0" y="31307"/>
                  <a:pt x="31307" y="0"/>
                  <a:pt x="69868" y="0"/>
                </a:cubicBezTo>
                <a:close/>
              </a:path>
            </a:pathLst>
          </a:custGeom>
          <a:solidFill>
            <a:schemeClr val="bg1">
              <a:lumMod val="85000"/>
              <a:alpha val="20000"/>
            </a:schemeClr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5C70937F-FC1E-594D-96D2-CDBF7001747D}"/>
              </a:ext>
            </a:extLst>
          </p:cNvPr>
          <p:cNvSpPr/>
          <p:nvPr/>
        </p:nvSpPr>
        <p:spPr>
          <a:xfrm>
            <a:off x="525899" y="4288738"/>
            <a:ext cx="595313" cy="630565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4B0FF">
              <a:alpha val="20000"/>
            </a:srgbClr>
          </a:solidFill>
          <a:ln>
            <a:solidFill>
              <a:srgbClr val="04B0FF"/>
            </a:solidFill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8E41D3A9-5AC4-B13E-E52B-EBEECEE0E9B9}"/>
              </a:ext>
            </a:extLst>
          </p:cNvPr>
          <p:cNvSpPr/>
          <p:nvPr/>
        </p:nvSpPr>
        <p:spPr>
          <a:xfrm>
            <a:off x="1445750" y="4538608"/>
            <a:ext cx="4559908" cy="255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>
              <a:lnSpc>
                <a:spcPct val="110000"/>
              </a:lnSpc>
            </a:pPr>
            <a:r>
              <a:rPr lang="pt-BR" sz="2400" b="1" noProof="0" dirty="0">
                <a:solidFill>
                  <a:srgbClr val="04B0FF"/>
                </a:solidFill>
                <a:ea typeface="Noto Sans SC" pitchFamily="34" charset="-122"/>
                <a:cs typeface="Segoe UI" panose="020B0502040204020203" pitchFamily="34" charset="0"/>
              </a:rPr>
              <a:t>Providências mitigadoras</a:t>
            </a:r>
            <a:endParaRPr lang="pt-BR" sz="2400" noProof="0" dirty="0">
              <a:solidFill>
                <a:srgbClr val="04B0FF"/>
              </a:solidFill>
              <a:cs typeface="Segoe UI" panose="020B0502040204020203" pitchFamily="34" charset="0"/>
            </a:endParaRPr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73729430-81BD-D0CC-58F1-20040314FFF3}"/>
              </a:ext>
            </a:extLst>
          </p:cNvPr>
          <p:cNvSpPr/>
          <p:nvPr/>
        </p:nvSpPr>
        <p:spPr>
          <a:xfrm>
            <a:off x="614146" y="4418472"/>
            <a:ext cx="418820" cy="397212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04B0FF"/>
          </a:solidFill>
          <a:ln>
            <a:solidFill>
              <a:srgbClr val="04B0FF"/>
            </a:solidFill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CEF61022-FF2E-162D-598A-E9AFB72A6017}"/>
              </a:ext>
            </a:extLst>
          </p:cNvPr>
          <p:cNvSpPr/>
          <p:nvPr/>
        </p:nvSpPr>
        <p:spPr>
          <a:xfrm>
            <a:off x="803553" y="5179142"/>
            <a:ext cx="304626" cy="30566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04B0FF"/>
          </a:solidFill>
          <a:ln>
            <a:solidFill>
              <a:srgbClr val="04B0FF"/>
            </a:solidFill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EF29307-29DB-E56F-9F4F-79810A20E4E8}"/>
              </a:ext>
            </a:extLst>
          </p:cNvPr>
          <p:cNvSpPr txBox="1"/>
          <p:nvPr/>
        </p:nvSpPr>
        <p:spPr>
          <a:xfrm>
            <a:off x="1309834" y="5064714"/>
            <a:ext cx="101928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>
                <a:solidFill>
                  <a:srgbClr val="444444"/>
                </a:solidFill>
                <a:cs typeface="Segoe UI" panose="020B0502040204020203" pitchFamily="34" charset="0"/>
              </a:rPr>
              <a:t>Sugerimos a apresentação de </a:t>
            </a:r>
            <a:r>
              <a:rPr lang="pt-BR" sz="1600" b="1" dirty="0">
                <a:solidFill>
                  <a:srgbClr val="444444"/>
                </a:solidFill>
                <a:cs typeface="Segoe UI" panose="020B0502040204020203" pitchFamily="34" charset="0"/>
              </a:rPr>
              <a:t>pedido de esclarecimento</a:t>
            </a:r>
            <a:r>
              <a:rPr lang="pt-BR" sz="1600" dirty="0">
                <a:solidFill>
                  <a:srgbClr val="444444"/>
                </a:solidFill>
                <a:cs typeface="Segoe UI" panose="020B0502040204020203" pitchFamily="34" charset="0"/>
              </a:rPr>
              <a:t> para </a:t>
            </a:r>
            <a:r>
              <a:rPr lang="pt-BR" sz="1600" b="1" dirty="0">
                <a:solidFill>
                  <a:srgbClr val="444444"/>
                </a:solidFill>
                <a:cs typeface="Segoe UI" panose="020B0502040204020203" pitchFamily="34" charset="0"/>
              </a:rPr>
              <a:t>(i)</a:t>
            </a:r>
            <a:r>
              <a:rPr lang="pt-BR" sz="1600" dirty="0">
                <a:solidFill>
                  <a:srgbClr val="444444"/>
                </a:solidFill>
                <a:cs typeface="Segoe UI" panose="020B0502040204020203" pitchFamily="34" charset="0"/>
              </a:rPr>
              <a:t> definição de um limite de responsabilidade da Concessionária pelos inadimplementos dos usuários e dos municípios, com o respectivo direito de reequilíbrio caso superado esse limite; </a:t>
            </a:r>
            <a:r>
              <a:rPr lang="pt-BR" sz="1600" b="1" dirty="0">
                <a:solidFill>
                  <a:srgbClr val="444444"/>
                </a:solidFill>
                <a:cs typeface="Segoe UI" panose="020B0502040204020203" pitchFamily="34" charset="0"/>
              </a:rPr>
              <a:t>(ii)  </a:t>
            </a:r>
            <a:r>
              <a:rPr lang="pt-BR" sz="1600" dirty="0">
                <a:solidFill>
                  <a:srgbClr val="444444"/>
                </a:solidFill>
                <a:cs typeface="Segoe UI" panose="020B0502040204020203" pitchFamily="34" charset="0"/>
              </a:rPr>
              <a:t>inscrição do usuário inadimplente em cadastros de proteção ao crédito, como SPC e Serasa, bem </a:t>
            </a:r>
            <a:r>
              <a:rPr lang="pt-BR" sz="1600" b="1" dirty="0">
                <a:solidFill>
                  <a:srgbClr val="444444"/>
                </a:solidFill>
                <a:cs typeface="Segoe UI" panose="020B0502040204020203" pitchFamily="34" charset="0"/>
              </a:rPr>
              <a:t>como afastando expressamente a necessidade de judicialização</a:t>
            </a:r>
            <a:r>
              <a:rPr lang="pt-BR" sz="1600" dirty="0">
                <a:solidFill>
                  <a:srgbClr val="444444"/>
                </a:solidFill>
                <a:cs typeface="Segoe UI" panose="020B0502040204020203" pitchFamily="34" charset="0"/>
              </a:rPr>
              <a:t>; e </a:t>
            </a:r>
            <a:r>
              <a:rPr lang="pt-BR" sz="1600" b="1" dirty="0">
                <a:solidFill>
                  <a:srgbClr val="444444"/>
                </a:solidFill>
                <a:cs typeface="Segoe UI" panose="020B0502040204020203" pitchFamily="34" charset="0"/>
              </a:rPr>
              <a:t>(</a:t>
            </a:r>
            <a:r>
              <a:rPr lang="pt-BR" sz="1600" b="1" dirty="0" err="1">
                <a:solidFill>
                  <a:srgbClr val="444444"/>
                </a:solidFill>
                <a:cs typeface="Segoe UI" panose="020B0502040204020203" pitchFamily="34" charset="0"/>
              </a:rPr>
              <a:t>iii</a:t>
            </a:r>
            <a:r>
              <a:rPr lang="pt-BR" sz="1600" b="1" dirty="0">
                <a:solidFill>
                  <a:srgbClr val="444444"/>
                </a:solidFill>
                <a:cs typeface="Segoe UI" panose="020B0502040204020203" pitchFamily="34" charset="0"/>
              </a:rPr>
              <a:t>) </a:t>
            </a:r>
            <a:r>
              <a:rPr lang="pt-BR" sz="1600" dirty="0">
                <a:solidFill>
                  <a:srgbClr val="444444"/>
                </a:solidFill>
                <a:cs typeface="Segoe UI" panose="020B0502040204020203" pitchFamily="34" charset="0"/>
              </a:rPr>
              <a:t>aplicação subsidiária da Lei Federal 14.133/2021 para autorizar a suspensão dos serviços relativos aos RPU em caso de inadimplência dos Municípios.</a:t>
            </a: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25A0AF53-9C6C-4BD5-B2E0-073571E41A51}"/>
              </a:ext>
            </a:extLst>
          </p:cNvPr>
          <p:cNvSpPr/>
          <p:nvPr/>
        </p:nvSpPr>
        <p:spPr>
          <a:xfrm>
            <a:off x="689326" y="4846731"/>
            <a:ext cx="2765311" cy="686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35051">
              <a:lnSpc>
                <a:spcPct val="110000"/>
              </a:lnSpc>
            </a:pPr>
            <a:endParaRPr lang="pt-BR" sz="1945" noProof="0" dirty="0">
              <a:latin typeface="+mj-lt"/>
            </a:endParaRPr>
          </a:p>
        </p:txBody>
      </p:sp>
      <p:sp>
        <p:nvSpPr>
          <p:cNvPr id="20" name="Google Shape;212;p10">
            <a:extLst>
              <a:ext uri="{FF2B5EF4-FFF2-40B4-BE49-F238E27FC236}">
                <a16:creationId xmlns:a16="http://schemas.microsoft.com/office/drawing/2014/main" id="{DD439CD5-C24F-89E2-02F3-920CC6BF6A3D}"/>
              </a:ext>
            </a:extLst>
          </p:cNvPr>
          <p:cNvSpPr/>
          <p:nvPr/>
        </p:nvSpPr>
        <p:spPr>
          <a:xfrm>
            <a:off x="314049" y="4100100"/>
            <a:ext cx="118566" cy="2361085"/>
          </a:xfrm>
          <a:custGeom>
            <a:avLst/>
            <a:gdLst/>
            <a:ahLst/>
            <a:cxnLst/>
            <a:rect l="l" t="t" r="r" b="b"/>
            <a:pathLst>
              <a:path w="69868" h="3537077" extrusionOk="0">
                <a:moveTo>
                  <a:pt x="69868" y="0"/>
                </a:moveTo>
                <a:lnTo>
                  <a:pt x="69868" y="0"/>
                </a:lnTo>
                <a:lnTo>
                  <a:pt x="69868" y="3537077"/>
                </a:lnTo>
                <a:lnTo>
                  <a:pt x="69868" y="3537077"/>
                </a:lnTo>
                <a:cubicBezTo>
                  <a:pt x="31281" y="3537077"/>
                  <a:pt x="0" y="3505796"/>
                  <a:pt x="0" y="3467209"/>
                </a:cubicBezTo>
                <a:lnTo>
                  <a:pt x="0" y="69868"/>
                </a:lnTo>
                <a:cubicBezTo>
                  <a:pt x="0" y="31307"/>
                  <a:pt x="31307" y="0"/>
                  <a:pt x="69868" y="0"/>
                </a:cubicBezTo>
                <a:close/>
              </a:path>
            </a:pathLst>
          </a:custGeom>
          <a:solidFill>
            <a:srgbClr val="04B0FF"/>
          </a:solidFill>
          <a:ln>
            <a:solidFill>
              <a:srgbClr val="04B0FF"/>
            </a:solidFill>
          </a:ln>
        </p:spPr>
        <p:txBody>
          <a:bodyPr spcFirstLastPara="1" wrap="square" lIns="63496" tIns="63496" rIns="63496" bIns="63496" anchor="ctr" anchorCtr="0">
            <a:noAutofit/>
          </a:bodyPr>
          <a:lstStyle/>
          <a:p>
            <a:endParaRPr lang="pt-BR" sz="1250" noProof="0" dirty="0"/>
          </a:p>
        </p:txBody>
      </p:sp>
    </p:spTree>
    <p:extLst>
      <p:ext uri="{BB962C8B-B14F-4D97-AF65-F5344CB8AC3E}">
        <p14:creationId xmlns:p14="http://schemas.microsoft.com/office/powerpoint/2010/main" val="3911637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2922E-6E51-D733-318D-A05686B5D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ector: Angulado 2">
            <a:extLst>
              <a:ext uri="{FF2B5EF4-FFF2-40B4-BE49-F238E27FC236}">
                <a16:creationId xmlns:a16="http://schemas.microsoft.com/office/drawing/2014/main" id="{5C3EAA8B-7503-43BC-BEC0-7E8A8F9A3BA9}"/>
              </a:ext>
            </a:extLst>
          </p:cNvPr>
          <p:cNvCxnSpPr>
            <a:cxnSpLocks/>
            <a:endCxn id="46" idx="1"/>
          </p:cNvCxnSpPr>
          <p:nvPr/>
        </p:nvCxnSpPr>
        <p:spPr>
          <a:xfrm rot="16200000" flipH="1">
            <a:off x="-169112" y="2409301"/>
            <a:ext cx="1589104" cy="311617"/>
          </a:xfrm>
          <a:prstGeom prst="bentConnector2">
            <a:avLst/>
          </a:prstGeom>
          <a:ln>
            <a:solidFill>
              <a:srgbClr val="04B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: Angulado 33">
            <a:extLst>
              <a:ext uri="{FF2B5EF4-FFF2-40B4-BE49-F238E27FC236}">
                <a16:creationId xmlns:a16="http://schemas.microsoft.com/office/drawing/2014/main" id="{6EF0618F-07B1-ACAA-3834-DA6703354C56}"/>
              </a:ext>
            </a:extLst>
          </p:cNvPr>
          <p:cNvCxnSpPr>
            <a:cxnSpLocks/>
            <a:endCxn id="30" idx="1"/>
          </p:cNvCxnSpPr>
          <p:nvPr/>
        </p:nvCxnSpPr>
        <p:spPr>
          <a:xfrm rot="16200000" flipH="1">
            <a:off x="-1499505" y="3268157"/>
            <a:ext cx="4310238" cy="371962"/>
          </a:xfrm>
          <a:prstGeom prst="bentConnector2">
            <a:avLst/>
          </a:prstGeom>
          <a:ln>
            <a:solidFill>
              <a:srgbClr val="04B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Imagem 12" descr="Logotipo&#10;&#10;Descrição gerada automaticamente">
            <a:extLst>
              <a:ext uri="{FF2B5EF4-FFF2-40B4-BE49-F238E27FC236}">
                <a16:creationId xmlns:a16="http://schemas.microsoft.com/office/drawing/2014/main" id="{1A625F97-4BFF-51E5-EF1B-47269BA88F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8615" y="0"/>
            <a:ext cx="1123385" cy="1123385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C61BFB09-1C57-1F2D-927C-A6183B6386FB}"/>
              </a:ext>
            </a:extLst>
          </p:cNvPr>
          <p:cNvSpPr txBox="1"/>
          <p:nvPr/>
        </p:nvSpPr>
        <p:spPr>
          <a:xfrm>
            <a:off x="356381" y="120740"/>
            <a:ext cx="107926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pt-BR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>
              <a:defRPr sz="3600" b="1">
                <a:solidFill>
                  <a:srgbClr val="04B0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atin typeface="+mn-lt"/>
              </a:rPr>
              <a:t>Aspectos tributários: Reforma tributária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21779B82-F121-A75B-827C-55CAD2F4B4E3}"/>
              </a:ext>
            </a:extLst>
          </p:cNvPr>
          <p:cNvSpPr/>
          <p:nvPr/>
        </p:nvSpPr>
        <p:spPr>
          <a:xfrm>
            <a:off x="302593" y="968493"/>
            <a:ext cx="4229191" cy="794991"/>
          </a:xfrm>
          <a:prstGeom prst="roundRect">
            <a:avLst/>
          </a:prstGeom>
          <a:solidFill>
            <a:srgbClr val="04B0FF"/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50" noProof="0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B0E52B32-E3FC-41DE-E11C-2E1ECA3F832E}"/>
              </a:ext>
            </a:extLst>
          </p:cNvPr>
          <p:cNvSpPr/>
          <p:nvPr/>
        </p:nvSpPr>
        <p:spPr>
          <a:xfrm>
            <a:off x="5778834" y="968494"/>
            <a:ext cx="6019721" cy="4755578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 sz="1945" b="1" noProof="0" dirty="0">
              <a:solidFill>
                <a:schemeClr val="bg2"/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A7413C6-4257-910A-C7D4-24C35DFBF05B}"/>
              </a:ext>
            </a:extLst>
          </p:cNvPr>
          <p:cNvSpPr/>
          <p:nvPr/>
        </p:nvSpPr>
        <p:spPr>
          <a:xfrm>
            <a:off x="1111171" y="1000248"/>
            <a:ext cx="3305039" cy="686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pt-BR" sz="2400" b="1" dirty="0">
                <a:solidFill>
                  <a:schemeClr val="bg1"/>
                </a:solidFill>
                <a:latin typeface="+mj-lt"/>
                <a:cs typeface="Segoe UI" panose="020B0502040204020203" pitchFamily="34" charset="0"/>
              </a:rPr>
              <a:t>Reforma tributária</a:t>
            </a:r>
            <a:endParaRPr lang="pt-BR" sz="2400" b="1" noProof="0" dirty="0">
              <a:solidFill>
                <a:schemeClr val="bg1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15E89A61-5812-8295-BF8A-664C40C20154}"/>
              </a:ext>
            </a:extLst>
          </p:cNvPr>
          <p:cNvSpPr/>
          <p:nvPr/>
        </p:nvSpPr>
        <p:spPr>
          <a:xfrm>
            <a:off x="461580" y="1107329"/>
            <a:ext cx="490604" cy="475231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chemeClr val="bg2">
              <a:alpha val="20000"/>
            </a:schemeClr>
          </a:solidFill>
          <a:ln/>
        </p:spPr>
        <p:txBody>
          <a:bodyPr/>
          <a:lstStyle/>
          <a:p>
            <a:endParaRPr lang="pt-BR" sz="1250" noProof="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11B82A68-40E9-9A68-B945-5F55947156BC}"/>
              </a:ext>
            </a:extLst>
          </p:cNvPr>
          <p:cNvSpPr/>
          <p:nvPr/>
        </p:nvSpPr>
        <p:spPr>
          <a:xfrm>
            <a:off x="6694642" y="1133929"/>
            <a:ext cx="4353275" cy="686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defRPr/>
            </a:pPr>
            <a:r>
              <a:rPr lang="pt-BR" sz="2400" b="1" noProof="0" dirty="0">
                <a:solidFill>
                  <a:srgbClr val="04B0FF"/>
                </a:solidFill>
              </a:rPr>
              <a:t>Impactos da manutenção do item </a:t>
            </a: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180F9D53-4B31-ED0B-0751-B38EFF850DFF}"/>
              </a:ext>
            </a:extLst>
          </p:cNvPr>
          <p:cNvSpPr/>
          <p:nvPr/>
        </p:nvSpPr>
        <p:spPr>
          <a:xfrm>
            <a:off x="6101045" y="1277402"/>
            <a:ext cx="425676" cy="450128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4B0FF"/>
          </a:solidFill>
          <a:ln>
            <a:solidFill>
              <a:srgbClr val="04B0FF"/>
            </a:solidFill>
          </a:ln>
        </p:spPr>
        <p:txBody>
          <a:bodyPr/>
          <a:lstStyle/>
          <a:p>
            <a:endParaRPr lang="pt-BR" sz="1250" noProof="0" dirty="0"/>
          </a:p>
        </p:txBody>
      </p:sp>
      <p:pic>
        <p:nvPicPr>
          <p:cNvPr id="42" name="Gráfico 41" descr="Lista de Verificação com preenchimento sólido">
            <a:extLst>
              <a:ext uri="{FF2B5EF4-FFF2-40B4-BE49-F238E27FC236}">
                <a16:creationId xmlns:a16="http://schemas.microsoft.com/office/drawing/2014/main" id="{72809716-7B54-911E-E4D3-5ECA2CEA0E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16494" y="1295713"/>
            <a:ext cx="394778" cy="394778"/>
          </a:xfrm>
          <a:prstGeom prst="rect">
            <a:avLst/>
          </a:prstGeom>
        </p:spPr>
      </p:pic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31BB75CE-A7A7-D768-EA39-EA8669EDAFFF}"/>
              </a:ext>
            </a:extLst>
          </p:cNvPr>
          <p:cNvSpPr/>
          <p:nvPr/>
        </p:nvSpPr>
        <p:spPr>
          <a:xfrm>
            <a:off x="781249" y="2258335"/>
            <a:ext cx="4743794" cy="2202654"/>
          </a:xfrm>
          <a:prstGeom prst="roundRect">
            <a:avLst/>
          </a:prstGeom>
          <a:noFill/>
          <a:ln>
            <a:solidFill>
              <a:srgbClr val="04B0F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50" noProof="0" dirty="0"/>
          </a:p>
        </p:txBody>
      </p:sp>
      <p:sp>
        <p:nvSpPr>
          <p:cNvPr id="55" name="Text 10">
            <a:extLst>
              <a:ext uri="{FF2B5EF4-FFF2-40B4-BE49-F238E27FC236}">
                <a16:creationId xmlns:a16="http://schemas.microsoft.com/office/drawing/2014/main" id="{BA5B2F3C-0842-3BCD-954E-2A6B40F30134}"/>
              </a:ext>
            </a:extLst>
          </p:cNvPr>
          <p:cNvSpPr/>
          <p:nvPr/>
        </p:nvSpPr>
        <p:spPr>
          <a:xfrm>
            <a:off x="831253" y="2705227"/>
            <a:ext cx="4585505" cy="1434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lvl="0" indent="-28575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sz="1500" dirty="0">
                <a:solidFill>
                  <a:srgbClr val="444444"/>
                </a:solidFill>
                <a:cs typeface="Segoe UI" panose="020B0502040204020203" pitchFamily="34" charset="0"/>
              </a:rPr>
              <a:t>A cl. 36.16 estabelece que a Concessionária deverá “</a:t>
            </a:r>
            <a:r>
              <a:rPr lang="pt-BR" altLang="pt-BR" sz="1500" i="1" dirty="0">
                <a:solidFill>
                  <a:srgbClr val="444444"/>
                </a:solidFill>
                <a:cs typeface="Segoe UI" panose="020B0502040204020203" pitchFamily="34" charset="0"/>
              </a:rPr>
              <a:t>considerar como premissa contratual, inclusive para efeitos de eventual reequilíbrio, a incidência tributária sem as modificações introduzidas pela Emenda</a:t>
            </a:r>
            <a:r>
              <a:rPr lang="pt-BR" altLang="pt-BR" sz="1500" dirty="0">
                <a:solidFill>
                  <a:srgbClr val="444444"/>
                </a:solidFill>
                <a:cs typeface="Segoe UI" panose="020B0502040204020203" pitchFamily="34" charset="0"/>
              </a:rPr>
              <a:t>”. </a:t>
            </a:r>
          </a:p>
          <a:p>
            <a:pPr marL="285750" lvl="0" indent="-28575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sz="1500" dirty="0">
                <a:solidFill>
                  <a:srgbClr val="444444"/>
                </a:solidFill>
                <a:cs typeface="Segoe UI" panose="020B0502040204020203" pitchFamily="34" charset="0"/>
              </a:rPr>
              <a:t>A Minuta de Contrato e a Matriz de Riscos já previram a possibilidade de reequilíbrio em decorrência do advento da Reforma Tributária (EC 123/2023). </a:t>
            </a:r>
          </a:p>
        </p:txBody>
      </p:sp>
      <p:sp>
        <p:nvSpPr>
          <p:cNvPr id="62" name="Google Shape;179;p10">
            <a:extLst>
              <a:ext uri="{FF2B5EF4-FFF2-40B4-BE49-F238E27FC236}">
                <a16:creationId xmlns:a16="http://schemas.microsoft.com/office/drawing/2014/main" id="{BB987ADD-D339-77C2-5DEF-663F4A57BE5D}"/>
              </a:ext>
            </a:extLst>
          </p:cNvPr>
          <p:cNvSpPr/>
          <p:nvPr/>
        </p:nvSpPr>
        <p:spPr>
          <a:xfrm>
            <a:off x="6705796" y="1911810"/>
            <a:ext cx="4833838" cy="686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>
              <a:lnSpc>
                <a:spcPct val="140000"/>
              </a:lnSpc>
            </a:pPr>
            <a:r>
              <a:rPr lang="pt-BR" sz="1400" b="1" dirty="0">
                <a:solidFill>
                  <a:srgbClr val="444444"/>
                </a:solidFill>
                <a:cs typeface="Segoe UI" panose="020B0502040204020203" pitchFamily="34" charset="0"/>
                <a:sym typeface="Liter"/>
              </a:rPr>
              <a:t>Quebra da isonomia:</a:t>
            </a:r>
            <a:r>
              <a:rPr lang="pt-BR" sz="1400" dirty="0">
                <a:solidFill>
                  <a:srgbClr val="444444"/>
                </a:solidFill>
                <a:cs typeface="Segoe UI" panose="020B0502040204020203" pitchFamily="34" charset="0"/>
                <a:sym typeface="Liter"/>
              </a:rPr>
              <a:t> impossibilidade de precificação adequada, afetando o critério objetivo de menor tarifa e o julgamento das propostas.</a:t>
            </a:r>
            <a:endParaRPr lang="pt-BR" sz="1400" dirty="0">
              <a:solidFill>
                <a:srgbClr val="444444"/>
              </a:solidFill>
              <a:cs typeface="Segoe UI" panose="020B0502040204020203" pitchFamily="34" charset="0"/>
            </a:endParaRPr>
          </a:p>
          <a:p>
            <a:pPr algn="just">
              <a:lnSpc>
                <a:spcPct val="140000"/>
              </a:lnSpc>
            </a:pPr>
            <a:endParaRPr lang="pt-BR" sz="14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5" name="Google Shape;182;p10">
            <a:extLst>
              <a:ext uri="{FF2B5EF4-FFF2-40B4-BE49-F238E27FC236}">
                <a16:creationId xmlns:a16="http://schemas.microsoft.com/office/drawing/2014/main" id="{CAE195AE-B667-34CB-BBAF-DB226F3B4D1B}"/>
              </a:ext>
            </a:extLst>
          </p:cNvPr>
          <p:cNvSpPr/>
          <p:nvPr/>
        </p:nvSpPr>
        <p:spPr>
          <a:xfrm>
            <a:off x="6694643" y="2916301"/>
            <a:ext cx="4833838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>
              <a:lnSpc>
                <a:spcPct val="140000"/>
              </a:lnSpc>
            </a:pPr>
            <a:r>
              <a:rPr lang="pt-BR" sz="1400" b="1" dirty="0">
                <a:solidFill>
                  <a:srgbClr val="444444"/>
                </a:solidFill>
                <a:cs typeface="Segoe UI" panose="020B0502040204020203" pitchFamily="34" charset="0"/>
                <a:sym typeface="Liter"/>
              </a:rPr>
              <a:t>Desequilíbrio estrutural: </a:t>
            </a:r>
            <a:r>
              <a:rPr lang="pt-BR" sz="1400" dirty="0">
                <a:solidFill>
                  <a:srgbClr val="444444"/>
                </a:solidFill>
                <a:cs typeface="Segoe UI" panose="020B0502040204020203" pitchFamily="34" charset="0"/>
              </a:rPr>
              <a:t>distorção da equação econômico-financeira desde a origem do contrato</a:t>
            </a:r>
          </a:p>
        </p:txBody>
      </p:sp>
      <p:sp>
        <p:nvSpPr>
          <p:cNvPr id="68" name="Google Shape;185;p10">
            <a:extLst>
              <a:ext uri="{FF2B5EF4-FFF2-40B4-BE49-F238E27FC236}">
                <a16:creationId xmlns:a16="http://schemas.microsoft.com/office/drawing/2014/main" id="{32F92E27-1941-8F5A-D6FF-6612AD5764F6}"/>
              </a:ext>
            </a:extLst>
          </p:cNvPr>
          <p:cNvSpPr/>
          <p:nvPr/>
        </p:nvSpPr>
        <p:spPr>
          <a:xfrm>
            <a:off x="6685174" y="3626582"/>
            <a:ext cx="4848216" cy="391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just">
              <a:lnSpc>
                <a:spcPct val="140000"/>
              </a:lnSpc>
            </a:pPr>
            <a:r>
              <a:rPr lang="pt-BR" sz="1400" b="1" dirty="0">
                <a:solidFill>
                  <a:srgbClr val="444444"/>
                </a:solidFill>
                <a:cs typeface="Segoe UI" panose="020B0502040204020203" pitchFamily="34" charset="0"/>
                <a:sym typeface="Liter"/>
              </a:rPr>
              <a:t>Insegurança jurídica: </a:t>
            </a:r>
            <a:r>
              <a:rPr lang="pt-BR" sz="1400" dirty="0">
                <a:solidFill>
                  <a:srgbClr val="444444"/>
                </a:solidFill>
                <a:cs typeface="Segoe UI" panose="020B0502040204020203" pitchFamily="34" charset="0"/>
              </a:rPr>
              <a:t>aumento do risco de disputas contratuais e judicialização</a:t>
            </a:r>
          </a:p>
        </p:txBody>
      </p:sp>
      <p:sp>
        <p:nvSpPr>
          <p:cNvPr id="11" name="Google Shape;268;p13">
            <a:extLst>
              <a:ext uri="{FF2B5EF4-FFF2-40B4-BE49-F238E27FC236}">
                <a16:creationId xmlns:a16="http://schemas.microsoft.com/office/drawing/2014/main" id="{68634B64-BD0B-7A06-6AEB-99FD77313A76}"/>
              </a:ext>
            </a:extLst>
          </p:cNvPr>
          <p:cNvSpPr/>
          <p:nvPr/>
        </p:nvSpPr>
        <p:spPr>
          <a:xfrm>
            <a:off x="6202624" y="1972893"/>
            <a:ext cx="292474" cy="256988"/>
          </a:xfrm>
          <a:custGeom>
            <a:avLst/>
            <a:gdLst/>
            <a:ahLst/>
            <a:cxnLst/>
            <a:rect l="l" t="t" r="r" b="b"/>
            <a:pathLst>
              <a:path w="444500" h="355600" extrusionOk="0">
                <a:moveTo>
                  <a:pt x="50701" y="-17294"/>
                </a:moveTo>
                <a:cubicBezTo>
                  <a:pt x="44172" y="-23822"/>
                  <a:pt x="33615" y="-23822"/>
                  <a:pt x="27156" y="-17294"/>
                </a:cubicBezTo>
                <a:cubicBezTo>
                  <a:pt x="20697" y="-10765"/>
                  <a:pt x="20628" y="-208"/>
                  <a:pt x="27087" y="6320"/>
                </a:cubicBezTo>
                <a:lnTo>
                  <a:pt x="393799" y="373033"/>
                </a:lnTo>
                <a:cubicBezTo>
                  <a:pt x="400328" y="379561"/>
                  <a:pt x="410885" y="379561"/>
                  <a:pt x="417344" y="373033"/>
                </a:cubicBezTo>
                <a:cubicBezTo>
                  <a:pt x="423803" y="366504"/>
                  <a:pt x="423872" y="355947"/>
                  <a:pt x="417344" y="349488"/>
                </a:cubicBezTo>
                <a:lnTo>
                  <a:pt x="223500" y="155575"/>
                </a:lnTo>
                <a:cubicBezTo>
                  <a:pt x="262811" y="154880"/>
                  <a:pt x="294481" y="122793"/>
                  <a:pt x="294481" y="83344"/>
                </a:cubicBezTo>
                <a:cubicBezTo>
                  <a:pt x="294481" y="43478"/>
                  <a:pt x="262116" y="11112"/>
                  <a:pt x="222250" y="11112"/>
                </a:cubicBezTo>
                <a:cubicBezTo>
                  <a:pt x="182801" y="11112"/>
                  <a:pt x="150713" y="42783"/>
                  <a:pt x="150019" y="82094"/>
                </a:cubicBezTo>
                <a:lnTo>
                  <a:pt x="50701" y="-17294"/>
                </a:lnTo>
                <a:close/>
                <a:moveTo>
                  <a:pt x="355600" y="200025"/>
                </a:moveTo>
                <a:cubicBezTo>
                  <a:pt x="343654" y="200025"/>
                  <a:pt x="332194" y="202386"/>
                  <a:pt x="321776" y="206693"/>
                </a:cubicBezTo>
                <a:lnTo>
                  <a:pt x="439847" y="324763"/>
                </a:lnTo>
                <a:cubicBezTo>
                  <a:pt x="442764" y="321012"/>
                  <a:pt x="444500" y="316290"/>
                  <a:pt x="444500" y="311150"/>
                </a:cubicBezTo>
                <a:lnTo>
                  <a:pt x="444500" y="288925"/>
                </a:lnTo>
                <a:cubicBezTo>
                  <a:pt x="444500" y="239822"/>
                  <a:pt x="404703" y="200025"/>
                  <a:pt x="355600" y="200025"/>
                </a:cubicBezTo>
                <a:close/>
                <a:moveTo>
                  <a:pt x="41602" y="67856"/>
                </a:moveTo>
                <a:cubicBezTo>
                  <a:pt x="26670" y="76537"/>
                  <a:pt x="16669" y="92650"/>
                  <a:pt x="16669" y="111125"/>
                </a:cubicBezTo>
                <a:cubicBezTo>
                  <a:pt x="16669" y="138767"/>
                  <a:pt x="39033" y="161131"/>
                  <a:pt x="66675" y="161131"/>
                </a:cubicBezTo>
                <a:cubicBezTo>
                  <a:pt x="85150" y="161131"/>
                  <a:pt x="101263" y="151130"/>
                  <a:pt x="109944" y="136198"/>
                </a:cubicBezTo>
                <a:lnTo>
                  <a:pt x="41602" y="67856"/>
                </a:lnTo>
                <a:close/>
                <a:moveTo>
                  <a:pt x="173772" y="200025"/>
                </a:moveTo>
                <a:cubicBezTo>
                  <a:pt x="136684" y="218013"/>
                  <a:pt x="111125" y="256074"/>
                  <a:pt x="111125" y="300038"/>
                </a:cubicBezTo>
                <a:lnTo>
                  <a:pt x="111125" y="311150"/>
                </a:lnTo>
                <a:cubicBezTo>
                  <a:pt x="111125" y="323443"/>
                  <a:pt x="121057" y="333375"/>
                  <a:pt x="133350" y="333375"/>
                </a:cubicBezTo>
                <a:lnTo>
                  <a:pt x="307122" y="333375"/>
                </a:lnTo>
                <a:lnTo>
                  <a:pt x="173772" y="200025"/>
                </a:lnTo>
                <a:close/>
                <a:moveTo>
                  <a:pt x="88900" y="200025"/>
                </a:moveTo>
                <a:cubicBezTo>
                  <a:pt x="39797" y="200025"/>
                  <a:pt x="0" y="239822"/>
                  <a:pt x="0" y="288925"/>
                </a:cubicBezTo>
                <a:lnTo>
                  <a:pt x="0" y="311150"/>
                </a:lnTo>
                <a:cubicBezTo>
                  <a:pt x="0" y="323443"/>
                  <a:pt x="9932" y="333375"/>
                  <a:pt x="22225" y="333375"/>
                </a:cubicBezTo>
                <a:lnTo>
                  <a:pt x="82441" y="333375"/>
                </a:lnTo>
                <a:cubicBezTo>
                  <a:pt x="79454" y="326569"/>
                  <a:pt x="77788" y="319068"/>
                  <a:pt x="77788" y="311150"/>
                </a:cubicBezTo>
                <a:lnTo>
                  <a:pt x="77788" y="300038"/>
                </a:lnTo>
                <a:cubicBezTo>
                  <a:pt x="77788" y="263088"/>
                  <a:pt x="91678" y="229334"/>
                  <a:pt x="114528" y="203775"/>
                </a:cubicBezTo>
                <a:cubicBezTo>
                  <a:pt x="106402" y="201345"/>
                  <a:pt x="97790" y="200025"/>
                  <a:pt x="88900" y="200025"/>
                </a:cubicBezTo>
                <a:close/>
                <a:moveTo>
                  <a:pt x="427831" y="111125"/>
                </a:moveTo>
                <a:cubicBezTo>
                  <a:pt x="427831" y="83526"/>
                  <a:pt x="405424" y="61119"/>
                  <a:pt x="377825" y="61119"/>
                </a:cubicBezTo>
                <a:cubicBezTo>
                  <a:pt x="350226" y="61119"/>
                  <a:pt x="327819" y="83526"/>
                  <a:pt x="327819" y="111125"/>
                </a:cubicBezTo>
                <a:cubicBezTo>
                  <a:pt x="327819" y="138724"/>
                  <a:pt x="350226" y="161131"/>
                  <a:pt x="377825" y="161131"/>
                </a:cubicBezTo>
                <a:cubicBezTo>
                  <a:pt x="405424" y="161131"/>
                  <a:pt x="427831" y="138724"/>
                  <a:pt x="427831" y="111125"/>
                </a:cubicBezTo>
                <a:close/>
              </a:path>
            </a:pathLst>
          </a:custGeom>
          <a:solidFill>
            <a:srgbClr val="04B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271;p13">
            <a:extLst>
              <a:ext uri="{FF2B5EF4-FFF2-40B4-BE49-F238E27FC236}">
                <a16:creationId xmlns:a16="http://schemas.microsoft.com/office/drawing/2014/main" id="{2F661F17-F814-0DE8-161E-4CFAF7620E38}"/>
              </a:ext>
            </a:extLst>
          </p:cNvPr>
          <p:cNvSpPr/>
          <p:nvPr/>
        </p:nvSpPr>
        <p:spPr>
          <a:xfrm>
            <a:off x="6227815" y="2941163"/>
            <a:ext cx="292474" cy="256988"/>
          </a:xfrm>
          <a:custGeom>
            <a:avLst/>
            <a:gdLst/>
            <a:ahLst/>
            <a:cxnLst/>
            <a:rect l="l" t="t" r="r" b="b"/>
            <a:pathLst>
              <a:path w="355600" h="355600" extrusionOk="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04B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" name="Google Shape;234;p12">
            <a:extLst>
              <a:ext uri="{FF2B5EF4-FFF2-40B4-BE49-F238E27FC236}">
                <a16:creationId xmlns:a16="http://schemas.microsoft.com/office/drawing/2014/main" id="{DFE0E085-88B3-9110-BBFA-F530A50CE732}"/>
              </a:ext>
            </a:extLst>
          </p:cNvPr>
          <p:cNvSpPr/>
          <p:nvPr/>
        </p:nvSpPr>
        <p:spPr>
          <a:xfrm>
            <a:off x="2108331" y="4587638"/>
            <a:ext cx="249052" cy="256989"/>
          </a:xfrm>
          <a:custGeom>
            <a:avLst/>
            <a:gdLst/>
            <a:ahLst/>
            <a:cxnLst/>
            <a:rect l="l" t="t" r="r" b="b"/>
            <a:pathLst>
              <a:path w="355600" h="355600" extrusionOk="0">
                <a:moveTo>
                  <a:pt x="0" y="88900"/>
                </a:moveTo>
                <a:lnTo>
                  <a:pt x="0" y="111125"/>
                </a:lnTo>
                <a:lnTo>
                  <a:pt x="355600" y="111125"/>
                </a:lnTo>
                <a:lnTo>
                  <a:pt x="355600" y="88900"/>
                </a:lnTo>
                <a:cubicBezTo>
                  <a:pt x="355600" y="64383"/>
                  <a:pt x="335667" y="44450"/>
                  <a:pt x="311150" y="44450"/>
                </a:cubicBezTo>
                <a:lnTo>
                  <a:pt x="44450" y="44450"/>
                </a:lnTo>
                <a:cubicBezTo>
                  <a:pt x="19933" y="44450"/>
                  <a:pt x="0" y="64383"/>
                  <a:pt x="0" y="88900"/>
                </a:cubicBezTo>
                <a:close/>
                <a:moveTo>
                  <a:pt x="0" y="144463"/>
                </a:moveTo>
                <a:lnTo>
                  <a:pt x="0" y="266700"/>
                </a:lnTo>
                <a:cubicBezTo>
                  <a:pt x="0" y="291217"/>
                  <a:pt x="19933" y="311150"/>
                  <a:pt x="44450" y="311150"/>
                </a:cubicBezTo>
                <a:lnTo>
                  <a:pt x="311150" y="311150"/>
                </a:lnTo>
                <a:cubicBezTo>
                  <a:pt x="335667" y="311150"/>
                  <a:pt x="355600" y="291217"/>
                  <a:pt x="355600" y="266700"/>
                </a:cubicBezTo>
                <a:lnTo>
                  <a:pt x="355600" y="144463"/>
                </a:lnTo>
                <a:lnTo>
                  <a:pt x="0" y="144463"/>
                </a:lnTo>
                <a:close/>
                <a:moveTo>
                  <a:pt x="44450" y="250031"/>
                </a:moveTo>
                <a:cubicBezTo>
                  <a:pt x="44450" y="240794"/>
                  <a:pt x="51881" y="233363"/>
                  <a:pt x="61119" y="233363"/>
                </a:cubicBezTo>
                <a:lnTo>
                  <a:pt x="94456" y="233363"/>
                </a:lnTo>
                <a:cubicBezTo>
                  <a:pt x="103694" y="233363"/>
                  <a:pt x="111125" y="240794"/>
                  <a:pt x="111125" y="250031"/>
                </a:cubicBezTo>
                <a:cubicBezTo>
                  <a:pt x="111125" y="259269"/>
                  <a:pt x="103694" y="266700"/>
                  <a:pt x="94456" y="266700"/>
                </a:cubicBezTo>
                <a:lnTo>
                  <a:pt x="61119" y="266700"/>
                </a:lnTo>
                <a:cubicBezTo>
                  <a:pt x="51881" y="266700"/>
                  <a:pt x="44450" y="259269"/>
                  <a:pt x="44450" y="250031"/>
                </a:cubicBezTo>
                <a:close/>
                <a:moveTo>
                  <a:pt x="144463" y="250031"/>
                </a:moveTo>
                <a:cubicBezTo>
                  <a:pt x="144463" y="240794"/>
                  <a:pt x="151894" y="233363"/>
                  <a:pt x="161131" y="233363"/>
                </a:cubicBezTo>
                <a:lnTo>
                  <a:pt x="205581" y="233363"/>
                </a:lnTo>
                <a:cubicBezTo>
                  <a:pt x="214819" y="233363"/>
                  <a:pt x="222250" y="240794"/>
                  <a:pt x="222250" y="250031"/>
                </a:cubicBezTo>
                <a:cubicBezTo>
                  <a:pt x="222250" y="259269"/>
                  <a:pt x="214819" y="266700"/>
                  <a:pt x="205581" y="266700"/>
                </a:cubicBezTo>
                <a:lnTo>
                  <a:pt x="161131" y="266700"/>
                </a:lnTo>
                <a:cubicBezTo>
                  <a:pt x="151894" y="266700"/>
                  <a:pt x="144463" y="259269"/>
                  <a:pt x="144463" y="250031"/>
                </a:cubicBezTo>
                <a:close/>
              </a:path>
            </a:pathLst>
          </a:custGeom>
          <a:solidFill>
            <a:srgbClr val="0C539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8" name="Google Shape;213;p10">
            <a:extLst>
              <a:ext uri="{FF2B5EF4-FFF2-40B4-BE49-F238E27FC236}">
                <a16:creationId xmlns:a16="http://schemas.microsoft.com/office/drawing/2014/main" id="{232299BC-0348-4430-4E1B-D72165B87A6D}"/>
              </a:ext>
            </a:extLst>
          </p:cNvPr>
          <p:cNvSpPr/>
          <p:nvPr/>
        </p:nvSpPr>
        <p:spPr>
          <a:xfrm>
            <a:off x="834511" y="2064728"/>
            <a:ext cx="3614962" cy="376137"/>
          </a:xfrm>
          <a:custGeom>
            <a:avLst/>
            <a:gdLst/>
            <a:ahLst/>
            <a:cxnLst/>
            <a:rect l="l" t="t" r="r" b="b"/>
            <a:pathLst>
              <a:path w="2113513" h="454143" extrusionOk="0">
                <a:moveTo>
                  <a:pt x="69870" y="0"/>
                </a:moveTo>
                <a:lnTo>
                  <a:pt x="2043643" y="0"/>
                </a:lnTo>
                <a:cubicBezTo>
                  <a:pt x="2082231" y="0"/>
                  <a:pt x="2113513" y="31282"/>
                  <a:pt x="2113513" y="69870"/>
                </a:cubicBezTo>
                <a:lnTo>
                  <a:pt x="2113513" y="384273"/>
                </a:lnTo>
                <a:cubicBezTo>
                  <a:pt x="2113513" y="422861"/>
                  <a:pt x="2082231" y="454143"/>
                  <a:pt x="2043643" y="454143"/>
                </a:cubicBezTo>
                <a:lnTo>
                  <a:pt x="69870" y="454143"/>
                </a:lnTo>
                <a:cubicBezTo>
                  <a:pt x="31308" y="454143"/>
                  <a:pt x="0" y="422836"/>
                  <a:pt x="0" y="384273"/>
                </a:cubicBezTo>
                <a:lnTo>
                  <a:pt x="0" y="69870"/>
                </a:lnTo>
                <a:cubicBezTo>
                  <a:pt x="0" y="31308"/>
                  <a:pt x="31308" y="0"/>
                  <a:pt x="69870" y="0"/>
                </a:cubicBezTo>
                <a:close/>
              </a:path>
            </a:pathLst>
          </a:custGeom>
          <a:solidFill>
            <a:srgbClr val="04B0FF"/>
          </a:solidFill>
          <a:ln>
            <a:noFill/>
          </a:ln>
        </p:spPr>
        <p:txBody>
          <a:bodyPr spcFirstLastPara="1" wrap="square" lIns="63496" tIns="63496" rIns="63496" bIns="63496" anchor="ctr" anchorCtr="0">
            <a:noAutofit/>
          </a:bodyPr>
          <a:lstStyle/>
          <a:p>
            <a:endParaRPr lang="pt-BR" sz="1250" noProof="0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9321ABF-FA59-27F7-F081-6954989D7B3A}"/>
              </a:ext>
            </a:extLst>
          </p:cNvPr>
          <p:cNvSpPr txBox="1"/>
          <p:nvPr/>
        </p:nvSpPr>
        <p:spPr>
          <a:xfrm>
            <a:off x="910131" y="2084349"/>
            <a:ext cx="3506080" cy="338554"/>
          </a:xfrm>
          <a:prstGeom prst="rect">
            <a:avLst/>
          </a:prstGeom>
          <a:solidFill>
            <a:srgbClr val="04B0FF"/>
          </a:solidFill>
        </p:spPr>
        <p:txBody>
          <a:bodyPr wrap="square">
            <a:spAutoFit/>
          </a:bodyPr>
          <a:lstStyle/>
          <a:p>
            <a:r>
              <a:rPr lang="pt-BR" sz="1600" b="1" noProof="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Problema: tributos em extinção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F5DFFA08-9EF1-DAB0-B4CC-7289B8CBB2D2}"/>
              </a:ext>
            </a:extLst>
          </p:cNvPr>
          <p:cNvSpPr/>
          <p:nvPr/>
        </p:nvSpPr>
        <p:spPr>
          <a:xfrm>
            <a:off x="841595" y="4728261"/>
            <a:ext cx="4664082" cy="1761991"/>
          </a:xfrm>
          <a:prstGeom prst="roundRect">
            <a:avLst/>
          </a:prstGeom>
          <a:noFill/>
          <a:ln>
            <a:solidFill>
              <a:srgbClr val="04B0F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50" noProof="0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D73FD44A-6E04-7296-CAB0-7DE64D4F442E}"/>
              </a:ext>
            </a:extLst>
          </p:cNvPr>
          <p:cNvSpPr/>
          <p:nvPr/>
        </p:nvSpPr>
        <p:spPr>
          <a:xfrm>
            <a:off x="901940" y="4867963"/>
            <a:ext cx="4379046" cy="15968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lvl="0" indent="-28575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t-BR" altLang="pt-BR" sz="1500" dirty="0">
                <a:solidFill>
                  <a:srgbClr val="444444"/>
                </a:solidFill>
                <a:cs typeface="Segoe UI" panose="020B0502040204020203" pitchFamily="34" charset="0"/>
              </a:rPr>
              <a:t>Apesar de apresentar evolução em relação à outras licitações de RSU, prevendo expressamente o direito de reequilíbrio em decorrência da EC 123/2023, a adoção dos tributos atuais pode gerar uma assimetria na projeção da proposta da Concessionária.</a:t>
            </a:r>
            <a:endParaRPr lang="pt-BR" sz="1600" dirty="0">
              <a:solidFill>
                <a:srgbClr val="444444"/>
              </a:solidFill>
              <a:cs typeface="Segoe UI" panose="020B0502040204020203" pitchFamily="34" charset="0"/>
            </a:endParaRPr>
          </a:p>
        </p:txBody>
      </p:sp>
      <p:sp>
        <p:nvSpPr>
          <p:cNvPr id="32" name="Google Shape;213;p10">
            <a:extLst>
              <a:ext uri="{FF2B5EF4-FFF2-40B4-BE49-F238E27FC236}">
                <a16:creationId xmlns:a16="http://schemas.microsoft.com/office/drawing/2014/main" id="{5EF28A67-5166-EF36-9232-3803972C4574}"/>
              </a:ext>
            </a:extLst>
          </p:cNvPr>
          <p:cNvSpPr/>
          <p:nvPr/>
        </p:nvSpPr>
        <p:spPr>
          <a:xfrm>
            <a:off x="887245" y="4576144"/>
            <a:ext cx="2567908" cy="376137"/>
          </a:xfrm>
          <a:custGeom>
            <a:avLst/>
            <a:gdLst/>
            <a:ahLst/>
            <a:cxnLst/>
            <a:rect l="l" t="t" r="r" b="b"/>
            <a:pathLst>
              <a:path w="2113513" h="454143" extrusionOk="0">
                <a:moveTo>
                  <a:pt x="69870" y="0"/>
                </a:moveTo>
                <a:lnTo>
                  <a:pt x="2043643" y="0"/>
                </a:lnTo>
                <a:cubicBezTo>
                  <a:pt x="2082231" y="0"/>
                  <a:pt x="2113513" y="31282"/>
                  <a:pt x="2113513" y="69870"/>
                </a:cubicBezTo>
                <a:lnTo>
                  <a:pt x="2113513" y="384273"/>
                </a:lnTo>
                <a:cubicBezTo>
                  <a:pt x="2113513" y="422861"/>
                  <a:pt x="2082231" y="454143"/>
                  <a:pt x="2043643" y="454143"/>
                </a:cubicBezTo>
                <a:lnTo>
                  <a:pt x="69870" y="454143"/>
                </a:lnTo>
                <a:cubicBezTo>
                  <a:pt x="31308" y="454143"/>
                  <a:pt x="0" y="422836"/>
                  <a:pt x="0" y="384273"/>
                </a:cubicBezTo>
                <a:lnTo>
                  <a:pt x="0" y="69870"/>
                </a:lnTo>
                <a:cubicBezTo>
                  <a:pt x="0" y="31308"/>
                  <a:pt x="31308" y="0"/>
                  <a:pt x="69870" y="0"/>
                </a:cubicBezTo>
                <a:close/>
              </a:path>
            </a:pathLst>
          </a:custGeom>
          <a:solidFill>
            <a:srgbClr val="04B0FF"/>
          </a:solidFill>
          <a:ln>
            <a:solidFill>
              <a:srgbClr val="04B0FF"/>
            </a:solidFill>
          </a:ln>
        </p:spPr>
        <p:txBody>
          <a:bodyPr spcFirstLastPara="1" wrap="square" lIns="63496" tIns="63496" rIns="63496" bIns="63496" anchor="ctr" anchorCtr="0">
            <a:noAutofit/>
          </a:bodyPr>
          <a:lstStyle/>
          <a:p>
            <a:endParaRPr lang="pt-BR" sz="1250" noProof="0" dirty="0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3214E4EC-D42F-A48F-FA27-2DAE001CE729}"/>
              </a:ext>
            </a:extLst>
          </p:cNvPr>
          <p:cNvSpPr txBox="1"/>
          <p:nvPr/>
        </p:nvSpPr>
        <p:spPr>
          <a:xfrm>
            <a:off x="974342" y="4588180"/>
            <a:ext cx="28856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b="1" noProof="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Premissa da proposta</a:t>
            </a:r>
          </a:p>
        </p:txBody>
      </p:sp>
      <p:sp>
        <p:nvSpPr>
          <p:cNvPr id="40" name="Google Shape;195;p8">
            <a:extLst>
              <a:ext uri="{FF2B5EF4-FFF2-40B4-BE49-F238E27FC236}">
                <a16:creationId xmlns:a16="http://schemas.microsoft.com/office/drawing/2014/main" id="{E563A1EE-FF3B-B33E-C387-E226B03281CB}"/>
              </a:ext>
            </a:extLst>
          </p:cNvPr>
          <p:cNvSpPr/>
          <p:nvPr/>
        </p:nvSpPr>
        <p:spPr>
          <a:xfrm>
            <a:off x="6202624" y="3685138"/>
            <a:ext cx="291087" cy="274285"/>
          </a:xfrm>
          <a:custGeom>
            <a:avLst/>
            <a:gdLst/>
            <a:ahLst/>
            <a:cxnLst/>
            <a:rect l="l" t="t" r="r" b="b"/>
            <a:pathLst>
              <a:path w="238125" h="190500" extrusionOk="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04B0FF"/>
          </a:solidFill>
          <a:ln>
            <a:noFill/>
          </a:ln>
        </p:spPr>
        <p:txBody>
          <a:bodyPr spcFirstLastPara="1" wrap="square" lIns="131635" tIns="131635" rIns="131635" bIns="131635" anchor="ctr" anchorCtr="0">
            <a:noAutofit/>
          </a:bodyPr>
          <a:lstStyle/>
          <a:p>
            <a:endParaRPr lang="pt-BR" sz="3732" dirty="0"/>
          </a:p>
        </p:txBody>
      </p:sp>
      <p:pic>
        <p:nvPicPr>
          <p:cNvPr id="43" name="Gráfico 42" descr="Martelo com preenchimento sólido">
            <a:extLst>
              <a:ext uri="{FF2B5EF4-FFF2-40B4-BE49-F238E27FC236}">
                <a16:creationId xmlns:a16="http://schemas.microsoft.com/office/drawing/2014/main" id="{4D972C41-48CF-E464-3ED3-41DE6BDD68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689" y="1114403"/>
            <a:ext cx="448387" cy="448387"/>
          </a:xfrm>
          <a:prstGeom prst="rect">
            <a:avLst/>
          </a:prstGeom>
        </p:spPr>
      </p:pic>
      <p:sp>
        <p:nvSpPr>
          <p:cNvPr id="44" name="Google Shape;185;p10">
            <a:extLst>
              <a:ext uri="{FF2B5EF4-FFF2-40B4-BE49-F238E27FC236}">
                <a16:creationId xmlns:a16="http://schemas.microsoft.com/office/drawing/2014/main" id="{9BC6A33A-B09D-A601-D8C2-572BA63B2CA4}"/>
              </a:ext>
            </a:extLst>
          </p:cNvPr>
          <p:cNvSpPr/>
          <p:nvPr/>
        </p:nvSpPr>
        <p:spPr>
          <a:xfrm>
            <a:off x="6620543" y="4382430"/>
            <a:ext cx="4857686" cy="391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>
              <a:lnSpc>
                <a:spcPct val="140000"/>
              </a:lnSpc>
            </a:pPr>
            <a:r>
              <a:rPr lang="pt-BR" sz="1400" b="1" dirty="0">
                <a:solidFill>
                  <a:srgbClr val="444444"/>
                </a:solidFill>
                <a:cs typeface="Segoe UI" panose="020B0502040204020203" pitchFamily="34" charset="0"/>
                <a:sym typeface="Liter"/>
              </a:rPr>
              <a:t>Opex subestimado ou superestimado: </a:t>
            </a:r>
            <a:r>
              <a:rPr lang="pt-BR" sz="1400" dirty="0">
                <a:solidFill>
                  <a:srgbClr val="444444"/>
                </a:solidFill>
                <a:cs typeface="Segoe UI" panose="020B0502040204020203" pitchFamily="34" charset="0"/>
              </a:rPr>
              <a:t>propostas com custo tributário desatualizado podem gerar vantagem artificial frente a quem considerar a Reforma (ou o inverso)</a:t>
            </a:r>
          </a:p>
        </p:txBody>
      </p:sp>
      <p:pic>
        <p:nvPicPr>
          <p:cNvPr id="51" name="Gráfico 50" descr="Dinheiro com preenchimento sólido">
            <a:extLst>
              <a:ext uri="{FF2B5EF4-FFF2-40B4-BE49-F238E27FC236}">
                <a16:creationId xmlns:a16="http://schemas.microsoft.com/office/drawing/2014/main" id="{1095423D-1522-E2B8-4F6E-168D44BF78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3715" y="4374877"/>
            <a:ext cx="298659" cy="298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017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3E60A-0B6D-8A52-8FDF-277A4ECD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Logotipo&#10;&#10;Descrição gerada automaticamente">
            <a:extLst>
              <a:ext uri="{FF2B5EF4-FFF2-40B4-BE49-F238E27FC236}">
                <a16:creationId xmlns:a16="http://schemas.microsoft.com/office/drawing/2014/main" id="{21C6E19A-FD3A-DFFB-1764-65EC1241D6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8615" y="0"/>
            <a:ext cx="1123385" cy="1123385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CF8CAEA4-C4A1-CB0A-FB56-DC6B779A7E2A}"/>
              </a:ext>
            </a:extLst>
          </p:cNvPr>
          <p:cNvSpPr txBox="1"/>
          <p:nvPr/>
        </p:nvSpPr>
        <p:spPr>
          <a:xfrm>
            <a:off x="365906" y="278009"/>
            <a:ext cx="107926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pt-BR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>
              <a:defRPr sz="3600" b="1">
                <a:solidFill>
                  <a:srgbClr val="04B0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atin typeface="+mn-lt"/>
              </a:rPr>
              <a:t>Aspectos tributários: Reforma tributária</a:t>
            </a:r>
          </a:p>
        </p:txBody>
      </p:sp>
      <p:sp>
        <p:nvSpPr>
          <p:cNvPr id="2" name="Google Shape;211;p10">
            <a:extLst>
              <a:ext uri="{FF2B5EF4-FFF2-40B4-BE49-F238E27FC236}">
                <a16:creationId xmlns:a16="http://schemas.microsoft.com/office/drawing/2014/main" id="{8249F2D5-5FE0-F55C-0FED-42C51863A5B5}"/>
              </a:ext>
            </a:extLst>
          </p:cNvPr>
          <p:cNvSpPr/>
          <p:nvPr/>
        </p:nvSpPr>
        <p:spPr>
          <a:xfrm>
            <a:off x="546081" y="1404981"/>
            <a:ext cx="11099838" cy="2530915"/>
          </a:xfrm>
          <a:custGeom>
            <a:avLst/>
            <a:gdLst/>
            <a:ahLst/>
            <a:cxnLst/>
            <a:rect l="l" t="t" r="r" b="b"/>
            <a:pathLst>
              <a:path w="11458384" h="3537077" extrusionOk="0">
                <a:moveTo>
                  <a:pt x="69868" y="0"/>
                </a:moveTo>
                <a:lnTo>
                  <a:pt x="11318634" y="0"/>
                </a:lnTo>
                <a:cubicBezTo>
                  <a:pt x="11395816" y="0"/>
                  <a:pt x="11458384" y="62568"/>
                  <a:pt x="11458384" y="139750"/>
                </a:cubicBezTo>
                <a:lnTo>
                  <a:pt x="11458384" y="3397327"/>
                </a:lnTo>
                <a:cubicBezTo>
                  <a:pt x="11458384" y="3474509"/>
                  <a:pt x="11395816" y="3537077"/>
                  <a:pt x="11318634" y="3537077"/>
                </a:cubicBezTo>
                <a:lnTo>
                  <a:pt x="69868" y="3537077"/>
                </a:lnTo>
                <a:cubicBezTo>
                  <a:pt x="31281" y="3537077"/>
                  <a:pt x="0" y="3505796"/>
                  <a:pt x="0" y="3467209"/>
                </a:cubicBezTo>
                <a:lnTo>
                  <a:pt x="0" y="69868"/>
                </a:lnTo>
                <a:cubicBezTo>
                  <a:pt x="0" y="31307"/>
                  <a:pt x="31307" y="0"/>
                  <a:pt x="69868" y="0"/>
                </a:cubicBezTo>
                <a:close/>
              </a:path>
            </a:pathLst>
          </a:custGeom>
          <a:solidFill>
            <a:schemeClr val="bg1">
              <a:lumMod val="85000"/>
              <a:alpha val="20000"/>
            </a:schemeClr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8528BFAB-30A5-6550-CD9A-04271A7D56F7}"/>
              </a:ext>
            </a:extLst>
          </p:cNvPr>
          <p:cNvSpPr/>
          <p:nvPr/>
        </p:nvSpPr>
        <p:spPr>
          <a:xfrm>
            <a:off x="763963" y="1608207"/>
            <a:ext cx="595313" cy="630565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4B0FF">
              <a:alpha val="20000"/>
            </a:srgbClr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D4821EDA-E533-0836-9519-F07F44DA1C80}"/>
              </a:ext>
            </a:extLst>
          </p:cNvPr>
          <p:cNvSpPr/>
          <p:nvPr/>
        </p:nvSpPr>
        <p:spPr>
          <a:xfrm>
            <a:off x="1536092" y="1823418"/>
            <a:ext cx="4559908" cy="255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>
              <a:lnSpc>
                <a:spcPct val="110000"/>
              </a:lnSpc>
            </a:pPr>
            <a:r>
              <a:rPr lang="pt-BR" sz="2800" b="1" noProof="0" dirty="0">
                <a:solidFill>
                  <a:srgbClr val="04B0FF"/>
                </a:solidFill>
                <a:ea typeface="Noto Sans SC" pitchFamily="34" charset="-122"/>
                <a:cs typeface="Segoe UI" panose="020B0502040204020203" pitchFamily="34" charset="0"/>
              </a:rPr>
              <a:t>Providências mitigadoras</a:t>
            </a:r>
            <a:endParaRPr lang="pt-BR" sz="2800" noProof="0" dirty="0">
              <a:solidFill>
                <a:srgbClr val="04B0FF"/>
              </a:solidFill>
              <a:cs typeface="Segoe UI" panose="020B0502040204020203" pitchFamily="34" charset="0"/>
            </a:endParaRPr>
          </a:p>
        </p:txBody>
      </p:sp>
      <p:sp>
        <p:nvSpPr>
          <p:cNvPr id="6" name="Shape 15">
            <a:extLst>
              <a:ext uri="{FF2B5EF4-FFF2-40B4-BE49-F238E27FC236}">
                <a16:creationId xmlns:a16="http://schemas.microsoft.com/office/drawing/2014/main" id="{10F90A1C-3286-D6C8-0097-E71AB0E37929}"/>
              </a:ext>
            </a:extLst>
          </p:cNvPr>
          <p:cNvSpPr/>
          <p:nvPr/>
        </p:nvSpPr>
        <p:spPr>
          <a:xfrm>
            <a:off x="852210" y="1737941"/>
            <a:ext cx="418820" cy="397212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04B0F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" name="Shape 10">
            <a:extLst>
              <a:ext uri="{FF2B5EF4-FFF2-40B4-BE49-F238E27FC236}">
                <a16:creationId xmlns:a16="http://schemas.microsoft.com/office/drawing/2014/main" id="{233CC0A3-D84B-BA7D-2CFE-8F6C4DDF9437}"/>
              </a:ext>
            </a:extLst>
          </p:cNvPr>
          <p:cNvSpPr/>
          <p:nvPr/>
        </p:nvSpPr>
        <p:spPr>
          <a:xfrm>
            <a:off x="909306" y="2529361"/>
            <a:ext cx="304626" cy="30566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04B0F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FAE18A0-4968-D511-9502-1D7DE4E01FC2}"/>
              </a:ext>
            </a:extLst>
          </p:cNvPr>
          <p:cNvSpPr txBox="1"/>
          <p:nvPr/>
        </p:nvSpPr>
        <p:spPr>
          <a:xfrm>
            <a:off x="1464778" y="2428467"/>
            <a:ext cx="1011834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dirty="0">
                <a:solidFill>
                  <a:srgbClr val="444444"/>
                </a:solidFill>
                <a:cs typeface="Segoe UI" panose="020B0502040204020203" pitchFamily="34" charset="0"/>
              </a:rPr>
              <a:t>Sugerimos a apresentação de </a:t>
            </a:r>
            <a:r>
              <a:rPr lang="pt-BR" sz="2000" b="1" dirty="0">
                <a:solidFill>
                  <a:srgbClr val="444444"/>
                </a:solidFill>
                <a:cs typeface="Segoe UI" panose="020B0502040204020203" pitchFamily="34" charset="0"/>
              </a:rPr>
              <a:t>pedido de esclarecimento</a:t>
            </a:r>
            <a:r>
              <a:rPr lang="pt-BR" sz="2000" dirty="0">
                <a:solidFill>
                  <a:srgbClr val="444444"/>
                </a:solidFill>
                <a:cs typeface="Segoe UI" panose="020B0502040204020203" pitchFamily="34" charset="0"/>
              </a:rPr>
              <a:t> para abordar expressamente que os erros de projeção da Concessionária, decorrentes da consideração do PIS, COFINS e ISS na elaboração da proposta, ensejarão a recomposição do equilíbrio econômico-financeiro do contrato.</a:t>
            </a: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B1543A9D-0E39-B4C5-7613-5D04BFDA9D35}"/>
              </a:ext>
            </a:extLst>
          </p:cNvPr>
          <p:cNvSpPr/>
          <p:nvPr/>
        </p:nvSpPr>
        <p:spPr>
          <a:xfrm>
            <a:off x="913315" y="2113516"/>
            <a:ext cx="2765311" cy="686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35051">
              <a:lnSpc>
                <a:spcPct val="110000"/>
              </a:lnSpc>
            </a:pPr>
            <a:endParaRPr lang="pt-BR" sz="1945" noProof="0" dirty="0">
              <a:latin typeface="+mj-lt"/>
            </a:endParaRPr>
          </a:p>
        </p:txBody>
      </p:sp>
      <p:sp>
        <p:nvSpPr>
          <p:cNvPr id="10" name="Google Shape;212;p10">
            <a:extLst>
              <a:ext uri="{FF2B5EF4-FFF2-40B4-BE49-F238E27FC236}">
                <a16:creationId xmlns:a16="http://schemas.microsoft.com/office/drawing/2014/main" id="{4B1E77DF-818E-F992-4E79-495BC5DE4118}"/>
              </a:ext>
            </a:extLst>
          </p:cNvPr>
          <p:cNvSpPr/>
          <p:nvPr/>
        </p:nvSpPr>
        <p:spPr>
          <a:xfrm>
            <a:off x="549949" y="1411979"/>
            <a:ext cx="45719" cy="2523917"/>
          </a:xfrm>
          <a:custGeom>
            <a:avLst/>
            <a:gdLst/>
            <a:ahLst/>
            <a:cxnLst/>
            <a:rect l="l" t="t" r="r" b="b"/>
            <a:pathLst>
              <a:path w="69868" h="3537077" extrusionOk="0">
                <a:moveTo>
                  <a:pt x="69868" y="0"/>
                </a:moveTo>
                <a:lnTo>
                  <a:pt x="69868" y="0"/>
                </a:lnTo>
                <a:lnTo>
                  <a:pt x="69868" y="3537077"/>
                </a:lnTo>
                <a:lnTo>
                  <a:pt x="69868" y="3537077"/>
                </a:lnTo>
                <a:cubicBezTo>
                  <a:pt x="31281" y="3537077"/>
                  <a:pt x="0" y="3505796"/>
                  <a:pt x="0" y="3467209"/>
                </a:cubicBezTo>
                <a:lnTo>
                  <a:pt x="0" y="69868"/>
                </a:lnTo>
                <a:cubicBezTo>
                  <a:pt x="0" y="31307"/>
                  <a:pt x="31307" y="0"/>
                  <a:pt x="69868" y="0"/>
                </a:cubicBezTo>
                <a:close/>
              </a:path>
            </a:pathLst>
          </a:custGeom>
          <a:solidFill>
            <a:srgbClr val="04B0FF"/>
          </a:solidFill>
          <a:ln>
            <a:noFill/>
          </a:ln>
        </p:spPr>
        <p:txBody>
          <a:bodyPr spcFirstLastPara="1" wrap="square" lIns="63496" tIns="63496" rIns="63496" bIns="63496" anchor="ctr" anchorCtr="0">
            <a:noAutofit/>
          </a:bodyPr>
          <a:lstStyle/>
          <a:p>
            <a:endParaRPr lang="pt-BR" sz="1250" noProof="0" dirty="0"/>
          </a:p>
        </p:txBody>
      </p:sp>
    </p:spTree>
    <p:extLst>
      <p:ext uri="{BB962C8B-B14F-4D97-AF65-F5344CB8AC3E}">
        <p14:creationId xmlns:p14="http://schemas.microsoft.com/office/powerpoint/2010/main" val="3253824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6C717-7A19-4217-ACB3-6EFDD3B90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A3EEB31E-F7D1-3691-FB6A-937B9713457E}"/>
              </a:ext>
            </a:extLst>
          </p:cNvPr>
          <p:cNvSpPr/>
          <p:nvPr/>
        </p:nvSpPr>
        <p:spPr>
          <a:xfrm>
            <a:off x="5777719" y="779257"/>
            <a:ext cx="5977767" cy="434103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 sz="1945" b="1" noProof="0" dirty="0">
              <a:solidFill>
                <a:schemeClr val="bg2"/>
              </a:solidFill>
            </a:endParaRPr>
          </a:p>
        </p:txBody>
      </p:sp>
      <p:pic>
        <p:nvPicPr>
          <p:cNvPr id="13" name="Imagem 12" descr="Logotipo&#10;&#10;Descrição gerada automaticamente">
            <a:extLst>
              <a:ext uri="{FF2B5EF4-FFF2-40B4-BE49-F238E27FC236}">
                <a16:creationId xmlns:a16="http://schemas.microsoft.com/office/drawing/2014/main" id="{C64D723D-C783-78F6-9919-AF8C9E32309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8615" y="0"/>
            <a:ext cx="1123385" cy="1123385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B29CF6E3-5592-B0D4-2CB3-5BA516B4FF95}"/>
              </a:ext>
            </a:extLst>
          </p:cNvPr>
          <p:cNvSpPr txBox="1"/>
          <p:nvPr/>
        </p:nvSpPr>
        <p:spPr>
          <a:xfrm>
            <a:off x="275948" y="158340"/>
            <a:ext cx="11415936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pt-BR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>
              <a:defRPr sz="3600" b="1">
                <a:solidFill>
                  <a:srgbClr val="04B0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atin typeface="+mn-lt"/>
              </a:rPr>
              <a:t>Penalidades: Multas</a:t>
            </a: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D38118FA-4803-F3E9-40CA-48B9E239DFD4}"/>
              </a:ext>
            </a:extLst>
          </p:cNvPr>
          <p:cNvSpPr/>
          <p:nvPr/>
        </p:nvSpPr>
        <p:spPr>
          <a:xfrm>
            <a:off x="1111172" y="787081"/>
            <a:ext cx="3441722" cy="686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pt-BR" sz="2400" b="1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pt-BR" sz="2400" b="1" noProof="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" name="Conector: Angulado 1">
            <a:extLst>
              <a:ext uri="{FF2B5EF4-FFF2-40B4-BE49-F238E27FC236}">
                <a16:creationId xmlns:a16="http://schemas.microsoft.com/office/drawing/2014/main" id="{7ECA435A-136D-2C04-F0C9-3C47CC5B3499}"/>
              </a:ext>
            </a:extLst>
          </p:cNvPr>
          <p:cNvCxnSpPr>
            <a:cxnSpLocks/>
            <a:endCxn id="7" idx="1"/>
          </p:cNvCxnSpPr>
          <p:nvPr/>
        </p:nvCxnSpPr>
        <p:spPr>
          <a:xfrm rot="16200000" flipH="1">
            <a:off x="-148585" y="2267059"/>
            <a:ext cx="1441946" cy="371960"/>
          </a:xfrm>
          <a:prstGeom prst="bentConnector2">
            <a:avLst/>
          </a:prstGeom>
          <a:ln>
            <a:solidFill>
              <a:srgbClr val="04B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8635E9CC-BBAE-BC2B-3198-282E96FE011E}"/>
              </a:ext>
            </a:extLst>
          </p:cNvPr>
          <p:cNvSpPr/>
          <p:nvPr/>
        </p:nvSpPr>
        <p:spPr>
          <a:xfrm>
            <a:off x="302593" y="968493"/>
            <a:ext cx="2993770" cy="832351"/>
          </a:xfrm>
          <a:prstGeom prst="roundRect">
            <a:avLst/>
          </a:prstGeom>
          <a:solidFill>
            <a:srgbClr val="04B0FF"/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50" noProof="0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F469792A-4104-C3D0-CD7D-E891B626149B}"/>
              </a:ext>
            </a:extLst>
          </p:cNvPr>
          <p:cNvSpPr/>
          <p:nvPr/>
        </p:nvSpPr>
        <p:spPr>
          <a:xfrm>
            <a:off x="1111171" y="1000248"/>
            <a:ext cx="3441722" cy="686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pt-BR" sz="2400" b="1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pt-BR" sz="2400" b="1" noProof="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50DB9F46-C074-DE5B-AE68-2BF475ADC4B6}"/>
              </a:ext>
            </a:extLst>
          </p:cNvPr>
          <p:cNvSpPr/>
          <p:nvPr/>
        </p:nvSpPr>
        <p:spPr>
          <a:xfrm>
            <a:off x="416951" y="1138268"/>
            <a:ext cx="490604" cy="475231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chemeClr val="bg2">
              <a:alpha val="20000"/>
            </a:schemeClr>
          </a:solidFill>
          <a:ln/>
        </p:spPr>
        <p:txBody>
          <a:bodyPr/>
          <a:lstStyle/>
          <a:p>
            <a:endParaRPr lang="pt-BR" sz="1250" noProof="0" dirty="0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A5B8D84A-0833-0609-9019-C66907B61479}"/>
              </a:ext>
            </a:extLst>
          </p:cNvPr>
          <p:cNvSpPr/>
          <p:nvPr/>
        </p:nvSpPr>
        <p:spPr>
          <a:xfrm>
            <a:off x="758368" y="2250783"/>
            <a:ext cx="4755301" cy="1846457"/>
          </a:xfrm>
          <a:prstGeom prst="roundRect">
            <a:avLst/>
          </a:prstGeom>
          <a:noFill/>
          <a:ln>
            <a:solidFill>
              <a:srgbClr val="04B0F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50" noProof="0" dirty="0"/>
          </a:p>
        </p:txBody>
      </p:sp>
      <p:sp>
        <p:nvSpPr>
          <p:cNvPr id="8" name="Google Shape;213;p10">
            <a:extLst>
              <a:ext uri="{FF2B5EF4-FFF2-40B4-BE49-F238E27FC236}">
                <a16:creationId xmlns:a16="http://schemas.microsoft.com/office/drawing/2014/main" id="{34BFA00B-1498-8539-1320-A1730DA14402}"/>
              </a:ext>
            </a:extLst>
          </p:cNvPr>
          <p:cNvSpPr/>
          <p:nvPr/>
        </p:nvSpPr>
        <p:spPr>
          <a:xfrm>
            <a:off x="652367" y="2084228"/>
            <a:ext cx="4014476" cy="376137"/>
          </a:xfrm>
          <a:custGeom>
            <a:avLst/>
            <a:gdLst/>
            <a:ahLst/>
            <a:cxnLst/>
            <a:rect l="l" t="t" r="r" b="b"/>
            <a:pathLst>
              <a:path w="2113513" h="454143" extrusionOk="0">
                <a:moveTo>
                  <a:pt x="69870" y="0"/>
                </a:moveTo>
                <a:lnTo>
                  <a:pt x="2043643" y="0"/>
                </a:lnTo>
                <a:cubicBezTo>
                  <a:pt x="2082231" y="0"/>
                  <a:pt x="2113513" y="31282"/>
                  <a:pt x="2113513" y="69870"/>
                </a:cubicBezTo>
                <a:lnTo>
                  <a:pt x="2113513" y="384273"/>
                </a:lnTo>
                <a:cubicBezTo>
                  <a:pt x="2113513" y="422861"/>
                  <a:pt x="2082231" y="454143"/>
                  <a:pt x="2043643" y="454143"/>
                </a:cubicBezTo>
                <a:lnTo>
                  <a:pt x="69870" y="454143"/>
                </a:lnTo>
                <a:cubicBezTo>
                  <a:pt x="31308" y="454143"/>
                  <a:pt x="0" y="422836"/>
                  <a:pt x="0" y="384273"/>
                </a:cubicBezTo>
                <a:lnTo>
                  <a:pt x="0" y="69870"/>
                </a:lnTo>
                <a:cubicBezTo>
                  <a:pt x="0" y="31308"/>
                  <a:pt x="31308" y="0"/>
                  <a:pt x="69870" y="0"/>
                </a:cubicBezTo>
                <a:close/>
              </a:path>
            </a:pathLst>
          </a:custGeom>
          <a:solidFill>
            <a:srgbClr val="04B0FF"/>
          </a:solidFill>
          <a:ln>
            <a:noFill/>
          </a:ln>
        </p:spPr>
        <p:txBody>
          <a:bodyPr spcFirstLastPara="1" wrap="square" lIns="63496" tIns="63496" rIns="63496" bIns="63496" anchor="ctr" anchorCtr="0">
            <a:noAutofit/>
          </a:bodyPr>
          <a:lstStyle/>
          <a:p>
            <a:endParaRPr lang="pt-BR" sz="1250" noProof="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F27ABA8-6717-CDF5-3980-C44AE8331359}"/>
              </a:ext>
            </a:extLst>
          </p:cNvPr>
          <p:cNvSpPr txBox="1"/>
          <p:nvPr/>
        </p:nvSpPr>
        <p:spPr>
          <a:xfrm>
            <a:off x="722168" y="2077129"/>
            <a:ext cx="4014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Ausência de tipicidade </a:t>
            </a:r>
            <a:endParaRPr lang="pt-BR" sz="1800" b="1" noProof="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9E8083C6-7DAB-4395-047D-78F413765707}"/>
              </a:ext>
            </a:extLst>
          </p:cNvPr>
          <p:cNvSpPr/>
          <p:nvPr/>
        </p:nvSpPr>
        <p:spPr>
          <a:xfrm>
            <a:off x="1111171" y="1000248"/>
            <a:ext cx="4316311" cy="686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endParaRPr lang="pt-BR" sz="2400" b="1" noProof="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4B09AEB3-A098-08EF-DBE8-C527BC1D95E8}"/>
              </a:ext>
            </a:extLst>
          </p:cNvPr>
          <p:cNvSpPr/>
          <p:nvPr/>
        </p:nvSpPr>
        <p:spPr>
          <a:xfrm>
            <a:off x="1022418" y="1043421"/>
            <a:ext cx="2091718" cy="686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endParaRPr lang="pt-BR" sz="24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034639E2-2A47-D144-CD03-D1FD48A24E41}"/>
              </a:ext>
            </a:extLst>
          </p:cNvPr>
          <p:cNvSpPr/>
          <p:nvPr/>
        </p:nvSpPr>
        <p:spPr>
          <a:xfrm>
            <a:off x="861823" y="2523717"/>
            <a:ext cx="4479382" cy="1434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just">
              <a:buSzPct val="100000"/>
              <a:buFontTx/>
              <a:buChar char="•"/>
            </a:pPr>
            <a:r>
              <a:rPr lang="pt-BR" sz="1500" dirty="0">
                <a:solidFill>
                  <a:srgbClr val="444444"/>
                </a:solidFill>
                <a:cs typeface="Segoe UI" panose="020B0502040204020203" pitchFamily="34" charset="0"/>
              </a:rPr>
              <a:t>A cl. 37.20.5 da Minuta de Contrato classifica como conduta gravíssima “</a:t>
            </a:r>
            <a:r>
              <a:rPr lang="pt-BR" sz="1500" i="1" dirty="0">
                <a:solidFill>
                  <a:srgbClr val="444444"/>
                </a:solidFill>
                <a:cs typeface="Segoe UI" panose="020B0502040204020203" pitchFamily="34" charset="0"/>
              </a:rPr>
              <a:t>cometer </a:t>
            </a:r>
            <a:r>
              <a:rPr lang="pt-BR" sz="1500" b="1" i="1" dirty="0">
                <a:solidFill>
                  <a:srgbClr val="444444"/>
                </a:solidFill>
                <a:cs typeface="Segoe UI" panose="020B0502040204020203" pitchFamily="34" charset="0"/>
              </a:rPr>
              <a:t>quaisquer</a:t>
            </a:r>
            <a:r>
              <a:rPr lang="pt-BR" sz="1500" i="1" dirty="0">
                <a:solidFill>
                  <a:srgbClr val="444444"/>
                </a:solidFill>
                <a:cs typeface="Segoe UI" panose="020B0502040204020203" pitchFamily="34" charset="0"/>
              </a:rPr>
              <a:t> infrações às normas legais federais, estaduais e municipais</a:t>
            </a:r>
            <a:r>
              <a:rPr lang="pt-BR" sz="1500" dirty="0">
                <a:solidFill>
                  <a:srgbClr val="444444"/>
                </a:solidFill>
                <a:cs typeface="Segoe UI" panose="020B0502040204020203" pitchFamily="34" charset="0"/>
              </a:rPr>
              <a:t>”. Ocorre que há diversos tipos de normas, com previsões diversas.</a:t>
            </a:r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02A5E7DC-1EC5-52A7-A174-4801B7921B39}"/>
              </a:ext>
            </a:extLst>
          </p:cNvPr>
          <p:cNvSpPr/>
          <p:nvPr/>
        </p:nvSpPr>
        <p:spPr>
          <a:xfrm>
            <a:off x="1086020" y="1063366"/>
            <a:ext cx="1857206" cy="686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pt-BR" sz="2400" b="1" dirty="0">
                <a:solidFill>
                  <a:schemeClr val="bg1"/>
                </a:solidFill>
                <a:cs typeface="Segoe UI" panose="020B0502040204020203" pitchFamily="34" charset="0"/>
              </a:rPr>
              <a:t>Multa diária</a:t>
            </a:r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6C9484FC-C5C2-54AF-2E30-A4B8970B30AE}"/>
              </a:ext>
            </a:extLst>
          </p:cNvPr>
          <p:cNvSpPr/>
          <p:nvPr/>
        </p:nvSpPr>
        <p:spPr>
          <a:xfrm>
            <a:off x="6637766" y="895612"/>
            <a:ext cx="4353275" cy="686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defRPr/>
            </a:pPr>
            <a:r>
              <a:rPr lang="pt-BR" sz="2400" b="1" noProof="0" dirty="0">
                <a:solidFill>
                  <a:srgbClr val="04B0FF"/>
                </a:solidFill>
              </a:rPr>
              <a:t>Impactos da manutenção do item </a:t>
            </a:r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7FEAA91B-ED51-0920-792B-0BEA85DCF3CE}"/>
              </a:ext>
            </a:extLst>
          </p:cNvPr>
          <p:cNvSpPr/>
          <p:nvPr/>
        </p:nvSpPr>
        <p:spPr>
          <a:xfrm>
            <a:off x="6044169" y="1039085"/>
            <a:ext cx="425676" cy="450128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chemeClr val="bg2"/>
          </a:solidFill>
          <a:ln/>
        </p:spPr>
        <p:txBody>
          <a:bodyPr/>
          <a:lstStyle/>
          <a:p>
            <a:endParaRPr lang="pt-BR" sz="1250" noProof="0" dirty="0"/>
          </a:p>
        </p:txBody>
      </p:sp>
      <p:pic>
        <p:nvPicPr>
          <p:cNvPr id="29" name="Gráfico 28" descr="Lista de Verificação com preenchimento sólido">
            <a:extLst>
              <a:ext uri="{FF2B5EF4-FFF2-40B4-BE49-F238E27FC236}">
                <a16:creationId xmlns:a16="http://schemas.microsoft.com/office/drawing/2014/main" id="{790928D6-9876-A5F1-0572-C1C6415A22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59618" y="1057396"/>
            <a:ext cx="394778" cy="394778"/>
          </a:xfrm>
          <a:prstGeom prst="rect">
            <a:avLst/>
          </a:prstGeom>
        </p:spPr>
      </p:pic>
      <p:sp>
        <p:nvSpPr>
          <p:cNvPr id="30" name="Google Shape;179;p10">
            <a:extLst>
              <a:ext uri="{FF2B5EF4-FFF2-40B4-BE49-F238E27FC236}">
                <a16:creationId xmlns:a16="http://schemas.microsoft.com/office/drawing/2014/main" id="{39D3F6DC-CD53-7222-BE34-72A0585888B9}"/>
              </a:ext>
            </a:extLst>
          </p:cNvPr>
          <p:cNvSpPr/>
          <p:nvPr/>
        </p:nvSpPr>
        <p:spPr>
          <a:xfrm>
            <a:off x="6582370" y="2336865"/>
            <a:ext cx="4833838" cy="686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>
              <a:lnSpc>
                <a:spcPct val="140000"/>
              </a:lnSpc>
            </a:pPr>
            <a:r>
              <a:rPr lang="pt-BR" sz="1400" b="1" dirty="0">
                <a:solidFill>
                  <a:srgbClr val="444444"/>
                </a:solidFill>
                <a:cs typeface="Segoe UI" panose="020B0502040204020203" pitchFamily="34" charset="0"/>
                <a:sym typeface="Liter"/>
              </a:rPr>
              <a:t>Violação ao princípio da tipicidade: </a:t>
            </a:r>
            <a:r>
              <a:rPr lang="pt-BR" sz="1400" dirty="0">
                <a:solidFill>
                  <a:srgbClr val="444444"/>
                </a:solidFill>
                <a:cs typeface="Segoe UI" panose="020B0502040204020203" pitchFamily="34" charset="0"/>
                <a:sym typeface="Liter"/>
              </a:rPr>
              <a:t>ampliação excessiva da discricionariedade sancionatória do Poder Público. </a:t>
            </a:r>
            <a:endParaRPr lang="pt-BR" sz="1400" dirty="0">
              <a:solidFill>
                <a:srgbClr val="444444"/>
              </a:solidFill>
              <a:cs typeface="Segoe UI" panose="020B0502040204020203" pitchFamily="34" charset="0"/>
            </a:endParaRPr>
          </a:p>
          <a:p>
            <a:pPr algn="just">
              <a:lnSpc>
                <a:spcPct val="140000"/>
              </a:lnSpc>
            </a:pPr>
            <a:endParaRPr lang="pt-BR" sz="1400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1" name="Google Shape;182;p10">
            <a:extLst>
              <a:ext uri="{FF2B5EF4-FFF2-40B4-BE49-F238E27FC236}">
                <a16:creationId xmlns:a16="http://schemas.microsoft.com/office/drawing/2014/main" id="{24588951-B0DD-9C5A-7DE5-4FCFC886AE34}"/>
              </a:ext>
            </a:extLst>
          </p:cNvPr>
          <p:cNvSpPr/>
          <p:nvPr/>
        </p:nvSpPr>
        <p:spPr>
          <a:xfrm>
            <a:off x="6571424" y="3076550"/>
            <a:ext cx="4867156" cy="821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just">
              <a:lnSpc>
                <a:spcPct val="140000"/>
              </a:lnSpc>
            </a:pPr>
            <a:r>
              <a:rPr lang="pt-BR" sz="1400" b="1" dirty="0">
                <a:solidFill>
                  <a:srgbClr val="444444"/>
                </a:solidFill>
                <a:cs typeface="Segoe UI" panose="020B0502040204020203" pitchFamily="34" charset="0"/>
                <a:sym typeface="Liter"/>
              </a:rPr>
              <a:t>Desproporcionalidade da penalidade: </a:t>
            </a:r>
            <a:r>
              <a:rPr lang="pt-BR" sz="1400" dirty="0">
                <a:solidFill>
                  <a:srgbClr val="444444"/>
                </a:solidFill>
                <a:cs typeface="Segoe UI" panose="020B0502040204020203" pitchFamily="34" charset="0"/>
                <a:sym typeface="Liter"/>
              </a:rPr>
              <a:t>m</a:t>
            </a:r>
            <a:r>
              <a:rPr lang="pt-BR" sz="1400" dirty="0">
                <a:solidFill>
                  <a:srgbClr val="444444"/>
                </a:solidFill>
                <a:cs typeface="Segoe UI" panose="020B0502040204020203" pitchFamily="34" charset="0"/>
              </a:rPr>
              <a:t>ulta de 2% da receita bruta anual da concessionária extremamente onerosa e potencialmente desarrazoada. </a:t>
            </a:r>
          </a:p>
        </p:txBody>
      </p:sp>
      <p:sp>
        <p:nvSpPr>
          <p:cNvPr id="32" name="Google Shape;185;p10">
            <a:extLst>
              <a:ext uri="{FF2B5EF4-FFF2-40B4-BE49-F238E27FC236}">
                <a16:creationId xmlns:a16="http://schemas.microsoft.com/office/drawing/2014/main" id="{7F1D4754-E16A-9EBC-C91A-4AB1F7AEB095}"/>
              </a:ext>
            </a:extLst>
          </p:cNvPr>
          <p:cNvSpPr/>
          <p:nvPr/>
        </p:nvSpPr>
        <p:spPr>
          <a:xfrm>
            <a:off x="6579394" y="1606852"/>
            <a:ext cx="4848216" cy="391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just">
              <a:lnSpc>
                <a:spcPct val="140000"/>
              </a:lnSpc>
            </a:pPr>
            <a:r>
              <a:rPr lang="pt-BR" sz="1400" b="1" dirty="0">
                <a:solidFill>
                  <a:srgbClr val="444444"/>
                </a:solidFill>
                <a:cs typeface="Segoe UI" panose="020B0502040204020203" pitchFamily="34" charset="0"/>
                <a:sym typeface="Liter"/>
              </a:rPr>
              <a:t>Insegurança jurídica: </a:t>
            </a:r>
            <a:r>
              <a:rPr lang="pt-BR" sz="1400" dirty="0">
                <a:solidFill>
                  <a:srgbClr val="444444"/>
                </a:solidFill>
                <a:cs typeface="Segoe UI" panose="020B0502040204020203" pitchFamily="34" charset="0"/>
                <a:sym typeface="Liter"/>
              </a:rPr>
              <a:t>previsão genérica de multa por “qualquer infração” sem tipificação específica das condutas. </a:t>
            </a:r>
            <a:endParaRPr lang="pt-BR" sz="1400" dirty="0">
              <a:solidFill>
                <a:srgbClr val="444444"/>
              </a:solidFill>
              <a:cs typeface="Segoe UI" panose="020B0502040204020203" pitchFamily="34" charset="0"/>
            </a:endParaRPr>
          </a:p>
        </p:txBody>
      </p:sp>
      <p:sp>
        <p:nvSpPr>
          <p:cNvPr id="35" name="Google Shape;185;p10">
            <a:extLst>
              <a:ext uri="{FF2B5EF4-FFF2-40B4-BE49-F238E27FC236}">
                <a16:creationId xmlns:a16="http://schemas.microsoft.com/office/drawing/2014/main" id="{0F85F0C5-E985-A883-5D02-EBB341C7CF7E}"/>
              </a:ext>
            </a:extLst>
          </p:cNvPr>
          <p:cNvSpPr/>
          <p:nvPr/>
        </p:nvSpPr>
        <p:spPr>
          <a:xfrm>
            <a:off x="6570446" y="4101593"/>
            <a:ext cx="4969187" cy="391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just">
              <a:lnSpc>
                <a:spcPct val="140000"/>
              </a:lnSpc>
            </a:pPr>
            <a:r>
              <a:rPr lang="pt-BR" sz="1400" b="1" dirty="0">
                <a:solidFill>
                  <a:srgbClr val="444444"/>
                </a:solidFill>
                <a:cs typeface="Segoe UI" panose="020B0502040204020203" pitchFamily="34" charset="0"/>
                <a:sym typeface="Liter"/>
              </a:rPr>
              <a:t>Desequilíbrio econômico-financeiro: </a:t>
            </a:r>
            <a:r>
              <a:rPr lang="pt-BR" sz="1400" dirty="0">
                <a:solidFill>
                  <a:srgbClr val="444444"/>
                </a:solidFill>
                <a:cs typeface="Segoe UI" panose="020B0502040204020203" pitchFamily="34" charset="0"/>
              </a:rPr>
              <a:t>aplicação de multas altas e indeterminadas podem comprometer a exequibilidade do projeto. </a:t>
            </a:r>
            <a:endParaRPr lang="pt-BR" sz="1400" b="1" dirty="0">
              <a:solidFill>
                <a:srgbClr val="444444"/>
              </a:solidFill>
              <a:cs typeface="Segoe UI" panose="020B0502040204020203" pitchFamily="34" charset="0"/>
            </a:endParaRPr>
          </a:p>
        </p:txBody>
      </p:sp>
      <p:sp>
        <p:nvSpPr>
          <p:cNvPr id="37" name="Google Shape;195;p8">
            <a:extLst>
              <a:ext uri="{FF2B5EF4-FFF2-40B4-BE49-F238E27FC236}">
                <a16:creationId xmlns:a16="http://schemas.microsoft.com/office/drawing/2014/main" id="{F254505B-0CAC-0E84-D16C-BF2A8D609D17}"/>
              </a:ext>
            </a:extLst>
          </p:cNvPr>
          <p:cNvSpPr/>
          <p:nvPr/>
        </p:nvSpPr>
        <p:spPr>
          <a:xfrm>
            <a:off x="6096844" y="1665408"/>
            <a:ext cx="291087" cy="274285"/>
          </a:xfrm>
          <a:custGeom>
            <a:avLst/>
            <a:gdLst/>
            <a:ahLst/>
            <a:cxnLst/>
            <a:rect l="l" t="t" r="r" b="b"/>
            <a:pathLst>
              <a:path w="238125" h="190500" extrusionOk="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04B0FF"/>
          </a:solidFill>
          <a:ln>
            <a:noFill/>
          </a:ln>
        </p:spPr>
        <p:txBody>
          <a:bodyPr spcFirstLastPara="1" wrap="square" lIns="131635" tIns="131635" rIns="131635" bIns="131635" anchor="ctr" anchorCtr="0">
            <a:noAutofit/>
          </a:bodyPr>
          <a:lstStyle/>
          <a:p>
            <a:endParaRPr lang="pt-BR" sz="3732" dirty="0"/>
          </a:p>
        </p:txBody>
      </p:sp>
      <p:pic>
        <p:nvPicPr>
          <p:cNvPr id="47" name="Gráfico 46" descr="Moedas estrutura de tópicos">
            <a:extLst>
              <a:ext uri="{FF2B5EF4-FFF2-40B4-BE49-F238E27FC236}">
                <a16:creationId xmlns:a16="http://schemas.microsoft.com/office/drawing/2014/main" id="{E53D7FAA-4DBC-0ACC-F47F-ED0D4EE039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514" y="1145214"/>
            <a:ext cx="457201" cy="457201"/>
          </a:xfrm>
          <a:prstGeom prst="rect">
            <a:avLst/>
          </a:prstGeom>
        </p:spPr>
      </p:pic>
      <p:cxnSp>
        <p:nvCxnSpPr>
          <p:cNvPr id="49" name="Conector: Angulado 48">
            <a:extLst>
              <a:ext uri="{FF2B5EF4-FFF2-40B4-BE49-F238E27FC236}">
                <a16:creationId xmlns:a16="http://schemas.microsoft.com/office/drawing/2014/main" id="{F72E5221-AF2A-C9E6-315E-E49638DE87B0}"/>
              </a:ext>
            </a:extLst>
          </p:cNvPr>
          <p:cNvCxnSpPr>
            <a:cxnSpLocks/>
            <a:endCxn id="51" idx="1"/>
          </p:cNvCxnSpPr>
          <p:nvPr/>
        </p:nvCxnSpPr>
        <p:spPr>
          <a:xfrm rot="16200000" flipH="1">
            <a:off x="-289827" y="3850246"/>
            <a:ext cx="2268866" cy="916398"/>
          </a:xfrm>
          <a:prstGeom prst="bentConnector2">
            <a:avLst/>
          </a:prstGeom>
          <a:ln>
            <a:solidFill>
              <a:srgbClr val="04B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tângulo: Cantos Arredondados 50">
            <a:extLst>
              <a:ext uri="{FF2B5EF4-FFF2-40B4-BE49-F238E27FC236}">
                <a16:creationId xmlns:a16="http://schemas.microsoft.com/office/drawing/2014/main" id="{B5207F29-D282-5008-BB36-A9FFF3C1D14F}"/>
              </a:ext>
            </a:extLst>
          </p:cNvPr>
          <p:cNvSpPr/>
          <p:nvPr/>
        </p:nvSpPr>
        <p:spPr>
          <a:xfrm>
            <a:off x="1302805" y="4492991"/>
            <a:ext cx="3954995" cy="1899773"/>
          </a:xfrm>
          <a:prstGeom prst="roundRect">
            <a:avLst/>
          </a:prstGeom>
          <a:noFill/>
          <a:ln>
            <a:solidFill>
              <a:srgbClr val="04B0F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50" noProof="0" dirty="0"/>
          </a:p>
        </p:txBody>
      </p:sp>
      <p:sp>
        <p:nvSpPr>
          <p:cNvPr id="53" name="Text 10">
            <a:extLst>
              <a:ext uri="{FF2B5EF4-FFF2-40B4-BE49-F238E27FC236}">
                <a16:creationId xmlns:a16="http://schemas.microsoft.com/office/drawing/2014/main" id="{8B5800DA-8A16-76D8-2D7D-46FC4D699956}"/>
              </a:ext>
            </a:extLst>
          </p:cNvPr>
          <p:cNvSpPr/>
          <p:nvPr/>
        </p:nvSpPr>
        <p:spPr>
          <a:xfrm>
            <a:off x="1427229" y="4752585"/>
            <a:ext cx="3684194" cy="1434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just">
              <a:buSzPct val="100000"/>
              <a:buChar char="•"/>
            </a:pPr>
            <a:r>
              <a:rPr lang="pt-BR" sz="1500" dirty="0">
                <a:solidFill>
                  <a:srgbClr val="444444"/>
                </a:solidFill>
                <a:cs typeface="Segoe UI" panose="020B0502040204020203" pitchFamily="34" charset="0"/>
              </a:rPr>
              <a:t>A </a:t>
            </a:r>
            <a:r>
              <a:rPr lang="pt-BR" sz="1500" dirty="0">
                <a:solidFill>
                  <a:srgbClr val="444444"/>
                </a:solidFill>
                <a:ea typeface="Arial" pitchFamily="34" charset="-122"/>
                <a:cs typeface="Segoe UI" panose="020B0502040204020203" pitchFamily="34" charset="0"/>
              </a:rPr>
              <a:t>cl. 37.13 da Minuta de Contrato prevê a aplicação de multa de até </a:t>
            </a:r>
            <a:r>
              <a:rPr lang="pt-BR" sz="1500" b="1" dirty="0">
                <a:solidFill>
                  <a:srgbClr val="444444"/>
                </a:solidFill>
                <a:ea typeface="Arial" pitchFamily="34" charset="-122"/>
                <a:cs typeface="Segoe UI" panose="020B0502040204020203" pitchFamily="34" charset="0"/>
              </a:rPr>
              <a:t>2% da receita bruta </a:t>
            </a:r>
            <a:r>
              <a:rPr lang="pt-BR" sz="1500" dirty="0">
                <a:solidFill>
                  <a:srgbClr val="444444"/>
                </a:solidFill>
                <a:ea typeface="Arial" pitchFamily="34" charset="-122"/>
                <a:cs typeface="Segoe UI" panose="020B0502040204020203" pitchFamily="34" charset="0"/>
              </a:rPr>
              <a:t>do exercício anterior da Concessionária, cumulada com perdas e danos, para infrações consideradas </a:t>
            </a:r>
            <a:r>
              <a:rPr lang="pt-BR" sz="1500" b="1" dirty="0">
                <a:solidFill>
                  <a:srgbClr val="444444"/>
                </a:solidFill>
                <a:ea typeface="Arial" pitchFamily="34" charset="-122"/>
                <a:cs typeface="Segoe UI" panose="020B0502040204020203" pitchFamily="34" charset="0"/>
              </a:rPr>
              <a:t>gravíssimas</a:t>
            </a:r>
            <a:r>
              <a:rPr lang="pt-BR" sz="1500" dirty="0">
                <a:solidFill>
                  <a:srgbClr val="444444"/>
                </a:solidFill>
                <a:ea typeface="Arial" pitchFamily="34" charset="-122"/>
                <a:cs typeface="Segoe UI" panose="020B0502040204020203" pitchFamily="34" charset="0"/>
              </a:rPr>
              <a:t>. </a:t>
            </a:r>
          </a:p>
        </p:txBody>
      </p:sp>
      <p:pic>
        <p:nvPicPr>
          <p:cNvPr id="62" name="Gráfico 61" descr="Gráfico linear com preenchimento sólido">
            <a:extLst>
              <a:ext uri="{FF2B5EF4-FFF2-40B4-BE49-F238E27FC236}">
                <a16:creationId xmlns:a16="http://schemas.microsoft.com/office/drawing/2014/main" id="{A5A9D6BC-981B-65B0-9E8A-F8A77AEECB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43840" y="3079556"/>
            <a:ext cx="324837" cy="324837"/>
          </a:xfrm>
          <a:prstGeom prst="rect">
            <a:avLst/>
          </a:prstGeom>
        </p:spPr>
      </p:pic>
      <p:pic>
        <p:nvPicPr>
          <p:cNvPr id="64" name="Gráfico 63" descr="Juiz com preenchimento sólido">
            <a:extLst>
              <a:ext uri="{FF2B5EF4-FFF2-40B4-BE49-F238E27FC236}">
                <a16:creationId xmlns:a16="http://schemas.microsoft.com/office/drawing/2014/main" id="{E441A7D1-116D-139E-1AA0-B98E641FBE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87024" y="2301466"/>
            <a:ext cx="396376" cy="396376"/>
          </a:xfrm>
          <a:prstGeom prst="rect">
            <a:avLst/>
          </a:prstGeom>
        </p:spPr>
      </p:pic>
      <p:pic>
        <p:nvPicPr>
          <p:cNvPr id="66" name="Gráfico 65" descr="Gráfico de tendência descendente com preenchimento sólido">
            <a:extLst>
              <a:ext uri="{FF2B5EF4-FFF2-40B4-BE49-F238E27FC236}">
                <a16:creationId xmlns:a16="http://schemas.microsoft.com/office/drawing/2014/main" id="{3B846C7A-D377-30D6-36B6-574C7D9258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48068" y="4097240"/>
            <a:ext cx="324838" cy="324838"/>
          </a:xfrm>
          <a:prstGeom prst="rect">
            <a:avLst/>
          </a:prstGeom>
        </p:spPr>
      </p:pic>
      <p:sp>
        <p:nvSpPr>
          <p:cNvPr id="67" name="Google Shape;211;p10">
            <a:extLst>
              <a:ext uri="{FF2B5EF4-FFF2-40B4-BE49-F238E27FC236}">
                <a16:creationId xmlns:a16="http://schemas.microsoft.com/office/drawing/2014/main" id="{FED28B86-655F-01D0-D99A-79942040A6C5}"/>
              </a:ext>
            </a:extLst>
          </p:cNvPr>
          <p:cNvSpPr/>
          <p:nvPr/>
        </p:nvSpPr>
        <p:spPr>
          <a:xfrm>
            <a:off x="5773852" y="5325950"/>
            <a:ext cx="5918032" cy="1227557"/>
          </a:xfrm>
          <a:custGeom>
            <a:avLst/>
            <a:gdLst/>
            <a:ahLst/>
            <a:cxnLst/>
            <a:rect l="l" t="t" r="r" b="b"/>
            <a:pathLst>
              <a:path w="11458384" h="3537077" extrusionOk="0">
                <a:moveTo>
                  <a:pt x="69868" y="0"/>
                </a:moveTo>
                <a:lnTo>
                  <a:pt x="11318634" y="0"/>
                </a:lnTo>
                <a:cubicBezTo>
                  <a:pt x="11395816" y="0"/>
                  <a:pt x="11458384" y="62568"/>
                  <a:pt x="11458384" y="139750"/>
                </a:cubicBezTo>
                <a:lnTo>
                  <a:pt x="11458384" y="3397327"/>
                </a:lnTo>
                <a:cubicBezTo>
                  <a:pt x="11458384" y="3474509"/>
                  <a:pt x="11395816" y="3537077"/>
                  <a:pt x="11318634" y="3537077"/>
                </a:cubicBezTo>
                <a:lnTo>
                  <a:pt x="69868" y="3537077"/>
                </a:lnTo>
                <a:cubicBezTo>
                  <a:pt x="31281" y="3537077"/>
                  <a:pt x="0" y="3505796"/>
                  <a:pt x="0" y="3467209"/>
                </a:cubicBezTo>
                <a:lnTo>
                  <a:pt x="0" y="69868"/>
                </a:lnTo>
                <a:cubicBezTo>
                  <a:pt x="0" y="31307"/>
                  <a:pt x="31307" y="0"/>
                  <a:pt x="69868" y="0"/>
                </a:cubicBezTo>
                <a:close/>
              </a:path>
            </a:pathLst>
          </a:custGeom>
          <a:solidFill>
            <a:schemeClr val="bg1">
              <a:lumMod val="85000"/>
              <a:alpha val="20000"/>
            </a:schemeClr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68" name="Shape 3">
            <a:extLst>
              <a:ext uri="{FF2B5EF4-FFF2-40B4-BE49-F238E27FC236}">
                <a16:creationId xmlns:a16="http://schemas.microsoft.com/office/drawing/2014/main" id="{D1224C74-5EB4-7393-F6A4-A3DE3DCB6EC0}"/>
              </a:ext>
            </a:extLst>
          </p:cNvPr>
          <p:cNvSpPr/>
          <p:nvPr/>
        </p:nvSpPr>
        <p:spPr>
          <a:xfrm>
            <a:off x="6084493" y="5399065"/>
            <a:ext cx="449970" cy="449095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4B0FF">
              <a:alpha val="20000"/>
            </a:srgbClr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9" name="Text 4">
            <a:extLst>
              <a:ext uri="{FF2B5EF4-FFF2-40B4-BE49-F238E27FC236}">
                <a16:creationId xmlns:a16="http://schemas.microsoft.com/office/drawing/2014/main" id="{BA4D871B-78FD-A269-5941-46343E51DB92}"/>
              </a:ext>
            </a:extLst>
          </p:cNvPr>
          <p:cNvSpPr/>
          <p:nvPr/>
        </p:nvSpPr>
        <p:spPr>
          <a:xfrm>
            <a:off x="6683036" y="5506195"/>
            <a:ext cx="4559908" cy="255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>
              <a:lnSpc>
                <a:spcPct val="110000"/>
              </a:lnSpc>
            </a:pPr>
            <a:r>
              <a:rPr lang="pt-BR" sz="2000" b="1" noProof="0" dirty="0">
                <a:solidFill>
                  <a:srgbClr val="04B0FF"/>
                </a:solidFill>
                <a:latin typeface="Segoe UI" panose="020B0502040204020203" pitchFamily="34" charset="0"/>
                <a:ea typeface="Noto Sans SC" pitchFamily="34" charset="-122"/>
                <a:cs typeface="Segoe UI" panose="020B0502040204020203" pitchFamily="34" charset="0"/>
              </a:rPr>
              <a:t>Providências mitigadoras</a:t>
            </a:r>
            <a:endParaRPr lang="pt-BR" sz="2000" noProof="0" dirty="0">
              <a:solidFill>
                <a:srgbClr val="04B0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0" name="Shape 15">
            <a:extLst>
              <a:ext uri="{FF2B5EF4-FFF2-40B4-BE49-F238E27FC236}">
                <a16:creationId xmlns:a16="http://schemas.microsoft.com/office/drawing/2014/main" id="{29F999A5-5438-114E-D72E-EF2757C42624}"/>
              </a:ext>
            </a:extLst>
          </p:cNvPr>
          <p:cNvSpPr/>
          <p:nvPr/>
        </p:nvSpPr>
        <p:spPr>
          <a:xfrm>
            <a:off x="6181970" y="5478047"/>
            <a:ext cx="274980" cy="311735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04B0F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1" name="Shape 10">
            <a:extLst>
              <a:ext uri="{FF2B5EF4-FFF2-40B4-BE49-F238E27FC236}">
                <a16:creationId xmlns:a16="http://schemas.microsoft.com/office/drawing/2014/main" id="{EE5C78CE-3F1F-A77E-172D-7F6D9B61DB31}"/>
              </a:ext>
            </a:extLst>
          </p:cNvPr>
          <p:cNvSpPr/>
          <p:nvPr/>
        </p:nvSpPr>
        <p:spPr>
          <a:xfrm>
            <a:off x="6148069" y="6053821"/>
            <a:ext cx="293270" cy="296128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04B0F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33F44370-B534-B22F-76E9-B133ED985A3F}"/>
              </a:ext>
            </a:extLst>
          </p:cNvPr>
          <p:cNvSpPr txBox="1"/>
          <p:nvPr/>
        </p:nvSpPr>
        <p:spPr>
          <a:xfrm>
            <a:off x="6567370" y="5918542"/>
            <a:ext cx="49562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>
                <a:solidFill>
                  <a:srgbClr val="444444"/>
                </a:solidFill>
                <a:cs typeface="Segoe UI" panose="020B0502040204020203" pitchFamily="34" charset="0"/>
              </a:rPr>
              <a:t>Ponto impugnável sob a ótica do principio da tipicidade estrita.  </a:t>
            </a:r>
          </a:p>
        </p:txBody>
      </p:sp>
      <p:sp>
        <p:nvSpPr>
          <p:cNvPr id="73" name="Text 4">
            <a:extLst>
              <a:ext uri="{FF2B5EF4-FFF2-40B4-BE49-F238E27FC236}">
                <a16:creationId xmlns:a16="http://schemas.microsoft.com/office/drawing/2014/main" id="{24F660BA-5132-9206-F216-2469A54588E5}"/>
              </a:ext>
            </a:extLst>
          </p:cNvPr>
          <p:cNvSpPr/>
          <p:nvPr/>
        </p:nvSpPr>
        <p:spPr>
          <a:xfrm>
            <a:off x="6141086" y="5663104"/>
            <a:ext cx="2765311" cy="686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35051">
              <a:lnSpc>
                <a:spcPct val="110000"/>
              </a:lnSpc>
            </a:pPr>
            <a:endParaRPr lang="pt-BR" sz="1945" noProof="0" dirty="0">
              <a:latin typeface="+mj-lt"/>
            </a:endParaRPr>
          </a:p>
        </p:txBody>
      </p:sp>
      <p:sp>
        <p:nvSpPr>
          <p:cNvPr id="74" name="Google Shape;212;p10">
            <a:extLst>
              <a:ext uri="{FF2B5EF4-FFF2-40B4-BE49-F238E27FC236}">
                <a16:creationId xmlns:a16="http://schemas.microsoft.com/office/drawing/2014/main" id="{FAE17E9A-AE4C-9550-7A63-9EE256413C39}"/>
              </a:ext>
            </a:extLst>
          </p:cNvPr>
          <p:cNvSpPr/>
          <p:nvPr/>
        </p:nvSpPr>
        <p:spPr>
          <a:xfrm>
            <a:off x="5780748" y="5285767"/>
            <a:ext cx="45719" cy="1227557"/>
          </a:xfrm>
          <a:custGeom>
            <a:avLst/>
            <a:gdLst/>
            <a:ahLst/>
            <a:cxnLst/>
            <a:rect l="l" t="t" r="r" b="b"/>
            <a:pathLst>
              <a:path w="69868" h="3537077" extrusionOk="0">
                <a:moveTo>
                  <a:pt x="69868" y="0"/>
                </a:moveTo>
                <a:lnTo>
                  <a:pt x="69868" y="0"/>
                </a:lnTo>
                <a:lnTo>
                  <a:pt x="69868" y="3537077"/>
                </a:lnTo>
                <a:lnTo>
                  <a:pt x="69868" y="3537077"/>
                </a:lnTo>
                <a:cubicBezTo>
                  <a:pt x="31281" y="3537077"/>
                  <a:pt x="0" y="3505796"/>
                  <a:pt x="0" y="3467209"/>
                </a:cubicBezTo>
                <a:lnTo>
                  <a:pt x="0" y="69868"/>
                </a:lnTo>
                <a:cubicBezTo>
                  <a:pt x="0" y="31307"/>
                  <a:pt x="31307" y="0"/>
                  <a:pt x="69868" y="0"/>
                </a:cubicBezTo>
                <a:close/>
              </a:path>
            </a:pathLst>
          </a:custGeom>
          <a:solidFill>
            <a:srgbClr val="04B0FF"/>
          </a:solidFill>
          <a:ln>
            <a:solidFill>
              <a:srgbClr val="04B0FF"/>
            </a:solidFill>
          </a:ln>
        </p:spPr>
        <p:txBody>
          <a:bodyPr spcFirstLastPara="1" wrap="square" lIns="63496" tIns="63496" rIns="63496" bIns="63496" anchor="ctr" anchorCtr="0">
            <a:noAutofit/>
          </a:bodyPr>
          <a:lstStyle/>
          <a:p>
            <a:endParaRPr lang="pt-BR" sz="1250" noProof="0" dirty="0"/>
          </a:p>
        </p:txBody>
      </p:sp>
    </p:spTree>
    <p:extLst>
      <p:ext uri="{BB962C8B-B14F-4D97-AF65-F5344CB8AC3E}">
        <p14:creationId xmlns:p14="http://schemas.microsoft.com/office/powerpoint/2010/main" val="17208532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9CD68-0954-BAE3-D386-F6ABEDEDE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Logotipo&#10;&#10;Descrição gerada automaticamente">
            <a:extLst>
              <a:ext uri="{FF2B5EF4-FFF2-40B4-BE49-F238E27FC236}">
                <a16:creationId xmlns:a16="http://schemas.microsoft.com/office/drawing/2014/main" id="{3D8A7E10-9B37-FBF9-8245-E12112C694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8615" y="0"/>
            <a:ext cx="1123385" cy="1123385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D995AD6D-EB2F-A7F1-B47B-219991A6B0F9}"/>
              </a:ext>
            </a:extLst>
          </p:cNvPr>
          <p:cNvSpPr txBox="1"/>
          <p:nvPr/>
        </p:nvSpPr>
        <p:spPr>
          <a:xfrm>
            <a:off x="275948" y="158340"/>
            <a:ext cx="11415936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pt-BR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>
              <a:defRPr sz="3600" b="1">
                <a:solidFill>
                  <a:srgbClr val="04B0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atin typeface="+mn-lt"/>
              </a:rPr>
              <a:t>Pontos de atenção – Matriz de riscos</a:t>
            </a: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6EE2EF87-D44D-8877-E0A5-5D8BC3647FDE}"/>
              </a:ext>
            </a:extLst>
          </p:cNvPr>
          <p:cNvSpPr/>
          <p:nvPr/>
        </p:nvSpPr>
        <p:spPr>
          <a:xfrm>
            <a:off x="1111172" y="787081"/>
            <a:ext cx="3441722" cy="686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pt-BR" sz="2400" b="1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pt-BR" sz="2400" b="1" noProof="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0" name="Text 4">
            <a:extLst>
              <a:ext uri="{FF2B5EF4-FFF2-40B4-BE49-F238E27FC236}">
                <a16:creationId xmlns:a16="http://schemas.microsoft.com/office/drawing/2014/main" id="{BA88AD3F-D837-A997-09C2-0C6ECF791DBD}"/>
              </a:ext>
            </a:extLst>
          </p:cNvPr>
          <p:cNvSpPr/>
          <p:nvPr/>
        </p:nvSpPr>
        <p:spPr>
          <a:xfrm>
            <a:off x="1111172" y="787081"/>
            <a:ext cx="4316311" cy="686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endParaRPr lang="pt-BR" sz="2400" b="1" noProof="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" name="Conector: Angulado 1">
            <a:extLst>
              <a:ext uri="{FF2B5EF4-FFF2-40B4-BE49-F238E27FC236}">
                <a16:creationId xmlns:a16="http://schemas.microsoft.com/office/drawing/2014/main" id="{4306EA0A-0FD2-C429-AFCC-B03E12687522}"/>
              </a:ext>
            </a:extLst>
          </p:cNvPr>
          <p:cNvCxnSpPr>
            <a:cxnSpLocks/>
            <a:endCxn id="7" idx="1"/>
          </p:cNvCxnSpPr>
          <p:nvPr/>
        </p:nvCxnSpPr>
        <p:spPr>
          <a:xfrm rot="16200000" flipH="1">
            <a:off x="-554165" y="2221213"/>
            <a:ext cx="2263680" cy="371960"/>
          </a:xfrm>
          <a:prstGeom prst="bentConnector2">
            <a:avLst/>
          </a:prstGeom>
          <a:ln>
            <a:solidFill>
              <a:srgbClr val="04B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35338F8A-60B1-2CE3-0878-DE72AA238E50}"/>
              </a:ext>
            </a:extLst>
          </p:cNvPr>
          <p:cNvSpPr/>
          <p:nvPr/>
        </p:nvSpPr>
        <p:spPr>
          <a:xfrm>
            <a:off x="302593" y="968495"/>
            <a:ext cx="3900526" cy="686846"/>
          </a:xfrm>
          <a:prstGeom prst="roundRect">
            <a:avLst/>
          </a:prstGeom>
          <a:solidFill>
            <a:srgbClr val="04B0FF"/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50" noProof="0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C560C973-1EB7-68BC-7B57-7BFE66D8569B}"/>
              </a:ext>
            </a:extLst>
          </p:cNvPr>
          <p:cNvSpPr/>
          <p:nvPr/>
        </p:nvSpPr>
        <p:spPr>
          <a:xfrm>
            <a:off x="1111171" y="1000248"/>
            <a:ext cx="3441722" cy="686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pt-BR" sz="2400" b="1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pt-BR" sz="2400" b="1" noProof="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A7E901E3-34AE-DEC0-EF62-480D203DA098}"/>
              </a:ext>
            </a:extLst>
          </p:cNvPr>
          <p:cNvSpPr/>
          <p:nvPr/>
        </p:nvSpPr>
        <p:spPr>
          <a:xfrm>
            <a:off x="406400" y="1107226"/>
            <a:ext cx="490604" cy="475231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chemeClr val="bg2">
              <a:alpha val="20000"/>
            </a:schemeClr>
          </a:solidFill>
          <a:ln/>
        </p:spPr>
        <p:txBody>
          <a:bodyPr/>
          <a:lstStyle/>
          <a:p>
            <a:endParaRPr lang="pt-BR" sz="1250" noProof="0" dirty="0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C71F1FB-4772-215D-378A-B43DBC4EB221}"/>
              </a:ext>
            </a:extLst>
          </p:cNvPr>
          <p:cNvSpPr/>
          <p:nvPr/>
        </p:nvSpPr>
        <p:spPr>
          <a:xfrm>
            <a:off x="763655" y="1737474"/>
            <a:ext cx="5233782" cy="3603117"/>
          </a:xfrm>
          <a:prstGeom prst="roundRect">
            <a:avLst/>
          </a:prstGeom>
          <a:noFill/>
          <a:ln>
            <a:solidFill>
              <a:srgbClr val="04B0F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50" noProof="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6D40F05A-02CD-33F6-834D-F33A30B70839}"/>
              </a:ext>
            </a:extLst>
          </p:cNvPr>
          <p:cNvSpPr/>
          <p:nvPr/>
        </p:nvSpPr>
        <p:spPr>
          <a:xfrm>
            <a:off x="1111171" y="1000248"/>
            <a:ext cx="4316311" cy="686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endParaRPr lang="pt-BR" sz="2400" b="1" noProof="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CA07071B-8C71-7080-3DA0-30160C954398}"/>
              </a:ext>
            </a:extLst>
          </p:cNvPr>
          <p:cNvSpPr/>
          <p:nvPr/>
        </p:nvSpPr>
        <p:spPr>
          <a:xfrm>
            <a:off x="1005278" y="987060"/>
            <a:ext cx="3040511" cy="686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pt-BR" sz="2400" b="1" dirty="0">
                <a:solidFill>
                  <a:schemeClr val="bg1"/>
                </a:solidFill>
                <a:cs typeface="Segoe UI" panose="020B0502040204020203" pitchFamily="34" charset="0"/>
              </a:rPr>
              <a:t>Obtenção de licenças </a:t>
            </a: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D49AF6A8-4EF2-DDD0-B45B-4A0B0F06070E}"/>
              </a:ext>
            </a:extLst>
          </p:cNvPr>
          <p:cNvSpPr/>
          <p:nvPr/>
        </p:nvSpPr>
        <p:spPr>
          <a:xfrm>
            <a:off x="939216" y="3577161"/>
            <a:ext cx="4757031" cy="1434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lvl="0" indent="-285750" algn="just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t-BR" sz="15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Google Shape;181;p10">
            <a:extLst>
              <a:ext uri="{FF2B5EF4-FFF2-40B4-BE49-F238E27FC236}">
                <a16:creationId xmlns:a16="http://schemas.microsoft.com/office/drawing/2014/main" id="{4FEFA35E-567F-E7EE-9A2E-DCFB6A52039C}"/>
              </a:ext>
            </a:extLst>
          </p:cNvPr>
          <p:cNvSpPr/>
          <p:nvPr/>
        </p:nvSpPr>
        <p:spPr>
          <a:xfrm>
            <a:off x="496955" y="1189359"/>
            <a:ext cx="266700" cy="266700"/>
          </a:xfrm>
          <a:custGeom>
            <a:avLst/>
            <a:gdLst/>
            <a:ahLst/>
            <a:cxnLst/>
            <a:rect l="l" t="t" r="r" b="b"/>
            <a:pathLst>
              <a:path w="355600" h="355600" extrusionOk="0">
                <a:moveTo>
                  <a:pt x="327333" y="4653"/>
                </a:moveTo>
                <a:cubicBezTo>
                  <a:pt x="331778" y="417"/>
                  <a:pt x="338237" y="-1111"/>
                  <a:pt x="344210" y="833"/>
                </a:cubicBezTo>
                <a:cubicBezTo>
                  <a:pt x="351016" y="3125"/>
                  <a:pt x="355600" y="9515"/>
                  <a:pt x="355600" y="16669"/>
                </a:cubicBezTo>
                <a:lnTo>
                  <a:pt x="355600" y="146477"/>
                </a:lnTo>
                <a:cubicBezTo>
                  <a:pt x="355600" y="237599"/>
                  <a:pt x="280521" y="311150"/>
                  <a:pt x="189746" y="311150"/>
                </a:cubicBezTo>
                <a:cubicBezTo>
                  <a:pt x="136267" y="311150"/>
                  <a:pt x="90150" y="276771"/>
                  <a:pt x="73412" y="228709"/>
                </a:cubicBezTo>
                <a:cubicBezTo>
                  <a:pt x="48826" y="250101"/>
                  <a:pt x="33337" y="281563"/>
                  <a:pt x="33337" y="316706"/>
                </a:cubicBezTo>
                <a:cubicBezTo>
                  <a:pt x="33337" y="325944"/>
                  <a:pt x="25906" y="333375"/>
                  <a:pt x="16669" y="333375"/>
                </a:cubicBezTo>
                <a:cubicBezTo>
                  <a:pt x="7431" y="333375"/>
                  <a:pt x="0" y="325944"/>
                  <a:pt x="0" y="316706"/>
                </a:cubicBezTo>
                <a:cubicBezTo>
                  <a:pt x="0" y="264686"/>
                  <a:pt x="26531" y="218847"/>
                  <a:pt x="66744" y="191899"/>
                </a:cubicBezTo>
                <a:cubicBezTo>
                  <a:pt x="91261" y="175508"/>
                  <a:pt x="120501" y="166688"/>
                  <a:pt x="150019" y="166688"/>
                </a:cubicBezTo>
                <a:lnTo>
                  <a:pt x="205581" y="166688"/>
                </a:lnTo>
                <a:cubicBezTo>
                  <a:pt x="214819" y="166688"/>
                  <a:pt x="222250" y="159256"/>
                  <a:pt x="222250" y="150019"/>
                </a:cubicBezTo>
                <a:cubicBezTo>
                  <a:pt x="222250" y="140781"/>
                  <a:pt x="214819" y="133350"/>
                  <a:pt x="205581" y="133350"/>
                </a:cubicBezTo>
                <a:lnTo>
                  <a:pt x="150019" y="133350"/>
                </a:lnTo>
                <a:cubicBezTo>
                  <a:pt x="122446" y="133350"/>
                  <a:pt x="96331" y="139462"/>
                  <a:pt x="72926" y="150366"/>
                </a:cubicBezTo>
                <a:cubicBezTo>
                  <a:pt x="89108" y="101749"/>
                  <a:pt x="134878" y="66675"/>
                  <a:pt x="188913" y="66675"/>
                </a:cubicBezTo>
                <a:cubicBezTo>
                  <a:pt x="235029" y="66675"/>
                  <a:pt x="269339" y="51326"/>
                  <a:pt x="292189" y="36116"/>
                </a:cubicBezTo>
                <a:cubicBezTo>
                  <a:pt x="305524" y="27226"/>
                  <a:pt x="316845" y="16599"/>
                  <a:pt x="327402" y="465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lang="pt-BR" sz="1350" noProof="0" dirty="0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D459E3FC-E16C-3005-89CB-14073D2EA38D}"/>
              </a:ext>
            </a:extLst>
          </p:cNvPr>
          <p:cNvSpPr/>
          <p:nvPr/>
        </p:nvSpPr>
        <p:spPr>
          <a:xfrm>
            <a:off x="897004" y="3343033"/>
            <a:ext cx="4817618" cy="1434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/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BD845CF8-012D-7195-793C-3E15E63FB875}"/>
              </a:ext>
            </a:extLst>
          </p:cNvPr>
          <p:cNvSpPr/>
          <p:nvPr/>
        </p:nvSpPr>
        <p:spPr>
          <a:xfrm>
            <a:off x="905884" y="2909604"/>
            <a:ext cx="4928919" cy="1434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500" dirty="0">
                <a:solidFill>
                  <a:srgbClr val="444444"/>
                </a:solidFill>
              </a:rPr>
              <a:t>O item B1 da Matriz de Riscos atribui à Concessionária o risco de atraso na obtenção de licenças em razão da não entrega de todos os documentos, estudos e informações exigidos, ou da entrega em qualidade inferior à mínima estabelecida pelo órgão competente.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500" b="1" u="sng" dirty="0">
              <a:solidFill>
                <a:srgbClr val="444444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500" b="1" u="sng" dirty="0">
                <a:solidFill>
                  <a:srgbClr val="444444"/>
                </a:solidFill>
              </a:rPr>
              <a:t>O órgão ambiental pode solicitar complementações da documentação apresentada pela Concessionária, mesmo quando o protocolo do pedido de licenciamento tiver sido completo e tempestivo. Nesses casos, a Concessionária não deve ser responsabilizada por atrasos decorrentes de exigências adicionais do órgão licenciador.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377041FD-9520-DB11-33DF-1E838A7E83EE}"/>
              </a:ext>
            </a:extLst>
          </p:cNvPr>
          <p:cNvSpPr/>
          <p:nvPr/>
        </p:nvSpPr>
        <p:spPr>
          <a:xfrm>
            <a:off x="6223594" y="963011"/>
            <a:ext cx="5802582" cy="548092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pt-BR" sz="1945" b="1" noProof="0" dirty="0">
              <a:solidFill>
                <a:schemeClr val="bg2"/>
              </a:solidFill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3F0043F5-4680-21E9-0439-B1D2482177EB}"/>
              </a:ext>
            </a:extLst>
          </p:cNvPr>
          <p:cNvSpPr/>
          <p:nvPr/>
        </p:nvSpPr>
        <p:spPr>
          <a:xfrm>
            <a:off x="7203992" y="1147555"/>
            <a:ext cx="4353275" cy="686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defRPr/>
            </a:pPr>
            <a:r>
              <a:rPr lang="pt-BR" sz="2400" b="1" noProof="0" dirty="0">
                <a:solidFill>
                  <a:srgbClr val="04B0FF"/>
                </a:solidFill>
              </a:rPr>
              <a:t>Impactos da manutenção do item </a:t>
            </a:r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935A5AF0-5250-C57A-F059-8D8185AEDB4B}"/>
              </a:ext>
            </a:extLst>
          </p:cNvPr>
          <p:cNvSpPr/>
          <p:nvPr/>
        </p:nvSpPr>
        <p:spPr>
          <a:xfrm>
            <a:off x="6697248" y="1283589"/>
            <a:ext cx="425676" cy="450128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4B0FF"/>
          </a:solidFill>
          <a:ln/>
        </p:spPr>
        <p:txBody>
          <a:bodyPr/>
          <a:lstStyle/>
          <a:p>
            <a:endParaRPr lang="pt-BR" sz="1250" noProof="0" dirty="0"/>
          </a:p>
        </p:txBody>
      </p:sp>
      <p:pic>
        <p:nvPicPr>
          <p:cNvPr id="18" name="Gráfico 17" descr="Lista de Verificação com preenchimento sólido">
            <a:extLst>
              <a:ext uri="{FF2B5EF4-FFF2-40B4-BE49-F238E27FC236}">
                <a16:creationId xmlns:a16="http://schemas.microsoft.com/office/drawing/2014/main" id="{BAC1EB38-4A08-546E-EE95-807376BC80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2697" y="1301900"/>
            <a:ext cx="394778" cy="394778"/>
          </a:xfrm>
          <a:prstGeom prst="rect">
            <a:avLst/>
          </a:prstGeom>
        </p:spPr>
      </p:pic>
      <p:sp>
        <p:nvSpPr>
          <p:cNvPr id="43" name="CaixaDeTexto 42">
            <a:extLst>
              <a:ext uri="{FF2B5EF4-FFF2-40B4-BE49-F238E27FC236}">
                <a16:creationId xmlns:a16="http://schemas.microsoft.com/office/drawing/2014/main" id="{928E0C68-378A-3D3D-F02D-BF2AB33EBE30}"/>
              </a:ext>
            </a:extLst>
          </p:cNvPr>
          <p:cNvSpPr txBox="1"/>
          <p:nvPr/>
        </p:nvSpPr>
        <p:spPr>
          <a:xfrm>
            <a:off x="1525393" y="5525234"/>
            <a:ext cx="4472044" cy="7386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/>
            <a:r>
              <a:rPr lang="pt-BR" sz="1400" dirty="0"/>
              <a:t>Em Minas Gerais, o licenciamento ambiental de aterros sanitários é de competência exclusiva do órgão ambiental estadual (</a:t>
            </a:r>
            <a:r>
              <a:rPr lang="pt-BR" sz="1400" dirty="0" err="1"/>
              <a:t>c.f</a:t>
            </a:r>
            <a:r>
              <a:rPr lang="pt-BR" sz="1400" dirty="0"/>
              <a:t>. Deliberação Normativa COPAM nº 213/2017).</a:t>
            </a:r>
          </a:p>
        </p:txBody>
      </p:sp>
      <p:cxnSp>
        <p:nvCxnSpPr>
          <p:cNvPr id="46" name="Conector: Angulado 45">
            <a:extLst>
              <a:ext uri="{FF2B5EF4-FFF2-40B4-BE49-F238E27FC236}">
                <a16:creationId xmlns:a16="http://schemas.microsoft.com/office/drawing/2014/main" id="{288772B1-2DE3-104B-B631-6236BA17818F}"/>
              </a:ext>
            </a:extLst>
          </p:cNvPr>
          <p:cNvCxnSpPr>
            <a:cxnSpLocks/>
            <a:endCxn id="43" idx="1"/>
          </p:cNvCxnSpPr>
          <p:nvPr/>
        </p:nvCxnSpPr>
        <p:spPr>
          <a:xfrm rot="16200000" flipH="1">
            <a:off x="1109206" y="5478378"/>
            <a:ext cx="553975" cy="278400"/>
          </a:xfrm>
          <a:prstGeom prst="bentConnector2">
            <a:avLst/>
          </a:prstGeom>
          <a:ln>
            <a:solidFill>
              <a:srgbClr val="04B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26CBBEAB-6999-55D4-47D4-F32414B52983}"/>
              </a:ext>
            </a:extLst>
          </p:cNvPr>
          <p:cNvSpPr/>
          <p:nvPr/>
        </p:nvSpPr>
        <p:spPr>
          <a:xfrm>
            <a:off x="1525394" y="5515806"/>
            <a:ext cx="4472043" cy="866858"/>
          </a:xfrm>
          <a:prstGeom prst="roundRect">
            <a:avLst/>
          </a:prstGeom>
          <a:noFill/>
          <a:ln>
            <a:solidFill>
              <a:srgbClr val="04B0F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50" noProof="0" dirty="0"/>
          </a:p>
        </p:txBody>
      </p:sp>
      <p:sp>
        <p:nvSpPr>
          <p:cNvPr id="51" name="Google Shape;185;p10">
            <a:extLst>
              <a:ext uri="{FF2B5EF4-FFF2-40B4-BE49-F238E27FC236}">
                <a16:creationId xmlns:a16="http://schemas.microsoft.com/office/drawing/2014/main" id="{310C347F-9A0F-CD49-FF6E-473DBF41891E}"/>
              </a:ext>
            </a:extLst>
          </p:cNvPr>
          <p:cNvSpPr/>
          <p:nvPr/>
        </p:nvSpPr>
        <p:spPr>
          <a:xfrm>
            <a:off x="6960954" y="1723388"/>
            <a:ext cx="4839352" cy="391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just">
              <a:lnSpc>
                <a:spcPct val="140000"/>
              </a:lnSpc>
            </a:pPr>
            <a:endParaRPr lang="pt-BR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2" name="Google Shape;185;p10">
            <a:extLst>
              <a:ext uri="{FF2B5EF4-FFF2-40B4-BE49-F238E27FC236}">
                <a16:creationId xmlns:a16="http://schemas.microsoft.com/office/drawing/2014/main" id="{7A0331BF-796C-15AD-CC59-007E75ABA226}"/>
              </a:ext>
            </a:extLst>
          </p:cNvPr>
          <p:cNvSpPr/>
          <p:nvPr/>
        </p:nvSpPr>
        <p:spPr>
          <a:xfrm>
            <a:off x="6951000" y="2077427"/>
            <a:ext cx="4839352" cy="391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just">
              <a:lnSpc>
                <a:spcPct val="140000"/>
              </a:lnSpc>
            </a:pPr>
            <a:r>
              <a:rPr lang="pt-BR" sz="1400" b="1" dirty="0">
                <a:solidFill>
                  <a:srgbClr val="444444"/>
                </a:solidFill>
                <a:cs typeface="Segoe UI" panose="020B0502040204020203" pitchFamily="34" charset="0"/>
                <a:sym typeface="Liter"/>
              </a:rPr>
              <a:t>Transferência indevida de risco regulatório: </a:t>
            </a:r>
            <a:r>
              <a:rPr lang="pt-BR" sz="1400" dirty="0">
                <a:solidFill>
                  <a:srgbClr val="444444"/>
                </a:solidFill>
                <a:cs typeface="Segoe UI" panose="020B0502040204020203" pitchFamily="34" charset="0"/>
              </a:rPr>
              <a:t>concessionária pode ser responsabilizada por atrasos decorrentes da atuação de entes públicos. </a:t>
            </a:r>
            <a:endParaRPr lang="pt-BR" sz="1400" b="1" dirty="0">
              <a:solidFill>
                <a:srgbClr val="444444"/>
              </a:solidFill>
              <a:cs typeface="Segoe UI" panose="020B0502040204020203" pitchFamily="34" charset="0"/>
            </a:endParaRPr>
          </a:p>
        </p:txBody>
      </p:sp>
      <p:sp>
        <p:nvSpPr>
          <p:cNvPr id="53" name="Google Shape;185;p10">
            <a:extLst>
              <a:ext uri="{FF2B5EF4-FFF2-40B4-BE49-F238E27FC236}">
                <a16:creationId xmlns:a16="http://schemas.microsoft.com/office/drawing/2014/main" id="{C06A755B-830C-C430-B77C-D2A78035873C}"/>
              </a:ext>
            </a:extLst>
          </p:cNvPr>
          <p:cNvSpPr/>
          <p:nvPr/>
        </p:nvSpPr>
        <p:spPr>
          <a:xfrm>
            <a:off x="6960954" y="3137135"/>
            <a:ext cx="4859260" cy="888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>
              <a:lnSpc>
                <a:spcPct val="140000"/>
              </a:lnSpc>
            </a:pPr>
            <a:r>
              <a:rPr lang="pt-BR" sz="1400" b="1" dirty="0">
                <a:solidFill>
                  <a:srgbClr val="444444"/>
                </a:solidFill>
                <a:cs typeface="Segoe UI" panose="020B0502040204020203" pitchFamily="34" charset="0"/>
              </a:rPr>
              <a:t>Risco de desequilíbrio econômico-financeiro:</a:t>
            </a:r>
            <a:r>
              <a:rPr lang="pt-BR" sz="1400" dirty="0">
                <a:solidFill>
                  <a:srgbClr val="444444"/>
                </a:solidFill>
                <a:cs typeface="Segoe UI" panose="020B0502040204020203" pitchFamily="34" charset="0"/>
              </a:rPr>
              <a:t> atrasos em licenças ambientais podem impactar cronograma, CAPEX, OPEX e início da operação sem garantia de recomposição. </a:t>
            </a:r>
          </a:p>
        </p:txBody>
      </p:sp>
      <p:sp>
        <p:nvSpPr>
          <p:cNvPr id="54" name="Google Shape;185;p10">
            <a:extLst>
              <a:ext uri="{FF2B5EF4-FFF2-40B4-BE49-F238E27FC236}">
                <a16:creationId xmlns:a16="http://schemas.microsoft.com/office/drawing/2014/main" id="{BBBD6D22-B12D-162F-E451-67975C707D9F}"/>
              </a:ext>
            </a:extLst>
          </p:cNvPr>
          <p:cNvSpPr/>
          <p:nvPr/>
        </p:nvSpPr>
        <p:spPr>
          <a:xfrm>
            <a:off x="6951000" y="4222906"/>
            <a:ext cx="4839352" cy="391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>
              <a:lnSpc>
                <a:spcPct val="140000"/>
              </a:lnSpc>
            </a:pPr>
            <a:r>
              <a:rPr lang="pt-BR" sz="1400" b="1" dirty="0">
                <a:solidFill>
                  <a:srgbClr val="444444"/>
                </a:solidFill>
                <a:cs typeface="Segoe UI" panose="020B0502040204020203" pitchFamily="34" charset="0"/>
              </a:rPr>
              <a:t>Risco de aplicação de penalidades: </a:t>
            </a:r>
            <a:r>
              <a:rPr lang="pt-BR" sz="1400" dirty="0">
                <a:solidFill>
                  <a:srgbClr val="444444"/>
                </a:solidFill>
                <a:cs typeface="Segoe UI" panose="020B0502040204020203" pitchFamily="34" charset="0"/>
              </a:rPr>
              <a:t>demora no licenciamento pode resultar em descumprimento de marcos contratuais e aplicação de multas à concessionária. </a:t>
            </a:r>
          </a:p>
        </p:txBody>
      </p:sp>
      <p:sp>
        <p:nvSpPr>
          <p:cNvPr id="55" name="Google Shape;185;p10">
            <a:extLst>
              <a:ext uri="{FF2B5EF4-FFF2-40B4-BE49-F238E27FC236}">
                <a16:creationId xmlns:a16="http://schemas.microsoft.com/office/drawing/2014/main" id="{3324341E-4592-5F6E-40C1-127029ECA4E7}"/>
              </a:ext>
            </a:extLst>
          </p:cNvPr>
          <p:cNvSpPr/>
          <p:nvPr/>
        </p:nvSpPr>
        <p:spPr>
          <a:xfrm>
            <a:off x="6960953" y="5294148"/>
            <a:ext cx="4839352" cy="391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>
              <a:lnSpc>
                <a:spcPct val="140000"/>
              </a:lnSpc>
            </a:pPr>
            <a:r>
              <a:rPr lang="pt-BR" sz="1400" b="1" dirty="0">
                <a:solidFill>
                  <a:srgbClr val="444444"/>
                </a:solidFill>
                <a:cs typeface="Segoe UI" panose="020B0502040204020203" pitchFamily="34" charset="0"/>
              </a:rPr>
              <a:t>Impacto na financiabilidade do projeto: </a:t>
            </a:r>
            <a:r>
              <a:rPr lang="pt-BR" sz="1400" dirty="0">
                <a:solidFill>
                  <a:srgbClr val="444444"/>
                </a:solidFill>
                <a:cs typeface="Segoe UI" panose="020B0502040204020203" pitchFamily="34" charset="0"/>
              </a:rPr>
              <a:t>indefinição sobre responsabilidade por licenças ambientais aumenta percepção de risco por investidores e financiadores. </a:t>
            </a:r>
          </a:p>
        </p:txBody>
      </p:sp>
      <p:pic>
        <p:nvPicPr>
          <p:cNvPr id="57" name="Gráfico 56" descr="Transferência com preenchimento sólido">
            <a:extLst>
              <a:ext uri="{FF2B5EF4-FFF2-40B4-BE49-F238E27FC236}">
                <a16:creationId xmlns:a16="http://schemas.microsoft.com/office/drawing/2014/main" id="{AF4E0E96-45F9-41AE-E61D-7654CCC222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9779" y="2077427"/>
            <a:ext cx="309039" cy="309039"/>
          </a:xfrm>
          <a:prstGeom prst="rect">
            <a:avLst/>
          </a:prstGeom>
        </p:spPr>
      </p:pic>
      <p:pic>
        <p:nvPicPr>
          <p:cNvPr id="58" name="Gráfico 57" descr="Aviso com preenchimento sólido">
            <a:extLst>
              <a:ext uri="{FF2B5EF4-FFF2-40B4-BE49-F238E27FC236}">
                <a16:creationId xmlns:a16="http://schemas.microsoft.com/office/drawing/2014/main" id="{8E75A50D-06C7-CB46-8D13-3CE8E3BF6E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5802" y="4271412"/>
            <a:ext cx="342892" cy="342892"/>
          </a:xfrm>
          <a:prstGeom prst="rect">
            <a:avLst/>
          </a:prstGeom>
        </p:spPr>
      </p:pic>
      <p:pic>
        <p:nvPicPr>
          <p:cNvPr id="59" name="Gráfico 58" descr="Gráfico de barras com tendência descendente com preenchimento sólido">
            <a:extLst>
              <a:ext uri="{FF2B5EF4-FFF2-40B4-BE49-F238E27FC236}">
                <a16:creationId xmlns:a16="http://schemas.microsoft.com/office/drawing/2014/main" id="{A3F383B3-6DB2-0898-0A4F-8E160CB74A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1021" y="3155599"/>
            <a:ext cx="387756" cy="387756"/>
          </a:xfrm>
          <a:prstGeom prst="rect">
            <a:avLst/>
          </a:prstGeom>
        </p:spPr>
      </p:pic>
      <p:pic>
        <p:nvPicPr>
          <p:cNvPr id="63" name="Gráfico 62" descr="Aperto de mão com preenchimento sólido">
            <a:extLst>
              <a:ext uri="{FF2B5EF4-FFF2-40B4-BE49-F238E27FC236}">
                <a16:creationId xmlns:a16="http://schemas.microsoft.com/office/drawing/2014/main" id="{A283AD94-6960-F794-3704-6A05E45C40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66411" y="5309851"/>
            <a:ext cx="392366" cy="392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7531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9F2B5-8FB9-FACF-883E-4589973B3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Logotipo&#10;&#10;Descrição gerada automaticamente">
            <a:extLst>
              <a:ext uri="{FF2B5EF4-FFF2-40B4-BE49-F238E27FC236}">
                <a16:creationId xmlns:a16="http://schemas.microsoft.com/office/drawing/2014/main" id="{6714D836-BF35-E184-4F1D-A1556DF7315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8615" y="0"/>
            <a:ext cx="1123385" cy="1123385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3C506695-F4C9-0BE5-A753-8DC8BE06A782}"/>
              </a:ext>
            </a:extLst>
          </p:cNvPr>
          <p:cNvSpPr txBox="1"/>
          <p:nvPr/>
        </p:nvSpPr>
        <p:spPr>
          <a:xfrm>
            <a:off x="314812" y="291541"/>
            <a:ext cx="11415936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pt-BR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>
              <a:defRPr sz="3600" b="1">
                <a:solidFill>
                  <a:srgbClr val="04B0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atin typeface="+mn-lt"/>
              </a:rPr>
              <a:t>Pontos de atenção – Matriz de riscos</a:t>
            </a:r>
          </a:p>
        </p:txBody>
      </p:sp>
      <p:sp>
        <p:nvSpPr>
          <p:cNvPr id="26" name="Google Shape;211;p10">
            <a:extLst>
              <a:ext uri="{FF2B5EF4-FFF2-40B4-BE49-F238E27FC236}">
                <a16:creationId xmlns:a16="http://schemas.microsoft.com/office/drawing/2014/main" id="{FBB30123-9736-9F51-BD87-3EFDEC587C9D}"/>
              </a:ext>
            </a:extLst>
          </p:cNvPr>
          <p:cNvSpPr/>
          <p:nvPr/>
        </p:nvSpPr>
        <p:spPr>
          <a:xfrm>
            <a:off x="653662" y="1757361"/>
            <a:ext cx="10664961" cy="3941689"/>
          </a:xfrm>
          <a:custGeom>
            <a:avLst/>
            <a:gdLst/>
            <a:ahLst/>
            <a:cxnLst/>
            <a:rect l="l" t="t" r="r" b="b"/>
            <a:pathLst>
              <a:path w="11458384" h="3537077" extrusionOk="0">
                <a:moveTo>
                  <a:pt x="69868" y="0"/>
                </a:moveTo>
                <a:lnTo>
                  <a:pt x="11318634" y="0"/>
                </a:lnTo>
                <a:cubicBezTo>
                  <a:pt x="11395816" y="0"/>
                  <a:pt x="11458384" y="62568"/>
                  <a:pt x="11458384" y="139750"/>
                </a:cubicBezTo>
                <a:lnTo>
                  <a:pt x="11458384" y="3397327"/>
                </a:lnTo>
                <a:cubicBezTo>
                  <a:pt x="11458384" y="3474509"/>
                  <a:pt x="11395816" y="3537077"/>
                  <a:pt x="11318634" y="3537077"/>
                </a:cubicBezTo>
                <a:lnTo>
                  <a:pt x="69868" y="3537077"/>
                </a:lnTo>
                <a:cubicBezTo>
                  <a:pt x="31281" y="3537077"/>
                  <a:pt x="0" y="3505796"/>
                  <a:pt x="0" y="3467209"/>
                </a:cubicBezTo>
                <a:lnTo>
                  <a:pt x="0" y="69868"/>
                </a:lnTo>
                <a:cubicBezTo>
                  <a:pt x="0" y="31307"/>
                  <a:pt x="31307" y="0"/>
                  <a:pt x="69868" y="0"/>
                </a:cubicBezTo>
                <a:close/>
              </a:path>
            </a:pathLst>
          </a:custGeom>
          <a:solidFill>
            <a:schemeClr val="bg1">
              <a:lumMod val="85000"/>
              <a:alpha val="20000"/>
            </a:schemeClr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8CBC67D4-9673-1F04-DBAE-089E5B33D860}"/>
              </a:ext>
            </a:extLst>
          </p:cNvPr>
          <p:cNvSpPr/>
          <p:nvPr/>
        </p:nvSpPr>
        <p:spPr>
          <a:xfrm>
            <a:off x="873377" y="1940730"/>
            <a:ext cx="595313" cy="630565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52400" y="0"/>
                </a:moveTo>
                <a:lnTo>
                  <a:pt x="609600" y="0"/>
                </a:lnTo>
                <a:cubicBezTo>
                  <a:pt x="693712" y="0"/>
                  <a:pt x="762000" y="68288"/>
                  <a:pt x="762000" y="152400"/>
                </a:cubicBezTo>
                <a:lnTo>
                  <a:pt x="762000" y="609600"/>
                </a:lnTo>
                <a:cubicBezTo>
                  <a:pt x="762000" y="693712"/>
                  <a:pt x="693712" y="762000"/>
                  <a:pt x="609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04B0FF">
              <a:alpha val="20000"/>
            </a:srgbClr>
          </a:solidFill>
          <a:ln>
            <a:solidFill>
              <a:srgbClr val="04B0FF"/>
            </a:solidFill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DF7F24B6-D753-7FDB-F4A6-8F38792F43D2}"/>
              </a:ext>
            </a:extLst>
          </p:cNvPr>
          <p:cNvSpPr/>
          <p:nvPr/>
        </p:nvSpPr>
        <p:spPr>
          <a:xfrm>
            <a:off x="1639598" y="2188583"/>
            <a:ext cx="4559908" cy="255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00">
              <a:lnSpc>
                <a:spcPct val="110000"/>
              </a:lnSpc>
            </a:pPr>
            <a:r>
              <a:rPr lang="pt-BR" sz="2800" b="1" noProof="0" dirty="0">
                <a:solidFill>
                  <a:srgbClr val="04B0FF"/>
                </a:solidFill>
                <a:ea typeface="Noto Sans SC" pitchFamily="34" charset="-122"/>
                <a:cs typeface="Segoe UI" panose="020B0502040204020203" pitchFamily="34" charset="0"/>
              </a:rPr>
              <a:t>Providências mitigadoras</a:t>
            </a:r>
            <a:endParaRPr lang="pt-BR" sz="2800" noProof="0" dirty="0">
              <a:solidFill>
                <a:srgbClr val="04B0FF"/>
              </a:solidFill>
              <a:cs typeface="Segoe UI" panose="020B0502040204020203" pitchFamily="34" charset="0"/>
            </a:endParaRPr>
          </a:p>
        </p:txBody>
      </p:sp>
      <p:sp>
        <p:nvSpPr>
          <p:cNvPr id="30" name="Shape 15">
            <a:extLst>
              <a:ext uri="{FF2B5EF4-FFF2-40B4-BE49-F238E27FC236}">
                <a16:creationId xmlns:a16="http://schemas.microsoft.com/office/drawing/2014/main" id="{1F9C4E28-9A74-AA3F-70FE-EA2A0CABC5D1}"/>
              </a:ext>
            </a:extLst>
          </p:cNvPr>
          <p:cNvSpPr/>
          <p:nvPr/>
        </p:nvSpPr>
        <p:spPr>
          <a:xfrm>
            <a:off x="961624" y="2070464"/>
            <a:ext cx="418820" cy="397212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04B0F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423AE8BA-C588-8531-81D0-88726F049662}"/>
              </a:ext>
            </a:extLst>
          </p:cNvPr>
          <p:cNvSpPr/>
          <p:nvPr/>
        </p:nvSpPr>
        <p:spPr>
          <a:xfrm>
            <a:off x="1057978" y="2754266"/>
            <a:ext cx="304626" cy="30566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04B0FF"/>
          </a:solidFill>
          <a:ln>
            <a:solidFill>
              <a:srgbClr val="04B0FF"/>
            </a:solidFill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B8BDA3DF-7517-BBEE-BFDE-2080B9897D94}"/>
              </a:ext>
            </a:extLst>
          </p:cNvPr>
          <p:cNvSpPr txBox="1"/>
          <p:nvPr/>
        </p:nvSpPr>
        <p:spPr>
          <a:xfrm>
            <a:off x="1544351" y="2747186"/>
            <a:ext cx="964275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altLang="pt-BR" sz="2000" dirty="0">
                <a:solidFill>
                  <a:srgbClr val="444444"/>
                </a:solidFill>
                <a:cs typeface="Segoe UI" panose="020B0502040204020203" pitchFamily="34" charset="0"/>
              </a:rPr>
              <a:t>Sugerimos a apresentação de </a:t>
            </a:r>
            <a:r>
              <a:rPr lang="pt-BR" altLang="pt-BR" sz="2000" b="1" dirty="0">
                <a:solidFill>
                  <a:srgbClr val="444444"/>
                </a:solidFill>
                <a:cs typeface="Segoe UI" panose="020B0502040204020203" pitchFamily="34" charset="0"/>
              </a:rPr>
              <a:t>pedido de esclarecimento </a:t>
            </a:r>
            <a:r>
              <a:rPr lang="pt-BR" sz="2000" dirty="0">
                <a:solidFill>
                  <a:srgbClr val="444444"/>
                </a:solidFill>
                <a:cs typeface="Segoe UI" panose="020B0502040204020203" pitchFamily="34" charset="0"/>
              </a:rPr>
              <a:t>para tentar induzir o entendimento de que </a:t>
            </a:r>
            <a:r>
              <a:rPr lang="pt-BR" altLang="pt-BR" sz="2000" dirty="0">
                <a:solidFill>
                  <a:srgbClr val="444444"/>
                </a:solidFill>
                <a:cs typeface="Segoe UI" panose="020B0502040204020203" pitchFamily="34" charset="0"/>
              </a:rPr>
              <a:t>o risco previsto no item B1 da Matriz de Riscos somente seja alocado à Concessionária nas hipóteses em que ela der causa ao atraso na obtenção das licenças, permissões e autorizações necessárias, </a:t>
            </a:r>
            <a:r>
              <a:rPr lang="pt-BR" altLang="pt-BR" sz="2000" b="1" dirty="0">
                <a:solidFill>
                  <a:srgbClr val="444444"/>
                </a:solidFill>
                <a:cs typeface="Segoe UI" panose="020B0502040204020203" pitchFamily="34" charset="0"/>
              </a:rPr>
              <a:t>não abrangendo atrasos decorrentes de exigências adicionais ou complementações solicitadas pelos órgãos licenciadores</a:t>
            </a:r>
            <a:r>
              <a:rPr lang="pt-BR" altLang="pt-BR" sz="2000" dirty="0">
                <a:solidFill>
                  <a:srgbClr val="444444"/>
                </a:solidFill>
                <a:cs typeface="Segoe UI" panose="020B0502040204020203" pitchFamily="34" charset="0"/>
              </a:rPr>
              <a:t>.</a:t>
            </a:r>
          </a:p>
          <a:p>
            <a:pPr algn="just"/>
            <a:endParaRPr lang="pt-BR" sz="2000" dirty="0">
              <a:solidFill>
                <a:srgbClr val="444444"/>
              </a:solidFill>
              <a:cs typeface="Segoe UI" panose="020B0502040204020203" pitchFamily="34" charset="0"/>
            </a:endParaRPr>
          </a:p>
          <a:p>
            <a:pPr algn="just"/>
            <a:r>
              <a:rPr lang="pt-BR" sz="2000" dirty="0">
                <a:solidFill>
                  <a:srgbClr val="444444"/>
                </a:solidFill>
                <a:cs typeface="Segoe UI" panose="020B0502040204020203" pitchFamily="34" charset="0"/>
              </a:rPr>
              <a:t>Possível referência: NR 05 da ANA, ainda que esta seja aplicável apenas aos serviços de água e esgoto. </a:t>
            </a:r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F5661678-F3FD-D894-C0F6-F1BF981089FA}"/>
              </a:ext>
            </a:extLst>
          </p:cNvPr>
          <p:cNvSpPr/>
          <p:nvPr/>
        </p:nvSpPr>
        <p:spPr>
          <a:xfrm>
            <a:off x="1004889" y="2323442"/>
            <a:ext cx="2765311" cy="686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35051">
              <a:lnSpc>
                <a:spcPct val="110000"/>
              </a:lnSpc>
            </a:pPr>
            <a:endParaRPr lang="pt-BR" sz="1945" noProof="0" dirty="0">
              <a:latin typeface="+mj-lt"/>
            </a:endParaRPr>
          </a:p>
        </p:txBody>
      </p:sp>
      <p:sp>
        <p:nvSpPr>
          <p:cNvPr id="34" name="Google Shape;212;p10">
            <a:extLst>
              <a:ext uri="{FF2B5EF4-FFF2-40B4-BE49-F238E27FC236}">
                <a16:creationId xmlns:a16="http://schemas.microsoft.com/office/drawing/2014/main" id="{7781B055-5FB3-BAB2-14A7-5723A4F34CE5}"/>
              </a:ext>
            </a:extLst>
          </p:cNvPr>
          <p:cNvSpPr/>
          <p:nvPr/>
        </p:nvSpPr>
        <p:spPr>
          <a:xfrm>
            <a:off x="645540" y="1757360"/>
            <a:ext cx="56929" cy="3941689"/>
          </a:xfrm>
          <a:custGeom>
            <a:avLst/>
            <a:gdLst/>
            <a:ahLst/>
            <a:cxnLst/>
            <a:rect l="l" t="t" r="r" b="b"/>
            <a:pathLst>
              <a:path w="69868" h="3537077" extrusionOk="0">
                <a:moveTo>
                  <a:pt x="69868" y="0"/>
                </a:moveTo>
                <a:lnTo>
                  <a:pt x="69868" y="0"/>
                </a:lnTo>
                <a:lnTo>
                  <a:pt x="69868" y="3537077"/>
                </a:lnTo>
                <a:lnTo>
                  <a:pt x="69868" y="3537077"/>
                </a:lnTo>
                <a:cubicBezTo>
                  <a:pt x="31281" y="3537077"/>
                  <a:pt x="0" y="3505796"/>
                  <a:pt x="0" y="3467209"/>
                </a:cubicBezTo>
                <a:lnTo>
                  <a:pt x="0" y="69868"/>
                </a:lnTo>
                <a:cubicBezTo>
                  <a:pt x="0" y="31307"/>
                  <a:pt x="31307" y="0"/>
                  <a:pt x="69868" y="0"/>
                </a:cubicBezTo>
                <a:close/>
              </a:path>
            </a:pathLst>
          </a:custGeom>
          <a:solidFill>
            <a:srgbClr val="04B0FF"/>
          </a:solidFill>
          <a:ln>
            <a:noFill/>
          </a:ln>
        </p:spPr>
        <p:txBody>
          <a:bodyPr spcFirstLastPara="1" wrap="square" lIns="63496" tIns="63496" rIns="63496" bIns="63496" anchor="ctr" anchorCtr="0">
            <a:noAutofit/>
          </a:bodyPr>
          <a:lstStyle/>
          <a:p>
            <a:endParaRPr lang="pt-BR" sz="1250" noProof="0" dirty="0"/>
          </a:p>
        </p:txBody>
      </p:sp>
    </p:spTree>
    <p:extLst>
      <p:ext uri="{BB962C8B-B14F-4D97-AF65-F5344CB8AC3E}">
        <p14:creationId xmlns:p14="http://schemas.microsoft.com/office/powerpoint/2010/main" val="4099318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55415-CBD1-7988-9C55-1BC611D30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Logotipo&#10;&#10;Descrição gerada automaticamente">
            <a:extLst>
              <a:ext uri="{FF2B5EF4-FFF2-40B4-BE49-F238E27FC236}">
                <a16:creationId xmlns:a16="http://schemas.microsoft.com/office/drawing/2014/main" id="{35098640-446E-B9A2-CD9F-2DD0B547CB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8615" y="0"/>
            <a:ext cx="1123385" cy="1123385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47124E3F-FA0E-35E9-F9E0-FCF073CF2C3C}"/>
              </a:ext>
            </a:extLst>
          </p:cNvPr>
          <p:cNvSpPr txBox="1"/>
          <p:nvPr/>
        </p:nvSpPr>
        <p:spPr>
          <a:xfrm>
            <a:off x="403153" y="238526"/>
            <a:ext cx="107926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pt-BR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>
              <a:defRPr sz="3600" b="1">
                <a:solidFill>
                  <a:srgbClr val="04B0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atin typeface="+mn-lt"/>
              </a:rPr>
              <a:t>Pontos de atenção – Matriz de riscos</a:t>
            </a:r>
          </a:p>
        </p:txBody>
      </p:sp>
      <p:sp>
        <p:nvSpPr>
          <p:cNvPr id="40" name="Text 4">
            <a:extLst>
              <a:ext uri="{FF2B5EF4-FFF2-40B4-BE49-F238E27FC236}">
                <a16:creationId xmlns:a16="http://schemas.microsoft.com/office/drawing/2014/main" id="{0F468917-916B-F8C1-C289-1DE4C21988A2}"/>
              </a:ext>
            </a:extLst>
          </p:cNvPr>
          <p:cNvSpPr/>
          <p:nvPr/>
        </p:nvSpPr>
        <p:spPr>
          <a:xfrm>
            <a:off x="1008021" y="1090940"/>
            <a:ext cx="6369572" cy="686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35051">
              <a:lnSpc>
                <a:spcPct val="110000"/>
              </a:lnSpc>
            </a:pPr>
            <a:endParaRPr lang="pt-BR" sz="1945" noProof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0" name="Text 10">
            <a:extLst>
              <a:ext uri="{FF2B5EF4-FFF2-40B4-BE49-F238E27FC236}">
                <a16:creationId xmlns:a16="http://schemas.microsoft.com/office/drawing/2014/main" id="{8C3A0E0F-2729-FD13-F113-F5FE40149850}"/>
              </a:ext>
            </a:extLst>
          </p:cNvPr>
          <p:cNvSpPr/>
          <p:nvPr/>
        </p:nvSpPr>
        <p:spPr>
          <a:xfrm>
            <a:off x="591119" y="1037663"/>
            <a:ext cx="10855535" cy="698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38144" indent="-238144" algn="just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444444"/>
                </a:solidFill>
              </a:rPr>
              <a:t>Itens da Matriz de Riscos em que recomendamos a avaliação técnica detalhada da aderência dos parâmetros previstos no Edital e Anexos à realidade do projeto e aos respectivos impactos econômico-financeiros:</a:t>
            </a:r>
          </a:p>
        </p:txBody>
      </p:sp>
      <p:sp>
        <p:nvSpPr>
          <p:cNvPr id="58" name="Google Shape;211;p10">
            <a:extLst>
              <a:ext uri="{FF2B5EF4-FFF2-40B4-BE49-F238E27FC236}">
                <a16:creationId xmlns:a16="http://schemas.microsoft.com/office/drawing/2014/main" id="{0E7FA225-085C-3FDB-B4A7-21086F519FB2}"/>
              </a:ext>
            </a:extLst>
          </p:cNvPr>
          <p:cNvSpPr/>
          <p:nvPr/>
        </p:nvSpPr>
        <p:spPr>
          <a:xfrm>
            <a:off x="591121" y="1946175"/>
            <a:ext cx="10855534" cy="2391025"/>
          </a:xfrm>
          <a:custGeom>
            <a:avLst/>
            <a:gdLst/>
            <a:ahLst/>
            <a:cxnLst/>
            <a:rect l="l" t="t" r="r" b="b"/>
            <a:pathLst>
              <a:path w="11458384" h="3537077" extrusionOk="0">
                <a:moveTo>
                  <a:pt x="69868" y="0"/>
                </a:moveTo>
                <a:lnTo>
                  <a:pt x="11318634" y="0"/>
                </a:lnTo>
                <a:cubicBezTo>
                  <a:pt x="11395816" y="0"/>
                  <a:pt x="11458384" y="62568"/>
                  <a:pt x="11458384" y="139750"/>
                </a:cubicBezTo>
                <a:lnTo>
                  <a:pt x="11458384" y="3397327"/>
                </a:lnTo>
                <a:cubicBezTo>
                  <a:pt x="11458384" y="3474509"/>
                  <a:pt x="11395816" y="3537077"/>
                  <a:pt x="11318634" y="3537077"/>
                </a:cubicBezTo>
                <a:lnTo>
                  <a:pt x="69868" y="3537077"/>
                </a:lnTo>
                <a:cubicBezTo>
                  <a:pt x="31281" y="3537077"/>
                  <a:pt x="0" y="3505796"/>
                  <a:pt x="0" y="3467209"/>
                </a:cubicBezTo>
                <a:lnTo>
                  <a:pt x="0" y="69868"/>
                </a:lnTo>
                <a:cubicBezTo>
                  <a:pt x="0" y="31307"/>
                  <a:pt x="31307" y="0"/>
                  <a:pt x="69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31003" dist="87335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63496" tIns="63496" rIns="63496" bIns="63496" anchor="ctr" anchorCtr="0">
            <a:noAutofit/>
          </a:bodyPr>
          <a:lstStyle/>
          <a:p>
            <a:endParaRPr lang="pt-BR" sz="1250" noProof="0"/>
          </a:p>
        </p:txBody>
      </p:sp>
      <p:sp>
        <p:nvSpPr>
          <p:cNvPr id="59" name="Google Shape;212;p10">
            <a:extLst>
              <a:ext uri="{FF2B5EF4-FFF2-40B4-BE49-F238E27FC236}">
                <a16:creationId xmlns:a16="http://schemas.microsoft.com/office/drawing/2014/main" id="{F6DA941A-782A-9FB1-6B22-7288B6031D11}"/>
              </a:ext>
            </a:extLst>
          </p:cNvPr>
          <p:cNvSpPr/>
          <p:nvPr/>
        </p:nvSpPr>
        <p:spPr>
          <a:xfrm>
            <a:off x="591121" y="2077397"/>
            <a:ext cx="45719" cy="2288128"/>
          </a:xfrm>
          <a:custGeom>
            <a:avLst/>
            <a:gdLst/>
            <a:ahLst/>
            <a:cxnLst/>
            <a:rect l="l" t="t" r="r" b="b"/>
            <a:pathLst>
              <a:path w="69868" h="3537077" extrusionOk="0">
                <a:moveTo>
                  <a:pt x="69868" y="0"/>
                </a:moveTo>
                <a:lnTo>
                  <a:pt x="69868" y="0"/>
                </a:lnTo>
                <a:lnTo>
                  <a:pt x="69868" y="3537077"/>
                </a:lnTo>
                <a:lnTo>
                  <a:pt x="69868" y="3537077"/>
                </a:lnTo>
                <a:cubicBezTo>
                  <a:pt x="31281" y="3537077"/>
                  <a:pt x="0" y="3505796"/>
                  <a:pt x="0" y="3467209"/>
                </a:cubicBezTo>
                <a:lnTo>
                  <a:pt x="0" y="69868"/>
                </a:lnTo>
                <a:cubicBezTo>
                  <a:pt x="0" y="31307"/>
                  <a:pt x="31307" y="0"/>
                  <a:pt x="69868" y="0"/>
                </a:cubicBezTo>
                <a:close/>
              </a:path>
            </a:pathLst>
          </a:custGeom>
          <a:solidFill>
            <a:srgbClr val="00B2FF"/>
          </a:solidFill>
          <a:ln>
            <a:noFill/>
          </a:ln>
        </p:spPr>
        <p:txBody>
          <a:bodyPr spcFirstLastPara="1" wrap="square" lIns="63496" tIns="63496" rIns="63496" bIns="63496" anchor="ctr" anchorCtr="0">
            <a:noAutofit/>
          </a:bodyPr>
          <a:lstStyle/>
          <a:p>
            <a:endParaRPr lang="pt-BR" sz="1250" noProof="0"/>
          </a:p>
        </p:txBody>
      </p:sp>
      <p:sp>
        <p:nvSpPr>
          <p:cNvPr id="60" name="Google Shape;213;p10">
            <a:extLst>
              <a:ext uri="{FF2B5EF4-FFF2-40B4-BE49-F238E27FC236}">
                <a16:creationId xmlns:a16="http://schemas.microsoft.com/office/drawing/2014/main" id="{8E672C87-7F3D-8474-A1ED-72C0F528CEEB}"/>
              </a:ext>
            </a:extLst>
          </p:cNvPr>
          <p:cNvSpPr/>
          <p:nvPr/>
        </p:nvSpPr>
        <p:spPr>
          <a:xfrm>
            <a:off x="789419" y="2036619"/>
            <a:ext cx="6878917" cy="376137"/>
          </a:xfrm>
          <a:custGeom>
            <a:avLst/>
            <a:gdLst/>
            <a:ahLst/>
            <a:cxnLst/>
            <a:rect l="l" t="t" r="r" b="b"/>
            <a:pathLst>
              <a:path w="2113513" h="454143" extrusionOk="0">
                <a:moveTo>
                  <a:pt x="69870" y="0"/>
                </a:moveTo>
                <a:lnTo>
                  <a:pt x="2043643" y="0"/>
                </a:lnTo>
                <a:cubicBezTo>
                  <a:pt x="2082231" y="0"/>
                  <a:pt x="2113513" y="31282"/>
                  <a:pt x="2113513" y="69870"/>
                </a:cubicBezTo>
                <a:lnTo>
                  <a:pt x="2113513" y="384273"/>
                </a:lnTo>
                <a:cubicBezTo>
                  <a:pt x="2113513" y="422861"/>
                  <a:pt x="2082231" y="454143"/>
                  <a:pt x="2043643" y="454143"/>
                </a:cubicBezTo>
                <a:lnTo>
                  <a:pt x="69870" y="454143"/>
                </a:lnTo>
                <a:cubicBezTo>
                  <a:pt x="31308" y="454143"/>
                  <a:pt x="0" y="422836"/>
                  <a:pt x="0" y="384273"/>
                </a:cubicBezTo>
                <a:lnTo>
                  <a:pt x="0" y="69870"/>
                </a:lnTo>
                <a:cubicBezTo>
                  <a:pt x="0" y="31308"/>
                  <a:pt x="31308" y="0"/>
                  <a:pt x="69870" y="0"/>
                </a:cubicBezTo>
                <a:close/>
              </a:path>
            </a:pathLst>
          </a:custGeom>
          <a:solidFill>
            <a:srgbClr val="00B2FF"/>
          </a:solidFill>
          <a:ln>
            <a:noFill/>
          </a:ln>
        </p:spPr>
        <p:txBody>
          <a:bodyPr spcFirstLastPara="1" wrap="square" lIns="63496" tIns="63496" rIns="63496" bIns="63496" anchor="ctr" anchorCtr="0">
            <a:noAutofit/>
          </a:bodyPr>
          <a:lstStyle/>
          <a:p>
            <a:endParaRPr lang="pt-BR" sz="1250" noProof="0"/>
          </a:p>
        </p:txBody>
      </p:sp>
      <p:sp>
        <p:nvSpPr>
          <p:cNvPr id="61" name="Google Shape;214;p10">
            <a:extLst>
              <a:ext uri="{FF2B5EF4-FFF2-40B4-BE49-F238E27FC236}">
                <a16:creationId xmlns:a16="http://schemas.microsoft.com/office/drawing/2014/main" id="{AD49AB2B-8000-1FA2-C425-FFA581ED5233}"/>
              </a:ext>
            </a:extLst>
          </p:cNvPr>
          <p:cNvSpPr/>
          <p:nvPr/>
        </p:nvSpPr>
        <p:spPr>
          <a:xfrm>
            <a:off x="761451" y="2077398"/>
            <a:ext cx="6996534" cy="302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5571" tIns="72786" rIns="145571" bIns="72786" anchor="ctr" anchorCtr="0">
            <a:noAutofit/>
          </a:bodyPr>
          <a:lstStyle/>
          <a:p>
            <a:pPr lvl="0">
              <a:lnSpc>
                <a:spcPct val="130000"/>
              </a:lnSpc>
            </a:pPr>
            <a:r>
              <a:rPr lang="pt-BR" sz="1500" b="1" dirty="0">
                <a:solidFill>
                  <a:schemeClr val="bg1"/>
                </a:solidFill>
                <a:cs typeface="Segoe UI" panose="020B0502040204020203" pitchFamily="34" charset="0"/>
              </a:rPr>
              <a:t>Item C6 – Alocado ao Poder Concedente e Concessionária</a:t>
            </a:r>
            <a:endParaRPr lang="pt-BR" sz="1500" b="1" noProof="0" dirty="0">
              <a:solidFill>
                <a:schemeClr val="bg1"/>
              </a:solidFill>
              <a:cs typeface="Segoe UI" panose="020B0502040204020203" pitchFamily="34" charset="0"/>
            </a:endParaRPr>
          </a:p>
        </p:txBody>
      </p:sp>
      <p:sp>
        <p:nvSpPr>
          <p:cNvPr id="62" name="Google Shape;216;p10">
            <a:extLst>
              <a:ext uri="{FF2B5EF4-FFF2-40B4-BE49-F238E27FC236}">
                <a16:creationId xmlns:a16="http://schemas.microsoft.com/office/drawing/2014/main" id="{BAE23307-0754-EACC-7B99-9397D9CABC95}"/>
              </a:ext>
            </a:extLst>
          </p:cNvPr>
          <p:cNvSpPr/>
          <p:nvPr/>
        </p:nvSpPr>
        <p:spPr>
          <a:xfrm>
            <a:off x="852225" y="2622959"/>
            <a:ext cx="510022" cy="582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80000"/>
              </a:lnSpc>
            </a:pPr>
            <a:r>
              <a:rPr lang="pt-BR" sz="4585" noProof="0">
                <a:solidFill>
                  <a:srgbClr val="00B2FF"/>
                </a:solidFill>
                <a:latin typeface="Noto Sans SC"/>
                <a:ea typeface="Noto Sans SC"/>
                <a:cs typeface="Noto Sans SC"/>
                <a:sym typeface="Noto Sans SC"/>
              </a:rPr>
              <a:t>"</a:t>
            </a:r>
            <a:endParaRPr lang="pt-BR" sz="1111" noProof="0">
              <a:solidFill>
                <a:srgbClr val="00B2FF"/>
              </a:solidFill>
            </a:endParaRPr>
          </a:p>
        </p:txBody>
      </p:sp>
      <p:sp>
        <p:nvSpPr>
          <p:cNvPr id="63" name="Google Shape;217;p10">
            <a:extLst>
              <a:ext uri="{FF2B5EF4-FFF2-40B4-BE49-F238E27FC236}">
                <a16:creationId xmlns:a16="http://schemas.microsoft.com/office/drawing/2014/main" id="{A9866839-B607-B518-BCB4-E7E43789BFCA}"/>
              </a:ext>
            </a:extLst>
          </p:cNvPr>
          <p:cNvSpPr/>
          <p:nvPr/>
        </p:nvSpPr>
        <p:spPr>
          <a:xfrm>
            <a:off x="1140711" y="2411008"/>
            <a:ext cx="10010051" cy="1658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just"/>
            <a:r>
              <a:rPr lang="pt-BR" sz="1500" dirty="0">
                <a:solidFill>
                  <a:srgbClr val="444444"/>
                </a:solidFill>
                <a:cs typeface="Segoe UI" panose="020B0502040204020203" pitchFamily="34" charset="0"/>
              </a:rPr>
              <a:t>Variação do percentual de instalações sujeitas ao pagamento de modalidade social da TARIFA DE RSD, se houver, frente ao total de economias ativas, sendo que:</a:t>
            </a:r>
          </a:p>
          <a:p>
            <a:pPr algn="just"/>
            <a:r>
              <a:rPr lang="pt-BR" sz="1500" dirty="0">
                <a:solidFill>
                  <a:srgbClr val="444444"/>
                </a:solidFill>
                <a:cs typeface="Segoe UI" panose="020B0502040204020203" pitchFamily="34" charset="0"/>
              </a:rPr>
              <a:t>• no caso de variação, para mais ou para menos, de até 7 (sete) pontos percentuais do previsto no estudo referencial do PODER CONCEDENTE, não caberá pleito de REEQUILÍBRIO ECONÔMICO-FINANCEIRO do CONTRATO.</a:t>
            </a:r>
          </a:p>
          <a:p>
            <a:pPr algn="just"/>
            <a:r>
              <a:rPr lang="pt-BR" sz="1500" dirty="0">
                <a:solidFill>
                  <a:srgbClr val="444444"/>
                </a:solidFill>
                <a:cs typeface="Segoe UI" panose="020B0502040204020203" pitchFamily="34" charset="0"/>
              </a:rPr>
              <a:t>• fora do limite de variação, para mais ou para menos, de 7 (sete) pontos percentuais do previsto no estudo referencial do PODER CONCEDENTE, caberá pleito de REEQUILÍBRIO ECONÔMICO-FINANCEIRO do CONTRATO.</a:t>
            </a:r>
            <a:endParaRPr lang="pt-BR" sz="1500" b="1" noProof="0" dirty="0">
              <a:solidFill>
                <a:srgbClr val="444444"/>
              </a:solidFill>
              <a:cs typeface="Segoe UI" panose="020B0502040204020203" pitchFamily="34" charset="0"/>
            </a:endParaRPr>
          </a:p>
        </p:txBody>
      </p:sp>
      <p:sp>
        <p:nvSpPr>
          <p:cNvPr id="18" name="Google Shape;218;p10">
            <a:extLst>
              <a:ext uri="{FF2B5EF4-FFF2-40B4-BE49-F238E27FC236}">
                <a16:creationId xmlns:a16="http://schemas.microsoft.com/office/drawing/2014/main" id="{7FA273D1-F2F7-9BE9-DFAC-D5F565DA27DD}"/>
              </a:ext>
            </a:extLst>
          </p:cNvPr>
          <p:cNvSpPr/>
          <p:nvPr/>
        </p:nvSpPr>
        <p:spPr>
          <a:xfrm flipV="1">
            <a:off x="897851" y="4120689"/>
            <a:ext cx="10035889" cy="45719"/>
          </a:xfrm>
          <a:custGeom>
            <a:avLst/>
            <a:gdLst/>
            <a:ahLst/>
            <a:cxnLst/>
            <a:rect l="l" t="t" r="r" b="b"/>
            <a:pathLst>
              <a:path w="10724768" h="8734" extrusionOk="0">
                <a:moveTo>
                  <a:pt x="0" y="0"/>
                </a:moveTo>
                <a:lnTo>
                  <a:pt x="10724768" y="0"/>
                </a:lnTo>
                <a:lnTo>
                  <a:pt x="10724768" y="8734"/>
                </a:lnTo>
                <a:lnTo>
                  <a:pt x="0" y="8734"/>
                </a:lnTo>
                <a:lnTo>
                  <a:pt x="0" y="0"/>
                </a:lnTo>
                <a:close/>
              </a:path>
            </a:pathLst>
          </a:custGeom>
          <a:solidFill>
            <a:srgbClr val="E1E8ED"/>
          </a:solidFill>
          <a:ln>
            <a:noFill/>
          </a:ln>
        </p:spPr>
        <p:txBody>
          <a:bodyPr/>
          <a:lstStyle/>
          <a:p>
            <a:endParaRPr lang="pt-BR" sz="1250" noProof="0"/>
          </a:p>
        </p:txBody>
      </p:sp>
    </p:spTree>
    <p:extLst>
      <p:ext uri="{BB962C8B-B14F-4D97-AF65-F5344CB8AC3E}">
        <p14:creationId xmlns:p14="http://schemas.microsoft.com/office/powerpoint/2010/main" val="24337471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44647-A2A4-8187-4FDF-66866F777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Logotipo&#10;&#10;Descrição gerada automaticamente">
            <a:extLst>
              <a:ext uri="{FF2B5EF4-FFF2-40B4-BE49-F238E27FC236}">
                <a16:creationId xmlns:a16="http://schemas.microsoft.com/office/drawing/2014/main" id="{B06AA674-CC98-3B40-2244-AA50E62E50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8615" y="0"/>
            <a:ext cx="1123385" cy="1123385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D209B673-9F41-EBB5-D7F1-4BE202A82515}"/>
              </a:ext>
            </a:extLst>
          </p:cNvPr>
          <p:cNvSpPr txBox="1"/>
          <p:nvPr/>
        </p:nvSpPr>
        <p:spPr>
          <a:xfrm>
            <a:off x="403153" y="238526"/>
            <a:ext cx="107926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pt-BR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lvl="0">
              <a:defRPr sz="3600" b="1">
                <a:solidFill>
                  <a:srgbClr val="04B0F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atin typeface="+mn-lt"/>
              </a:rPr>
              <a:t>Pontos de atenção – Matriz de riscos</a:t>
            </a:r>
          </a:p>
        </p:txBody>
      </p:sp>
      <p:sp>
        <p:nvSpPr>
          <p:cNvPr id="40" name="Text 4">
            <a:extLst>
              <a:ext uri="{FF2B5EF4-FFF2-40B4-BE49-F238E27FC236}">
                <a16:creationId xmlns:a16="http://schemas.microsoft.com/office/drawing/2014/main" id="{C7B0DBF4-F30D-1041-223D-7C45DAFAAF8A}"/>
              </a:ext>
            </a:extLst>
          </p:cNvPr>
          <p:cNvSpPr/>
          <p:nvPr/>
        </p:nvSpPr>
        <p:spPr>
          <a:xfrm>
            <a:off x="1008021" y="1090940"/>
            <a:ext cx="6369572" cy="686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35051">
              <a:lnSpc>
                <a:spcPct val="110000"/>
              </a:lnSpc>
            </a:pPr>
            <a:endParaRPr lang="pt-BR" sz="1945" noProof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Google Shape;211;p10">
            <a:extLst>
              <a:ext uri="{FF2B5EF4-FFF2-40B4-BE49-F238E27FC236}">
                <a16:creationId xmlns:a16="http://schemas.microsoft.com/office/drawing/2014/main" id="{450A8379-C533-1E0D-AC64-3ECC08A85436}"/>
              </a:ext>
            </a:extLst>
          </p:cNvPr>
          <p:cNvSpPr/>
          <p:nvPr/>
        </p:nvSpPr>
        <p:spPr>
          <a:xfrm>
            <a:off x="700199" y="1279884"/>
            <a:ext cx="10855534" cy="3068595"/>
          </a:xfrm>
          <a:custGeom>
            <a:avLst/>
            <a:gdLst/>
            <a:ahLst/>
            <a:cxnLst/>
            <a:rect l="l" t="t" r="r" b="b"/>
            <a:pathLst>
              <a:path w="11458384" h="3537077" extrusionOk="0">
                <a:moveTo>
                  <a:pt x="69868" y="0"/>
                </a:moveTo>
                <a:lnTo>
                  <a:pt x="11318634" y="0"/>
                </a:lnTo>
                <a:cubicBezTo>
                  <a:pt x="11395816" y="0"/>
                  <a:pt x="11458384" y="62568"/>
                  <a:pt x="11458384" y="139750"/>
                </a:cubicBezTo>
                <a:lnTo>
                  <a:pt x="11458384" y="3397327"/>
                </a:lnTo>
                <a:cubicBezTo>
                  <a:pt x="11458384" y="3474509"/>
                  <a:pt x="11395816" y="3537077"/>
                  <a:pt x="11318634" y="3537077"/>
                </a:cubicBezTo>
                <a:lnTo>
                  <a:pt x="69868" y="3537077"/>
                </a:lnTo>
                <a:cubicBezTo>
                  <a:pt x="31281" y="3537077"/>
                  <a:pt x="0" y="3505796"/>
                  <a:pt x="0" y="3467209"/>
                </a:cubicBezTo>
                <a:lnTo>
                  <a:pt x="0" y="69868"/>
                </a:lnTo>
                <a:cubicBezTo>
                  <a:pt x="0" y="31307"/>
                  <a:pt x="31307" y="0"/>
                  <a:pt x="6986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31003" dist="87335" dir="54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63496" tIns="63496" rIns="63496" bIns="63496" anchor="ctr" anchorCtr="0">
            <a:noAutofit/>
          </a:bodyPr>
          <a:lstStyle/>
          <a:p>
            <a:endParaRPr lang="pt-BR" sz="1250" noProof="0"/>
          </a:p>
        </p:txBody>
      </p:sp>
      <p:sp>
        <p:nvSpPr>
          <p:cNvPr id="59" name="Google Shape;212;p10">
            <a:extLst>
              <a:ext uri="{FF2B5EF4-FFF2-40B4-BE49-F238E27FC236}">
                <a16:creationId xmlns:a16="http://schemas.microsoft.com/office/drawing/2014/main" id="{BA9C4059-3B91-12AA-4A66-B2AA94C34B4B}"/>
              </a:ext>
            </a:extLst>
          </p:cNvPr>
          <p:cNvSpPr/>
          <p:nvPr/>
        </p:nvSpPr>
        <p:spPr>
          <a:xfrm>
            <a:off x="654480" y="1340983"/>
            <a:ext cx="45719" cy="1614132"/>
          </a:xfrm>
          <a:custGeom>
            <a:avLst/>
            <a:gdLst/>
            <a:ahLst/>
            <a:cxnLst/>
            <a:rect l="l" t="t" r="r" b="b"/>
            <a:pathLst>
              <a:path w="69868" h="3537077" extrusionOk="0">
                <a:moveTo>
                  <a:pt x="69868" y="0"/>
                </a:moveTo>
                <a:lnTo>
                  <a:pt x="69868" y="0"/>
                </a:lnTo>
                <a:lnTo>
                  <a:pt x="69868" y="3537077"/>
                </a:lnTo>
                <a:lnTo>
                  <a:pt x="69868" y="3537077"/>
                </a:lnTo>
                <a:cubicBezTo>
                  <a:pt x="31281" y="3537077"/>
                  <a:pt x="0" y="3505796"/>
                  <a:pt x="0" y="3467209"/>
                </a:cubicBezTo>
                <a:lnTo>
                  <a:pt x="0" y="69868"/>
                </a:lnTo>
                <a:cubicBezTo>
                  <a:pt x="0" y="31307"/>
                  <a:pt x="31307" y="0"/>
                  <a:pt x="69868" y="0"/>
                </a:cubicBezTo>
                <a:close/>
              </a:path>
            </a:pathLst>
          </a:custGeom>
          <a:solidFill>
            <a:srgbClr val="00B2FF"/>
          </a:solidFill>
          <a:ln>
            <a:noFill/>
          </a:ln>
        </p:spPr>
        <p:txBody>
          <a:bodyPr spcFirstLastPara="1" wrap="square" lIns="63496" tIns="63496" rIns="63496" bIns="63496" anchor="ctr" anchorCtr="0">
            <a:noAutofit/>
          </a:bodyPr>
          <a:lstStyle/>
          <a:p>
            <a:endParaRPr lang="pt-BR" sz="1250" noProof="0"/>
          </a:p>
        </p:txBody>
      </p:sp>
      <p:sp>
        <p:nvSpPr>
          <p:cNvPr id="60" name="Google Shape;213;p10">
            <a:extLst>
              <a:ext uri="{FF2B5EF4-FFF2-40B4-BE49-F238E27FC236}">
                <a16:creationId xmlns:a16="http://schemas.microsoft.com/office/drawing/2014/main" id="{E16AE00A-86CC-A519-83DE-5D54331B1364}"/>
              </a:ext>
            </a:extLst>
          </p:cNvPr>
          <p:cNvSpPr/>
          <p:nvPr/>
        </p:nvSpPr>
        <p:spPr>
          <a:xfrm>
            <a:off x="852778" y="1300205"/>
            <a:ext cx="6878917" cy="376137"/>
          </a:xfrm>
          <a:custGeom>
            <a:avLst/>
            <a:gdLst/>
            <a:ahLst/>
            <a:cxnLst/>
            <a:rect l="l" t="t" r="r" b="b"/>
            <a:pathLst>
              <a:path w="2113513" h="454143" extrusionOk="0">
                <a:moveTo>
                  <a:pt x="69870" y="0"/>
                </a:moveTo>
                <a:lnTo>
                  <a:pt x="2043643" y="0"/>
                </a:lnTo>
                <a:cubicBezTo>
                  <a:pt x="2082231" y="0"/>
                  <a:pt x="2113513" y="31282"/>
                  <a:pt x="2113513" y="69870"/>
                </a:cubicBezTo>
                <a:lnTo>
                  <a:pt x="2113513" y="384273"/>
                </a:lnTo>
                <a:cubicBezTo>
                  <a:pt x="2113513" y="422861"/>
                  <a:pt x="2082231" y="454143"/>
                  <a:pt x="2043643" y="454143"/>
                </a:cubicBezTo>
                <a:lnTo>
                  <a:pt x="69870" y="454143"/>
                </a:lnTo>
                <a:cubicBezTo>
                  <a:pt x="31308" y="454143"/>
                  <a:pt x="0" y="422836"/>
                  <a:pt x="0" y="384273"/>
                </a:cubicBezTo>
                <a:lnTo>
                  <a:pt x="0" y="69870"/>
                </a:lnTo>
                <a:cubicBezTo>
                  <a:pt x="0" y="31308"/>
                  <a:pt x="31308" y="0"/>
                  <a:pt x="69870" y="0"/>
                </a:cubicBezTo>
                <a:close/>
              </a:path>
            </a:pathLst>
          </a:custGeom>
          <a:solidFill>
            <a:srgbClr val="00B2FF"/>
          </a:solidFill>
          <a:ln>
            <a:noFill/>
          </a:ln>
        </p:spPr>
        <p:txBody>
          <a:bodyPr spcFirstLastPara="1" wrap="square" lIns="63496" tIns="63496" rIns="63496" bIns="63496" anchor="ctr" anchorCtr="0">
            <a:noAutofit/>
          </a:bodyPr>
          <a:lstStyle/>
          <a:p>
            <a:endParaRPr lang="pt-BR" sz="1250" noProof="0"/>
          </a:p>
        </p:txBody>
      </p:sp>
      <p:sp>
        <p:nvSpPr>
          <p:cNvPr id="61" name="Google Shape;214;p10">
            <a:extLst>
              <a:ext uri="{FF2B5EF4-FFF2-40B4-BE49-F238E27FC236}">
                <a16:creationId xmlns:a16="http://schemas.microsoft.com/office/drawing/2014/main" id="{09585508-44A5-8322-5584-08744973C567}"/>
              </a:ext>
            </a:extLst>
          </p:cNvPr>
          <p:cNvSpPr/>
          <p:nvPr/>
        </p:nvSpPr>
        <p:spPr>
          <a:xfrm>
            <a:off x="824810" y="1340984"/>
            <a:ext cx="6996534" cy="302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5571" tIns="72786" rIns="145571" bIns="72786" anchor="ctr" anchorCtr="0">
            <a:noAutofit/>
          </a:bodyPr>
          <a:lstStyle/>
          <a:p>
            <a:pPr lvl="0">
              <a:lnSpc>
                <a:spcPct val="130000"/>
              </a:lnSpc>
            </a:pPr>
            <a:r>
              <a:rPr lang="pt-BR" sz="15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Itens J1 – </a:t>
            </a:r>
            <a:r>
              <a:rPr lang="pt-BR" sz="1500" b="1" dirty="0">
                <a:solidFill>
                  <a:schemeClr val="bg1"/>
                </a:solidFill>
                <a:cs typeface="Segoe UI" panose="020B0502040204020203" pitchFamily="34" charset="0"/>
              </a:rPr>
              <a:t>Alocado</a:t>
            </a:r>
            <a:r>
              <a:rPr lang="pt-BR" sz="15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à Concessionária</a:t>
            </a:r>
            <a:endParaRPr lang="pt-BR" sz="1500" b="1" noProof="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2" name="Google Shape;216;p10">
            <a:extLst>
              <a:ext uri="{FF2B5EF4-FFF2-40B4-BE49-F238E27FC236}">
                <a16:creationId xmlns:a16="http://schemas.microsoft.com/office/drawing/2014/main" id="{BAB20C80-6D50-7B51-6743-AA5C27E5E68B}"/>
              </a:ext>
            </a:extLst>
          </p:cNvPr>
          <p:cNvSpPr/>
          <p:nvPr/>
        </p:nvSpPr>
        <p:spPr>
          <a:xfrm>
            <a:off x="915584" y="1886545"/>
            <a:ext cx="510022" cy="582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80000"/>
              </a:lnSpc>
            </a:pPr>
            <a:r>
              <a:rPr lang="pt-BR" sz="4585" noProof="0" dirty="0">
                <a:solidFill>
                  <a:srgbClr val="00B2FF"/>
                </a:solidFill>
                <a:latin typeface="Noto Sans SC"/>
                <a:ea typeface="Noto Sans SC"/>
                <a:cs typeface="Noto Sans SC"/>
                <a:sym typeface="Noto Sans SC"/>
              </a:rPr>
              <a:t>"</a:t>
            </a:r>
            <a:endParaRPr lang="pt-BR" sz="1111" noProof="0" dirty="0">
              <a:solidFill>
                <a:srgbClr val="00B2FF"/>
              </a:solidFill>
            </a:endParaRPr>
          </a:p>
        </p:txBody>
      </p:sp>
      <p:sp>
        <p:nvSpPr>
          <p:cNvPr id="63" name="Google Shape;217;p10">
            <a:extLst>
              <a:ext uri="{FF2B5EF4-FFF2-40B4-BE49-F238E27FC236}">
                <a16:creationId xmlns:a16="http://schemas.microsoft.com/office/drawing/2014/main" id="{A6315425-121E-77C9-8900-40F7A7479AD8}"/>
              </a:ext>
            </a:extLst>
          </p:cNvPr>
          <p:cNvSpPr/>
          <p:nvPr/>
        </p:nvSpPr>
        <p:spPr>
          <a:xfrm>
            <a:off x="1241660" y="1952076"/>
            <a:ext cx="9802250" cy="1823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just"/>
            <a:r>
              <a:rPr lang="pt-BR" sz="1500" dirty="0">
                <a:solidFill>
                  <a:srgbClr val="444444"/>
                </a:solidFill>
                <a:cs typeface="Segoe UI" panose="020B0502040204020203" pitchFamily="34" charset="0"/>
              </a:rPr>
              <a:t>Vícios ocultos dos BENS DA CONCESSÃO, não constatados e não reclamados no prazo de 5 (cinco) anos, contados da sua transferência à CONCESSIONÁRIA pelo PODER CONCEDENTE.</a:t>
            </a:r>
          </a:p>
          <a:p>
            <a:pPr algn="just"/>
            <a:r>
              <a:rPr lang="pt-BR" sz="1500" dirty="0">
                <a:solidFill>
                  <a:srgbClr val="444444"/>
                </a:solidFill>
                <a:cs typeface="Segoe UI" panose="020B0502040204020203" pitchFamily="34" charset="0"/>
              </a:rPr>
              <a:t>Não se considera ocultos aqueles vícios que, dentre outras hipóteses: (i) figurem expressamente no EDITAL ou no CONTRATO como sendo risco da CONCESSIONÁRIA; (</a:t>
            </a:r>
            <a:r>
              <a:rPr lang="pt-BR" sz="1500" dirty="0" err="1">
                <a:solidFill>
                  <a:srgbClr val="444444"/>
                </a:solidFill>
                <a:cs typeface="Segoe UI" panose="020B0502040204020203" pitchFamily="34" charset="0"/>
              </a:rPr>
              <a:t>ii</a:t>
            </a:r>
            <a:r>
              <a:rPr lang="pt-BR" sz="1500" dirty="0">
                <a:solidFill>
                  <a:srgbClr val="444444"/>
                </a:solidFill>
                <a:cs typeface="Segoe UI" panose="020B0502040204020203" pitchFamily="34" charset="0"/>
              </a:rPr>
              <a:t>) constem de manifestação formal da Administração Pública, em documentos públicos disponíveis para qualquer interessado ou sejam de conhecimento comum à época da LICITAÇÃO; (</a:t>
            </a:r>
            <a:r>
              <a:rPr lang="pt-BR" sz="1500" dirty="0" err="1">
                <a:solidFill>
                  <a:srgbClr val="444444"/>
                </a:solidFill>
                <a:cs typeface="Segoe UI" panose="020B0502040204020203" pitchFamily="34" charset="0"/>
              </a:rPr>
              <a:t>iii</a:t>
            </a:r>
            <a:r>
              <a:rPr lang="pt-BR" sz="1500" dirty="0">
                <a:solidFill>
                  <a:srgbClr val="444444"/>
                </a:solidFill>
                <a:cs typeface="Segoe UI" panose="020B0502040204020203" pitchFamily="34" charset="0"/>
              </a:rPr>
              <a:t>) poderiam ter sido detectados pelas licitantes, por expertise e conhecimentos pretéritos, ou pela utilização de meios e técnicas ordinariamente disponíveis e financeiramente acessíveis no mercado, no momento anterior ao processo licitatório, em igualdade de condições com os demais interessados.</a:t>
            </a:r>
            <a:endParaRPr lang="pt-BR" sz="1500" b="1" noProof="0" dirty="0">
              <a:solidFill>
                <a:srgbClr val="444444"/>
              </a:solidFill>
              <a:cs typeface="Segoe UI" panose="020B0502040204020203" pitchFamily="34" charset="0"/>
            </a:endParaRPr>
          </a:p>
        </p:txBody>
      </p:sp>
      <p:sp>
        <p:nvSpPr>
          <p:cNvPr id="18" name="Google Shape;218;p10">
            <a:extLst>
              <a:ext uri="{FF2B5EF4-FFF2-40B4-BE49-F238E27FC236}">
                <a16:creationId xmlns:a16="http://schemas.microsoft.com/office/drawing/2014/main" id="{0F1F46F3-3202-7695-69BC-1D6376F134B3}"/>
              </a:ext>
            </a:extLst>
          </p:cNvPr>
          <p:cNvSpPr/>
          <p:nvPr/>
        </p:nvSpPr>
        <p:spPr>
          <a:xfrm flipV="1">
            <a:off x="1008021" y="4034639"/>
            <a:ext cx="10035889" cy="45719"/>
          </a:xfrm>
          <a:custGeom>
            <a:avLst/>
            <a:gdLst/>
            <a:ahLst/>
            <a:cxnLst/>
            <a:rect l="l" t="t" r="r" b="b"/>
            <a:pathLst>
              <a:path w="10724768" h="8734" extrusionOk="0">
                <a:moveTo>
                  <a:pt x="0" y="0"/>
                </a:moveTo>
                <a:lnTo>
                  <a:pt x="10724768" y="0"/>
                </a:lnTo>
                <a:lnTo>
                  <a:pt x="10724768" y="8734"/>
                </a:lnTo>
                <a:lnTo>
                  <a:pt x="0" y="8734"/>
                </a:lnTo>
                <a:lnTo>
                  <a:pt x="0" y="0"/>
                </a:lnTo>
                <a:close/>
              </a:path>
            </a:pathLst>
          </a:custGeom>
          <a:solidFill>
            <a:srgbClr val="E1E8ED"/>
          </a:solidFill>
          <a:ln>
            <a:noFill/>
          </a:ln>
        </p:spPr>
        <p:txBody>
          <a:bodyPr/>
          <a:lstStyle/>
          <a:p>
            <a:endParaRPr lang="pt-BR" sz="1250" noProof="0"/>
          </a:p>
        </p:txBody>
      </p:sp>
    </p:spTree>
    <p:extLst>
      <p:ext uri="{BB962C8B-B14F-4D97-AF65-F5344CB8AC3E}">
        <p14:creationId xmlns:p14="http://schemas.microsoft.com/office/powerpoint/2010/main" val="8522351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aída_">
            <a:hlinkClick r:id="" action="ppaction://media"/>
            <a:extLst>
              <a:ext uri="{FF2B5EF4-FFF2-40B4-BE49-F238E27FC236}">
                <a16:creationId xmlns:a16="http://schemas.microsoft.com/office/drawing/2014/main" id="{E6B61D7E-0777-41DB-08E3-2085A5F4517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2019" y="1398182"/>
            <a:ext cx="6528391" cy="367222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F9D1983-2F5E-2048-A0A0-9C8004F51FAB}"/>
              </a:ext>
            </a:extLst>
          </p:cNvPr>
          <p:cNvSpPr txBox="1"/>
          <p:nvPr/>
        </p:nvSpPr>
        <p:spPr>
          <a:xfrm>
            <a:off x="623888" y="6381750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Calibri Light" panose="020F0302020204030204" pitchFamily="34" charset="0"/>
              </a:rPr>
              <a:t>© 2025. Para mais informações, contate Madrona Advogados.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592BAC0D-8BE0-6E18-688C-35BA33F43B8C}"/>
              </a:ext>
            </a:extLst>
          </p:cNvPr>
          <p:cNvSpPr txBox="1"/>
          <p:nvPr/>
        </p:nvSpPr>
        <p:spPr>
          <a:xfrm>
            <a:off x="7367060" y="1435433"/>
            <a:ext cx="3326341" cy="17172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pt-BR" sz="933" noProof="0" dirty="0">
                <a:solidFill>
                  <a:srgbClr val="FFFFFF"/>
                </a:solidFill>
                <a:latin typeface="FreightSansProBook-Regular" panose="02000606030000020004" pitchFamily="2" charset="0"/>
              </a:rPr>
              <a:t>AV. BRIGADEIRO FARIA LIMA, 3064 – 11º ANDAR</a:t>
            </a:r>
          </a:p>
          <a:p>
            <a:pPr>
              <a:defRPr/>
            </a:pPr>
            <a:r>
              <a:rPr lang="pt-BR" sz="933" noProof="0" dirty="0">
                <a:solidFill>
                  <a:srgbClr val="FFFFFF"/>
                </a:solidFill>
                <a:latin typeface="FreightSansProBook-Regular" panose="02000606030000020004" pitchFamily="2" charset="0"/>
              </a:rPr>
              <a:t>JD. PAULISTANO CEP 01451 000</a:t>
            </a:r>
          </a:p>
          <a:p>
            <a:pPr>
              <a:defRPr/>
            </a:pPr>
            <a:r>
              <a:rPr lang="pt-BR" sz="933" noProof="0" dirty="0">
                <a:solidFill>
                  <a:srgbClr val="FFFFFF"/>
                </a:solidFill>
                <a:latin typeface="FreightSansProBook-Regular" panose="02000606030000020004" pitchFamily="2" charset="0"/>
              </a:rPr>
              <a:t>SÃO PAULO – BRASIL</a:t>
            </a:r>
          </a:p>
          <a:p>
            <a:pPr>
              <a:defRPr/>
            </a:pPr>
            <a:r>
              <a:rPr lang="pt-BR" sz="933" noProof="0" dirty="0">
                <a:solidFill>
                  <a:srgbClr val="FFFFFF"/>
                </a:solidFill>
                <a:latin typeface="FreightSansProBook-Regular" panose="02000606030000020004" pitchFamily="2" charset="0"/>
              </a:rPr>
              <a:t>T +55 11 4883 8750</a:t>
            </a:r>
          </a:p>
          <a:p>
            <a:pPr>
              <a:defRPr/>
            </a:pPr>
            <a:endParaRPr lang="pt-BR" sz="933" noProof="0" dirty="0">
              <a:solidFill>
                <a:srgbClr val="FFFFFF"/>
              </a:solidFill>
              <a:latin typeface="FreightSansProBook-Regular" panose="02000606030000020004" pitchFamily="2" charset="0"/>
            </a:endParaRPr>
          </a:p>
          <a:p>
            <a:pPr>
              <a:defRPr/>
            </a:pPr>
            <a:r>
              <a:rPr lang="pt-BR" sz="930" noProof="0" dirty="0">
                <a:solidFill>
                  <a:schemeClr val="bg1"/>
                </a:solidFill>
                <a:latin typeface="FreightSansProBook-Regular" panose="02000606030000020004" pitchFamily="2" charset="0"/>
                <a:ea typeface="Calibri" panose="020F0502020204030204" pitchFamily="34" charset="0"/>
              </a:rPr>
              <a:t>AV. AFONSO PENA, 4100 </a:t>
            </a:r>
            <a:r>
              <a:rPr lang="pt-BR" sz="933" noProof="0" dirty="0">
                <a:solidFill>
                  <a:srgbClr val="FFFFFF"/>
                </a:solidFill>
                <a:latin typeface="FreightSansProBook-Regular" panose="02000606030000020004" pitchFamily="2" charset="0"/>
              </a:rPr>
              <a:t>-  13º E 15º ANDARES</a:t>
            </a:r>
          </a:p>
          <a:p>
            <a:pPr>
              <a:defRPr/>
            </a:pPr>
            <a:r>
              <a:rPr lang="pt-BR" sz="933" noProof="0" dirty="0">
                <a:solidFill>
                  <a:srgbClr val="FFFFFF"/>
                </a:solidFill>
                <a:latin typeface="FreightSansProBook-Regular" panose="02000606030000020004" pitchFamily="2" charset="0"/>
              </a:rPr>
              <a:t>CEP 30130-009</a:t>
            </a:r>
          </a:p>
          <a:p>
            <a:pPr>
              <a:defRPr/>
            </a:pPr>
            <a:r>
              <a:rPr lang="pt-BR" sz="933" noProof="0" dirty="0">
                <a:solidFill>
                  <a:srgbClr val="FFFFFF"/>
                </a:solidFill>
                <a:latin typeface="FreightSansProBook-Regular" panose="02000606030000020004" pitchFamily="2" charset="0"/>
              </a:rPr>
              <a:t>BELO HORIZONTE – BRASIL</a:t>
            </a:r>
          </a:p>
          <a:p>
            <a:pPr>
              <a:defRPr/>
            </a:pPr>
            <a:r>
              <a:rPr lang="pt-BR" sz="930" noProof="0" dirty="0">
                <a:solidFill>
                  <a:srgbClr val="FFFFFF"/>
                </a:solidFill>
                <a:latin typeface="FreightSansProBook-Regular" panose="02000606030000020004" pitchFamily="2" charset="0"/>
              </a:rPr>
              <a:t>T +55 31 4501 7797 </a:t>
            </a:r>
          </a:p>
          <a:p>
            <a:pPr>
              <a:defRPr/>
            </a:pPr>
            <a:endParaRPr lang="pt-BR" sz="933" noProof="0" dirty="0">
              <a:solidFill>
                <a:srgbClr val="FFFFFF"/>
              </a:solidFill>
              <a:latin typeface="FreightSansProBook-Regular" panose="02000606030000020004" pitchFamily="2" charset="0"/>
            </a:endParaRPr>
          </a:p>
          <a:p>
            <a:pPr>
              <a:defRPr/>
            </a:pPr>
            <a:r>
              <a:rPr lang="pt-BR" sz="900" noProof="0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MADRONAADVOGADOS.COM.BR</a:t>
            </a:r>
            <a:endParaRPr lang="pt-BR" sz="900" noProof="0" dirty="0">
              <a:solidFill>
                <a:schemeClr val="bg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9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eightSansProBook-Regular" panose="02000606030000020004" pitchFamily="2" charset="0"/>
              <a:ea typeface="+mn-ea"/>
              <a:cs typeface="+mn-cs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4A28C4C-710D-279C-CA94-7438B75096E0}"/>
              </a:ext>
            </a:extLst>
          </p:cNvPr>
          <p:cNvSpPr txBox="1"/>
          <p:nvPr/>
        </p:nvSpPr>
        <p:spPr>
          <a:xfrm>
            <a:off x="7282980" y="4381345"/>
            <a:ext cx="222612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Nossa Equipe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63BADBE-F6B4-7133-8797-1C6DD766C25E}"/>
              </a:ext>
            </a:extLst>
          </p:cNvPr>
          <p:cNvSpPr txBox="1"/>
          <p:nvPr/>
        </p:nvSpPr>
        <p:spPr>
          <a:xfrm>
            <a:off x="7282980" y="4673717"/>
            <a:ext cx="384265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Os profissionais do Madrona Advogados somam mais de 25 anos de experiência. Todos os setores possuem atuação multidisciplinar e soluções únicas desenvolvidas aos clientes.</a:t>
            </a:r>
          </a:p>
        </p:txBody>
      </p:sp>
      <p:grpSp>
        <p:nvGrpSpPr>
          <p:cNvPr id="10" name="Gráfico 8">
            <a:extLst>
              <a:ext uri="{FF2B5EF4-FFF2-40B4-BE49-F238E27FC236}">
                <a16:creationId xmlns:a16="http://schemas.microsoft.com/office/drawing/2014/main" id="{2F307ED0-F7A7-698C-8705-E4797ABB522E}"/>
              </a:ext>
            </a:extLst>
          </p:cNvPr>
          <p:cNvGrpSpPr/>
          <p:nvPr/>
        </p:nvGrpSpPr>
        <p:grpSpPr>
          <a:xfrm>
            <a:off x="7358876" y="3119202"/>
            <a:ext cx="291918" cy="291918"/>
            <a:chOff x="6843713" y="5920633"/>
            <a:chExt cx="291918" cy="291918"/>
          </a:xfrm>
          <a:solidFill>
            <a:schemeClr val="bg1"/>
          </a:solidFill>
        </p:grpSpPr>
        <p:sp>
          <p:nvSpPr>
            <p:cNvPr id="11" name="Forma Livre: Forma 10">
              <a:extLst>
                <a:ext uri="{FF2B5EF4-FFF2-40B4-BE49-F238E27FC236}">
                  <a16:creationId xmlns:a16="http://schemas.microsoft.com/office/drawing/2014/main" id="{B0EEEF63-57C1-04BD-1074-407260A506BA}"/>
                </a:ext>
              </a:extLst>
            </p:cNvPr>
            <p:cNvSpPr/>
            <p:nvPr/>
          </p:nvSpPr>
          <p:spPr>
            <a:xfrm>
              <a:off x="6970211" y="6037400"/>
              <a:ext cx="50555" cy="58383"/>
            </a:xfrm>
            <a:custGeom>
              <a:avLst/>
              <a:gdLst>
                <a:gd name="connsiteX0" fmla="*/ 0 w 50555"/>
                <a:gd name="connsiteY0" fmla="*/ 58384 h 58383"/>
                <a:gd name="connsiteX1" fmla="*/ 50556 w 50555"/>
                <a:gd name="connsiteY1" fmla="*/ 29192 h 58383"/>
                <a:gd name="connsiteX2" fmla="*/ 0 w 50555"/>
                <a:gd name="connsiteY2" fmla="*/ 0 h 58383"/>
                <a:gd name="connsiteX3" fmla="*/ 0 w 50555"/>
                <a:gd name="connsiteY3" fmla="*/ 58384 h 58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555" h="58383">
                  <a:moveTo>
                    <a:pt x="0" y="58384"/>
                  </a:moveTo>
                  <a:lnTo>
                    <a:pt x="50556" y="29192"/>
                  </a:lnTo>
                  <a:lnTo>
                    <a:pt x="0" y="0"/>
                  </a:lnTo>
                  <a:lnTo>
                    <a:pt x="0" y="58384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orma Livre: Forma 11">
              <a:hlinkClick r:id="rId6"/>
              <a:extLst>
                <a:ext uri="{FF2B5EF4-FFF2-40B4-BE49-F238E27FC236}">
                  <a16:creationId xmlns:a16="http://schemas.microsoft.com/office/drawing/2014/main" id="{DA037A8D-422E-3BE8-C160-7236B362E47F}"/>
                </a:ext>
              </a:extLst>
            </p:cNvPr>
            <p:cNvSpPr/>
            <p:nvPr/>
          </p:nvSpPr>
          <p:spPr>
            <a:xfrm>
              <a:off x="6843713" y="5920633"/>
              <a:ext cx="291918" cy="291918"/>
            </a:xfrm>
            <a:custGeom>
              <a:avLst/>
              <a:gdLst>
                <a:gd name="connsiteX0" fmla="*/ 145959 w 291918"/>
                <a:gd name="connsiteY0" fmla="*/ 0 h 291918"/>
                <a:gd name="connsiteX1" fmla="*/ 0 w 291918"/>
                <a:gd name="connsiteY1" fmla="*/ 145959 h 291918"/>
                <a:gd name="connsiteX2" fmla="*/ 145959 w 291918"/>
                <a:gd name="connsiteY2" fmla="*/ 291918 h 291918"/>
                <a:gd name="connsiteX3" fmla="*/ 291919 w 291918"/>
                <a:gd name="connsiteY3" fmla="*/ 145959 h 291918"/>
                <a:gd name="connsiteX4" fmla="*/ 145959 w 291918"/>
                <a:gd name="connsiteY4" fmla="*/ 0 h 291918"/>
                <a:gd name="connsiteX5" fmla="*/ 239200 w 291918"/>
                <a:gd name="connsiteY5" fmla="*/ 192796 h 291918"/>
                <a:gd name="connsiteX6" fmla="*/ 221988 w 291918"/>
                <a:gd name="connsiteY6" fmla="*/ 210008 h 291918"/>
                <a:gd name="connsiteX7" fmla="*/ 145959 w 291918"/>
                <a:gd name="connsiteY7" fmla="*/ 214073 h 291918"/>
                <a:gd name="connsiteX8" fmla="*/ 69931 w 291918"/>
                <a:gd name="connsiteY8" fmla="*/ 210008 h 291918"/>
                <a:gd name="connsiteX9" fmla="*/ 52718 w 291918"/>
                <a:gd name="connsiteY9" fmla="*/ 192796 h 291918"/>
                <a:gd name="connsiteX10" fmla="*/ 48653 w 291918"/>
                <a:gd name="connsiteY10" fmla="*/ 145959 h 291918"/>
                <a:gd name="connsiteX11" fmla="*/ 52718 w 291918"/>
                <a:gd name="connsiteY11" fmla="*/ 99122 h 291918"/>
                <a:gd name="connsiteX12" fmla="*/ 69931 w 291918"/>
                <a:gd name="connsiteY12" fmla="*/ 81910 h 291918"/>
                <a:gd name="connsiteX13" fmla="*/ 145959 w 291918"/>
                <a:gd name="connsiteY13" fmla="*/ 77845 h 291918"/>
                <a:gd name="connsiteX14" fmla="*/ 221988 w 291918"/>
                <a:gd name="connsiteY14" fmla="*/ 81910 h 291918"/>
                <a:gd name="connsiteX15" fmla="*/ 239200 w 291918"/>
                <a:gd name="connsiteY15" fmla="*/ 99122 h 291918"/>
                <a:gd name="connsiteX16" fmla="*/ 243265 w 291918"/>
                <a:gd name="connsiteY16" fmla="*/ 145959 h 291918"/>
                <a:gd name="connsiteX17" fmla="*/ 239200 w 291918"/>
                <a:gd name="connsiteY17" fmla="*/ 192796 h 29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91918" h="291918">
                  <a:moveTo>
                    <a:pt x="145959" y="0"/>
                  </a:moveTo>
                  <a:cubicBezTo>
                    <a:pt x="65346" y="0"/>
                    <a:pt x="0" y="65346"/>
                    <a:pt x="0" y="145959"/>
                  </a:cubicBezTo>
                  <a:cubicBezTo>
                    <a:pt x="0" y="226572"/>
                    <a:pt x="65346" y="291918"/>
                    <a:pt x="145959" y="291918"/>
                  </a:cubicBezTo>
                  <a:cubicBezTo>
                    <a:pt x="226572" y="291918"/>
                    <a:pt x="291919" y="226572"/>
                    <a:pt x="291919" y="145959"/>
                  </a:cubicBezTo>
                  <a:cubicBezTo>
                    <a:pt x="291919" y="65346"/>
                    <a:pt x="226572" y="0"/>
                    <a:pt x="145959" y="0"/>
                  </a:cubicBezTo>
                  <a:close/>
                  <a:moveTo>
                    <a:pt x="239200" y="192796"/>
                  </a:moveTo>
                  <a:cubicBezTo>
                    <a:pt x="236973" y="201164"/>
                    <a:pt x="230378" y="207759"/>
                    <a:pt x="221988" y="210008"/>
                  </a:cubicBezTo>
                  <a:cubicBezTo>
                    <a:pt x="206808" y="214073"/>
                    <a:pt x="145959" y="214073"/>
                    <a:pt x="145959" y="214073"/>
                  </a:cubicBezTo>
                  <a:cubicBezTo>
                    <a:pt x="145959" y="214073"/>
                    <a:pt x="85110" y="214073"/>
                    <a:pt x="69931" y="210008"/>
                  </a:cubicBezTo>
                  <a:cubicBezTo>
                    <a:pt x="61562" y="207759"/>
                    <a:pt x="54967" y="201186"/>
                    <a:pt x="52718" y="192796"/>
                  </a:cubicBezTo>
                  <a:cubicBezTo>
                    <a:pt x="48653" y="177616"/>
                    <a:pt x="48653" y="145959"/>
                    <a:pt x="48653" y="145959"/>
                  </a:cubicBezTo>
                  <a:cubicBezTo>
                    <a:pt x="48653" y="145959"/>
                    <a:pt x="48653" y="114302"/>
                    <a:pt x="52718" y="99122"/>
                  </a:cubicBezTo>
                  <a:cubicBezTo>
                    <a:pt x="54946" y="90754"/>
                    <a:pt x="61541" y="84159"/>
                    <a:pt x="69931" y="81910"/>
                  </a:cubicBezTo>
                  <a:cubicBezTo>
                    <a:pt x="85110" y="77845"/>
                    <a:pt x="145959" y="77845"/>
                    <a:pt x="145959" y="77845"/>
                  </a:cubicBezTo>
                  <a:cubicBezTo>
                    <a:pt x="145959" y="77845"/>
                    <a:pt x="206808" y="77845"/>
                    <a:pt x="221988" y="81910"/>
                  </a:cubicBezTo>
                  <a:cubicBezTo>
                    <a:pt x="230356" y="84159"/>
                    <a:pt x="236951" y="90733"/>
                    <a:pt x="239200" y="99122"/>
                  </a:cubicBezTo>
                  <a:cubicBezTo>
                    <a:pt x="243265" y="114302"/>
                    <a:pt x="243265" y="145959"/>
                    <a:pt x="243265" y="145959"/>
                  </a:cubicBezTo>
                  <a:cubicBezTo>
                    <a:pt x="243265" y="145959"/>
                    <a:pt x="243265" y="177616"/>
                    <a:pt x="239200" y="192796"/>
                  </a:cubicBez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" name="Forma Livre: Forma 12">
            <a:hlinkClick r:id="rId7"/>
            <a:extLst>
              <a:ext uri="{FF2B5EF4-FFF2-40B4-BE49-F238E27FC236}">
                <a16:creationId xmlns:a16="http://schemas.microsoft.com/office/drawing/2014/main" id="{34E8CCA3-9774-2AC5-21BB-E88FB8F091FB}"/>
              </a:ext>
            </a:extLst>
          </p:cNvPr>
          <p:cNvSpPr/>
          <p:nvPr/>
        </p:nvSpPr>
        <p:spPr>
          <a:xfrm>
            <a:off x="8084700" y="3119202"/>
            <a:ext cx="291918" cy="291918"/>
          </a:xfrm>
          <a:custGeom>
            <a:avLst/>
            <a:gdLst>
              <a:gd name="connsiteX0" fmla="*/ 145959 w 291918"/>
              <a:gd name="connsiteY0" fmla="*/ 0 h 291918"/>
              <a:gd name="connsiteX1" fmla="*/ 0 w 291918"/>
              <a:gd name="connsiteY1" fmla="*/ 145959 h 291918"/>
              <a:gd name="connsiteX2" fmla="*/ 145959 w 291918"/>
              <a:gd name="connsiteY2" fmla="*/ 291918 h 291918"/>
              <a:gd name="connsiteX3" fmla="*/ 291919 w 291918"/>
              <a:gd name="connsiteY3" fmla="*/ 145959 h 291918"/>
              <a:gd name="connsiteX4" fmla="*/ 145959 w 291918"/>
              <a:gd name="connsiteY4" fmla="*/ 0 h 291918"/>
              <a:gd name="connsiteX5" fmla="*/ 97782 w 291918"/>
              <a:gd name="connsiteY5" fmla="*/ 225707 h 291918"/>
              <a:gd name="connsiteX6" fmla="*/ 66622 w 291918"/>
              <a:gd name="connsiteY6" fmla="*/ 225707 h 291918"/>
              <a:gd name="connsiteX7" fmla="*/ 64460 w 291918"/>
              <a:gd name="connsiteY7" fmla="*/ 223588 h 291918"/>
              <a:gd name="connsiteX8" fmla="*/ 64460 w 291918"/>
              <a:gd name="connsiteY8" fmla="*/ 112572 h 291918"/>
              <a:gd name="connsiteX9" fmla="*/ 66449 w 291918"/>
              <a:gd name="connsiteY9" fmla="*/ 110497 h 291918"/>
              <a:gd name="connsiteX10" fmla="*/ 98041 w 291918"/>
              <a:gd name="connsiteY10" fmla="*/ 110497 h 291918"/>
              <a:gd name="connsiteX11" fmla="*/ 100333 w 291918"/>
              <a:gd name="connsiteY11" fmla="*/ 113005 h 291918"/>
              <a:gd name="connsiteX12" fmla="*/ 100312 w 291918"/>
              <a:gd name="connsiteY12" fmla="*/ 168275 h 291918"/>
              <a:gd name="connsiteX13" fmla="*/ 100355 w 291918"/>
              <a:gd name="connsiteY13" fmla="*/ 223090 h 291918"/>
              <a:gd name="connsiteX14" fmla="*/ 97760 w 291918"/>
              <a:gd name="connsiteY14" fmla="*/ 225707 h 291918"/>
              <a:gd name="connsiteX15" fmla="*/ 82451 w 291918"/>
              <a:gd name="connsiteY15" fmla="*/ 94646 h 291918"/>
              <a:gd name="connsiteX16" fmla="*/ 61714 w 291918"/>
              <a:gd name="connsiteY16" fmla="*/ 73996 h 291918"/>
              <a:gd name="connsiteX17" fmla="*/ 82494 w 291918"/>
              <a:gd name="connsiteY17" fmla="*/ 53172 h 291918"/>
              <a:gd name="connsiteX18" fmla="*/ 103209 w 291918"/>
              <a:gd name="connsiteY18" fmla="*/ 73801 h 291918"/>
              <a:gd name="connsiteX19" fmla="*/ 82451 w 291918"/>
              <a:gd name="connsiteY19" fmla="*/ 94625 h 291918"/>
              <a:gd name="connsiteX20" fmla="*/ 234681 w 291918"/>
              <a:gd name="connsiteY20" fmla="*/ 223328 h 291918"/>
              <a:gd name="connsiteX21" fmla="*/ 232302 w 291918"/>
              <a:gd name="connsiteY21" fmla="*/ 225707 h 291918"/>
              <a:gd name="connsiteX22" fmla="*/ 201143 w 291918"/>
              <a:gd name="connsiteY22" fmla="*/ 225707 h 291918"/>
              <a:gd name="connsiteX23" fmla="*/ 198915 w 291918"/>
              <a:gd name="connsiteY23" fmla="*/ 223436 h 291918"/>
              <a:gd name="connsiteX24" fmla="*/ 198915 w 291918"/>
              <a:gd name="connsiteY24" fmla="*/ 165874 h 291918"/>
              <a:gd name="connsiteX25" fmla="*/ 197250 w 291918"/>
              <a:gd name="connsiteY25" fmla="*/ 151581 h 291918"/>
              <a:gd name="connsiteX26" fmla="*/ 179584 w 291918"/>
              <a:gd name="connsiteY26" fmla="*/ 139061 h 291918"/>
              <a:gd name="connsiteX27" fmla="*/ 159301 w 291918"/>
              <a:gd name="connsiteY27" fmla="*/ 158328 h 291918"/>
              <a:gd name="connsiteX28" fmla="*/ 158760 w 291918"/>
              <a:gd name="connsiteY28" fmla="*/ 167323 h 291918"/>
              <a:gd name="connsiteX29" fmla="*/ 158804 w 291918"/>
              <a:gd name="connsiteY29" fmla="*/ 223307 h 291918"/>
              <a:gd name="connsiteX30" fmla="*/ 156447 w 291918"/>
              <a:gd name="connsiteY30" fmla="*/ 225707 h 291918"/>
              <a:gd name="connsiteX31" fmla="*/ 125049 w 291918"/>
              <a:gd name="connsiteY31" fmla="*/ 225707 h 291918"/>
              <a:gd name="connsiteX32" fmla="*/ 122887 w 291918"/>
              <a:gd name="connsiteY32" fmla="*/ 223566 h 291918"/>
              <a:gd name="connsiteX33" fmla="*/ 122887 w 291918"/>
              <a:gd name="connsiteY33" fmla="*/ 112745 h 291918"/>
              <a:gd name="connsiteX34" fmla="*/ 125222 w 291918"/>
              <a:gd name="connsiteY34" fmla="*/ 110497 h 291918"/>
              <a:gd name="connsiteX35" fmla="*/ 155020 w 291918"/>
              <a:gd name="connsiteY35" fmla="*/ 110497 h 291918"/>
              <a:gd name="connsiteX36" fmla="*/ 157290 w 291918"/>
              <a:gd name="connsiteY36" fmla="*/ 112810 h 291918"/>
              <a:gd name="connsiteX37" fmla="*/ 157247 w 291918"/>
              <a:gd name="connsiteY37" fmla="*/ 126065 h 291918"/>
              <a:gd name="connsiteX38" fmla="*/ 164080 w 291918"/>
              <a:gd name="connsiteY38" fmla="*/ 118324 h 291918"/>
              <a:gd name="connsiteX39" fmla="*/ 191066 w 291918"/>
              <a:gd name="connsiteY39" fmla="*/ 107685 h 291918"/>
              <a:gd name="connsiteX40" fmla="*/ 208019 w 291918"/>
              <a:gd name="connsiteY40" fmla="*/ 109740 h 291918"/>
              <a:gd name="connsiteX41" fmla="*/ 231567 w 291918"/>
              <a:gd name="connsiteY41" fmla="*/ 134499 h 291918"/>
              <a:gd name="connsiteX42" fmla="*/ 234703 w 291918"/>
              <a:gd name="connsiteY42" fmla="*/ 162869 h 291918"/>
              <a:gd name="connsiteX43" fmla="*/ 234703 w 291918"/>
              <a:gd name="connsiteY43" fmla="*/ 223350 h 291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291918" h="291918">
                <a:moveTo>
                  <a:pt x="145959" y="0"/>
                </a:moveTo>
                <a:cubicBezTo>
                  <a:pt x="65347" y="0"/>
                  <a:pt x="0" y="65346"/>
                  <a:pt x="0" y="145959"/>
                </a:cubicBezTo>
                <a:cubicBezTo>
                  <a:pt x="0" y="226572"/>
                  <a:pt x="65347" y="291918"/>
                  <a:pt x="145959" y="291918"/>
                </a:cubicBezTo>
                <a:cubicBezTo>
                  <a:pt x="226572" y="291918"/>
                  <a:pt x="291919" y="226572"/>
                  <a:pt x="291919" y="145959"/>
                </a:cubicBezTo>
                <a:cubicBezTo>
                  <a:pt x="291919" y="65346"/>
                  <a:pt x="226572" y="0"/>
                  <a:pt x="145959" y="0"/>
                </a:cubicBezTo>
                <a:close/>
                <a:moveTo>
                  <a:pt x="97782" y="225707"/>
                </a:moveTo>
                <a:cubicBezTo>
                  <a:pt x="87403" y="225599"/>
                  <a:pt x="77023" y="225620"/>
                  <a:pt x="66622" y="225707"/>
                </a:cubicBezTo>
                <a:cubicBezTo>
                  <a:pt x="64957" y="225707"/>
                  <a:pt x="64460" y="225296"/>
                  <a:pt x="64460" y="223588"/>
                </a:cubicBezTo>
                <a:cubicBezTo>
                  <a:pt x="64503" y="186590"/>
                  <a:pt x="64503" y="149592"/>
                  <a:pt x="64460" y="112572"/>
                </a:cubicBezTo>
                <a:cubicBezTo>
                  <a:pt x="64460" y="111037"/>
                  <a:pt x="64828" y="110497"/>
                  <a:pt x="66449" y="110497"/>
                </a:cubicBezTo>
                <a:cubicBezTo>
                  <a:pt x="76980" y="110561"/>
                  <a:pt x="87511" y="110583"/>
                  <a:pt x="98041" y="110497"/>
                </a:cubicBezTo>
                <a:cubicBezTo>
                  <a:pt x="100074" y="110497"/>
                  <a:pt x="100333" y="111253"/>
                  <a:pt x="100333" y="113005"/>
                </a:cubicBezTo>
                <a:cubicBezTo>
                  <a:pt x="100290" y="131428"/>
                  <a:pt x="100312" y="149851"/>
                  <a:pt x="100312" y="168275"/>
                </a:cubicBezTo>
                <a:cubicBezTo>
                  <a:pt x="100312" y="186698"/>
                  <a:pt x="100290" y="204819"/>
                  <a:pt x="100355" y="223090"/>
                </a:cubicBezTo>
                <a:cubicBezTo>
                  <a:pt x="100355" y="225123"/>
                  <a:pt x="99858" y="225729"/>
                  <a:pt x="97760" y="225707"/>
                </a:cubicBezTo>
                <a:close/>
                <a:moveTo>
                  <a:pt x="82451" y="94646"/>
                </a:moveTo>
                <a:cubicBezTo>
                  <a:pt x="71142" y="94646"/>
                  <a:pt x="61757" y="85305"/>
                  <a:pt x="61714" y="73996"/>
                </a:cubicBezTo>
                <a:cubicBezTo>
                  <a:pt x="61670" y="62579"/>
                  <a:pt x="71055" y="53172"/>
                  <a:pt x="82494" y="53172"/>
                </a:cubicBezTo>
                <a:cubicBezTo>
                  <a:pt x="93846" y="53172"/>
                  <a:pt x="103188" y="62492"/>
                  <a:pt x="103209" y="73801"/>
                </a:cubicBezTo>
                <a:cubicBezTo>
                  <a:pt x="103209" y="85283"/>
                  <a:pt x="93911" y="94625"/>
                  <a:pt x="82451" y="94625"/>
                </a:cubicBezTo>
                <a:close/>
                <a:moveTo>
                  <a:pt x="234681" y="223328"/>
                </a:moveTo>
                <a:cubicBezTo>
                  <a:pt x="234681" y="225210"/>
                  <a:pt x="234162" y="225707"/>
                  <a:pt x="232302" y="225707"/>
                </a:cubicBezTo>
                <a:cubicBezTo>
                  <a:pt x="221923" y="225620"/>
                  <a:pt x="211522" y="225620"/>
                  <a:pt x="201143" y="225707"/>
                </a:cubicBezTo>
                <a:cubicBezTo>
                  <a:pt x="199305" y="225707"/>
                  <a:pt x="198915" y="225166"/>
                  <a:pt x="198915" y="223436"/>
                </a:cubicBezTo>
                <a:cubicBezTo>
                  <a:pt x="198980" y="204256"/>
                  <a:pt x="198980" y="185076"/>
                  <a:pt x="198915" y="165874"/>
                </a:cubicBezTo>
                <a:cubicBezTo>
                  <a:pt x="198915" y="161074"/>
                  <a:pt x="198591" y="156252"/>
                  <a:pt x="197250" y="151581"/>
                </a:cubicBezTo>
                <a:cubicBezTo>
                  <a:pt x="194764" y="142975"/>
                  <a:pt x="188601" y="138586"/>
                  <a:pt x="179584" y="139061"/>
                </a:cubicBezTo>
                <a:cubicBezTo>
                  <a:pt x="167259" y="139710"/>
                  <a:pt x="160858" y="145808"/>
                  <a:pt x="159301" y="158328"/>
                </a:cubicBezTo>
                <a:cubicBezTo>
                  <a:pt x="158933" y="161312"/>
                  <a:pt x="158739" y="164318"/>
                  <a:pt x="158760" y="167323"/>
                </a:cubicBezTo>
                <a:cubicBezTo>
                  <a:pt x="158760" y="185984"/>
                  <a:pt x="158760" y="204646"/>
                  <a:pt x="158804" y="223307"/>
                </a:cubicBezTo>
                <a:cubicBezTo>
                  <a:pt x="158804" y="225166"/>
                  <a:pt x="158350" y="225707"/>
                  <a:pt x="156447" y="225707"/>
                </a:cubicBezTo>
                <a:cubicBezTo>
                  <a:pt x="145981" y="225620"/>
                  <a:pt x="135515" y="225620"/>
                  <a:pt x="125049" y="225707"/>
                </a:cubicBezTo>
                <a:cubicBezTo>
                  <a:pt x="123363" y="225707"/>
                  <a:pt x="122887" y="225274"/>
                  <a:pt x="122887" y="223566"/>
                </a:cubicBezTo>
                <a:cubicBezTo>
                  <a:pt x="122930" y="186633"/>
                  <a:pt x="122930" y="149678"/>
                  <a:pt x="122887" y="112745"/>
                </a:cubicBezTo>
                <a:cubicBezTo>
                  <a:pt x="122887" y="110907"/>
                  <a:pt x="123492" y="110497"/>
                  <a:pt x="125222" y="110497"/>
                </a:cubicBezTo>
                <a:cubicBezTo>
                  <a:pt x="135147" y="110561"/>
                  <a:pt x="145094" y="110583"/>
                  <a:pt x="155020" y="110497"/>
                </a:cubicBezTo>
                <a:cubicBezTo>
                  <a:pt x="156858" y="110497"/>
                  <a:pt x="157312" y="111080"/>
                  <a:pt x="157290" y="112810"/>
                </a:cubicBezTo>
                <a:cubicBezTo>
                  <a:pt x="157182" y="117221"/>
                  <a:pt x="157247" y="121633"/>
                  <a:pt x="157247" y="126065"/>
                </a:cubicBezTo>
                <a:cubicBezTo>
                  <a:pt x="159647" y="123363"/>
                  <a:pt x="161615" y="120638"/>
                  <a:pt x="164080" y="118324"/>
                </a:cubicBezTo>
                <a:cubicBezTo>
                  <a:pt x="171648" y="111188"/>
                  <a:pt x="180600" y="107599"/>
                  <a:pt x="191066" y="107685"/>
                </a:cubicBezTo>
                <a:cubicBezTo>
                  <a:pt x="196818" y="107729"/>
                  <a:pt x="202483" y="108140"/>
                  <a:pt x="208019" y="109740"/>
                </a:cubicBezTo>
                <a:cubicBezTo>
                  <a:pt x="220690" y="113394"/>
                  <a:pt x="228042" y="122130"/>
                  <a:pt x="231567" y="134499"/>
                </a:cubicBezTo>
                <a:cubicBezTo>
                  <a:pt x="234205" y="143775"/>
                  <a:pt x="234681" y="153311"/>
                  <a:pt x="234703" y="162869"/>
                </a:cubicBezTo>
                <a:cubicBezTo>
                  <a:pt x="234746" y="183022"/>
                  <a:pt x="234638" y="203197"/>
                  <a:pt x="234703" y="223350"/>
                </a:cubicBezTo>
                <a:close/>
              </a:path>
            </a:pathLst>
          </a:custGeom>
          <a:solidFill>
            <a:schemeClr val="bg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Gráfico 13">
            <a:hlinkClick r:id="rId8"/>
            <a:extLst>
              <a:ext uri="{FF2B5EF4-FFF2-40B4-BE49-F238E27FC236}">
                <a16:creationId xmlns:a16="http://schemas.microsoft.com/office/drawing/2014/main" id="{DF05ECB5-D358-49F6-0851-C3B6B58AAB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21787" y="3115740"/>
            <a:ext cx="298842" cy="298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962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8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 Theme.pptx" id="{ADD455AA-2252-4A94-BAF3-8EFFD02E370D}" vid="{FAB857A7-BC5D-4265-A033-A1E67AA0A486}"/>
    </a:ext>
  </a:extLst>
</a:theme>
</file>

<file path=ppt/theme/theme3.xml><?xml version="1.0" encoding="utf-8"?>
<a:theme xmlns:a="http://schemas.openxmlformats.org/drawingml/2006/main" name="2_Tema do Office">
  <a:themeElements>
    <a:clrScheme name="Personalizada 1">
      <a:dk1>
        <a:srgbClr val="444444"/>
      </a:dk1>
      <a:lt1>
        <a:srgbClr val="FFFFFF"/>
      </a:lt1>
      <a:dk2>
        <a:srgbClr val="00B2FF"/>
      </a:dk2>
      <a:lt2>
        <a:srgbClr val="D0FFCC"/>
      </a:lt2>
      <a:accent1>
        <a:srgbClr val="FC745C"/>
      </a:accent1>
      <a:accent2>
        <a:srgbClr val="FFF6D3"/>
      </a:accent2>
      <a:accent3>
        <a:srgbClr val="B2BAB9"/>
      </a:accent3>
      <a:accent4>
        <a:srgbClr val="F28BAD"/>
      </a:accent4>
      <a:accent5>
        <a:srgbClr val="382E63"/>
      </a:accent5>
      <a:accent6>
        <a:srgbClr val="FFCFE0"/>
      </a:accent6>
      <a:hlink>
        <a:srgbClr val="00B2FF"/>
      </a:hlink>
      <a:folHlink>
        <a:srgbClr val="FC745C"/>
      </a:folHlink>
    </a:clrScheme>
    <a:fontScheme name="Fontes Padrão Madrona Fialho">
      <a:majorFont>
        <a:latin typeface="Times New Roman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 Theme.pptx" id="{ADD455AA-2252-4A94-BAF3-8EFFD02E370D}" vid="{FAB857A7-BC5D-4265-A033-A1E67AA0A486}"/>
    </a:ext>
  </a:extLst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15A30EC75DA5A439E53B4828FCD0DBF" ma:contentTypeVersion="16" ma:contentTypeDescription="Crie um novo documento." ma:contentTypeScope="" ma:versionID="43af8fcfffe69973802d7e6cbb5f701d">
  <xsd:schema xmlns:xsd="http://www.w3.org/2001/XMLSchema" xmlns:xs="http://www.w3.org/2001/XMLSchema" xmlns:p="http://schemas.microsoft.com/office/2006/metadata/properties" xmlns:ns2="613cf37c-c5f6-4ca6-9784-ef586c413fda" xmlns:ns3="6a26d4e7-4237-4a1a-86c6-ca6b4d458803" xmlns:ns4="87f9c479-9cd9-454e-84ce-915567353c0f" targetNamespace="http://schemas.microsoft.com/office/2006/metadata/properties" ma:root="true" ma:fieldsID="d9e63d992c2b12954497636072b0cb76" ns2:_="" ns3:_="" ns4:_="">
    <xsd:import namespace="613cf37c-c5f6-4ca6-9784-ef586c413fda"/>
    <xsd:import namespace="6a26d4e7-4237-4a1a-86c6-ca6b4d458803"/>
    <xsd:import namespace="87f9c479-9cd9-454e-84ce-915567353c0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MediaServiceOCR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3cf37c-c5f6-4ca6-9784-ef586c413f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997e3221-b392-4145-8ca6-5eef42ef8b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26d4e7-4237-4a1a-86c6-ca6b4d45880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f9c479-9cd9-454e-84ce-915567353c0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626e1e4-4d31-43d6-b845-1ec117bf5995}" ma:internalName="TaxCatchAll" ma:showField="CatchAllData" ma:web="87f9c479-9cd9-454e-84ce-915567353c0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��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7f9c479-9cd9-454e-84ce-915567353c0f" xsi:nil="true"/>
    <lcf76f155ced4ddcb4097134ff3c332f xmlns="613cf37c-c5f6-4ca6-9784-ef586c413fda">
      <Terms xmlns="http://schemas.microsoft.com/office/infopath/2007/PartnerControls"/>
    </lcf76f155ced4ddcb4097134ff3c332f>
  </documentManagement>
</p:properties>
</file>

<file path=customXml/itemProps2.xml><?xml version="1.0" encoding="utf-8"?>
<ds:datastoreItem xmlns:ds="http://schemas.openxmlformats.org/officeDocument/2006/customXml" ds:itemID="{CA0332E0-95F9-409F-BFC2-9CF6AA134693}"/>
</file>

<file path=customXml/itemProps3.xml><?xml version="1.0" encoding="utf-8"?>
<ds:datastoreItem xmlns:ds="http://schemas.openxmlformats.org/officeDocument/2006/customXml" ds:itemID="{3BD5D13F-A5A7-4EC2-B4D8-710CBD2FAE46}">
  <ds:schemaRefs>
    <ds:schemaRef ds:uri="http://www.imanage.com/work/xmlschema"/>
  </ds:schemaRefs>
</ds:datastoreItem>
</file>

<file path=customXml/itemProps4.xml><?xml version="1.0" encoding="utf-8"?>
<ds:datastoreItem xmlns:ds="http://schemas.openxmlformats.org/officeDocument/2006/customXml" ds:itemID="{7E6F1EBD-1CEE-43D1-8C23-6BA13F9D348E}">
  <ds:schemaRefs>
    <ds:schemaRef ds:uri="http://schemas.microsoft.com/sharepoint/v3/contenttype/forms"/>
  </ds:schemaRefs>
</ds:datastoreItem>
</file>

<file path=customXml/itemProps5.xml><?xml version="1.0" encoding="utf-8"?>
<ds:datastoreItem xmlns:ds="http://schemas.openxmlformats.org/officeDocument/2006/customXml" ds:itemID="{F37C4CAA-EE40-45A5-ABDF-47C321DF344E}">
  <ds:schemaRefs>
    <ds:schemaRef ds:uri="http://www.w3.org/XML/1998/namespace"/>
    <ds:schemaRef ds:uri="http://schemas.microsoft.com/office/2006/documentManagement/types"/>
    <ds:schemaRef ds:uri="http://purl.org/dc/terms/"/>
    <ds:schemaRef ds:uri="http://purl.org/dc/dcmitype/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49b8a59f-5779-40e0-b3da-59ac66a2d0cc"/>
    <ds:schemaRef ds:uri="723f5db4-d1f0-44fe-98be-06c7e5e343b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43430</TotalTime>
  <Words>2716</Words>
  <Application>Microsoft Office PowerPoint</Application>
  <PresentationFormat>Widescreen</PresentationFormat>
  <Paragraphs>181</Paragraphs>
  <Slides>19</Slides>
  <Notes>3</Notes>
  <HiddenSlides>0</HiddenSlides>
  <MMClips>1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19</vt:i4>
      </vt:variant>
    </vt:vector>
  </HeadingPairs>
  <TitlesOfParts>
    <vt:vector size="30" baseType="lpstr">
      <vt:lpstr>Arial</vt:lpstr>
      <vt:lpstr>Calibri</vt:lpstr>
      <vt:lpstr>Calibri Light</vt:lpstr>
      <vt:lpstr>FreightSansProBook-Regular</vt:lpstr>
      <vt:lpstr>Liter</vt:lpstr>
      <vt:lpstr>Noto Sans SC</vt:lpstr>
      <vt:lpstr>Segoe UI</vt:lpstr>
      <vt:lpstr>Times New Roman</vt:lpstr>
      <vt:lpstr>Tema do Office</vt:lpstr>
      <vt:lpstr>1_Tema do Office</vt:lpstr>
      <vt:lpstr>2_Tema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thais.freire@madronaadvogados.com.br</dc:creator>
  <cp:lastModifiedBy>Anderson Novais</cp:lastModifiedBy>
  <cp:revision>189</cp:revision>
  <dcterms:created xsi:type="dcterms:W3CDTF">2023-11-07T17:23:23Z</dcterms:created>
  <dcterms:modified xsi:type="dcterms:W3CDTF">2026-06-12T14:43:42Z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0x010100715A30EC75DA5A439E53B4828FCD0DBF</vt:lpwstr>
  </property>
</Properties>
</file>