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ee872925-b961-00ba-d7ea-d4d8b450eeac}">
          <p14:sldIdLst>
            <p14:sldId id="256"/>
          </p14:sldIdLst>
        </p14:section>
        <p14:section name="Informações Gerais" id="{a1011189-e439-5077-05c8-c30852fedc4e}">
          <p14:sldIdLst>
            <p14:sldId id="257"/>
            <p14:sldId id="258"/>
          </p14:sldIdLst>
        </p14:section>
        <p14:section name="Aspectos Jurídicos Estratégicos" id="{270898ef-8e54-4b31-0d56-e87376948a5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ontos de atenção" id="{f322d27d-c6ea-318c-045f-7e56db94fde8}">
          <p14:sldIdLst>
            <p14:sldId id="275"/>
            <p14:sldId id="276"/>
            <p14:sldId id="277"/>
          </p14:sldIdLst>
        </p14:section>
        <p14:section name="Encerramento" id="{bef1c051-9926-ff76-a36d-b3a04cef1947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+mn-lt"/>
              </a:rPr>
              <a:t>Inadimplência estimada por ano (%) – Anexo 6, Tabela 2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estimada</c:v>
                </c:pt>
              </c:strCache>
            </c:strRef>
          </c:tx>
          <c:spPr>
            <a:solidFill>
              <a:srgbClr val="8C2F39"/>
            </a:solidFill>
            <a:ln w="25400" cap="flat">
              <a:solidFill>
                <a:srgbClr val="8C2F3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2F39"/>
              </a:solidFill>
              <a:ln w="9525" cap="flat">
                <a:solidFill>
                  <a:srgbClr val="8C2F3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10+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18.7</c:v>
                </c:pt>
                <c:pt idx="1">
                  <c:v>13.9</c:v>
                </c:pt>
                <c:pt idx="2">
                  <c:v>11.8</c:v>
                </c:pt>
                <c:pt idx="3">
                  <c:v>10.9</c:v>
                </c:pt>
                <c:pt idx="4">
                  <c:v>10</c:v>
                </c:pt>
                <c:pt idx="5">
                  <c:v>9.9</c:v>
                </c:pt>
                <c:pt idx="6">
                  <c:v>9.4</c:v>
                </c:pt>
                <c:pt idx="7">
                  <c:v>8.8</c:v>
                </c:pt>
                <c:pt idx="8">
                  <c:v>8.9</c:v>
                </c:pt>
                <c:pt idx="9">
                  <c:v>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Limite superior da banda</c:v>
                </c:pt>
              </c:strCache>
            </c:strRef>
          </c:tx>
          <c:spPr>
            <a:solidFill>
              <a:srgbClr val="9AA3AD"/>
            </a:solidFill>
            <a:ln w="254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10+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19.35</c:v>
                </c:pt>
                <c:pt idx="1">
                  <c:v>14.39</c:v>
                </c:pt>
                <c:pt idx="2">
                  <c:v>12.21</c:v>
                </c:pt>
                <c:pt idx="3">
                  <c:v>11.28</c:v>
                </c:pt>
                <c:pt idx="4">
                  <c:v>10.35</c:v>
                </c:pt>
                <c:pt idx="5">
                  <c:v>10.25</c:v>
                </c:pt>
                <c:pt idx="6">
                  <c:v>9.73</c:v>
                </c:pt>
                <c:pt idx="7">
                  <c:v>9.11</c:v>
                </c:pt>
                <c:pt idx="8">
                  <c:v>9.21</c:v>
                </c:pt>
                <c:pt idx="9">
                  <c:v>8.59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Limite inferior da banda</c:v>
                </c:pt>
              </c:strCache>
            </c:strRef>
          </c:tx>
          <c:spPr>
            <a:solidFill>
              <a:srgbClr val="9AA3AD"/>
            </a:solidFill>
            <a:ln w="254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10+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18.05</c:v>
                </c:pt>
                <c:pt idx="1">
                  <c:v>13.41</c:v>
                </c:pt>
                <c:pt idx="2">
                  <c:v>11.39</c:v>
                </c:pt>
                <c:pt idx="3">
                  <c:v>10.52</c:v>
                </c:pt>
                <c:pt idx="4">
                  <c:v>9.65</c:v>
                </c:pt>
                <c:pt idx="5">
                  <c:v>9.55</c:v>
                </c:pt>
                <c:pt idx="6">
                  <c:v>9.07</c:v>
                </c:pt>
                <c:pt idx="7">
                  <c:v>8.49</c:v>
                </c:pt>
                <c:pt idx="8">
                  <c:v>8.59</c:v>
                </c:pt>
                <c:pt idx="9">
                  <c:v>8.01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076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076"/>
                    </a:solidFill>
                    <a:latin typeface="Arial"/>
                  </a:rPr>
                  <a:t>Ano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0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0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3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+mn-lt"/>
              </a:rPr>
              <a:t>Desvio do aterro exigido (ID2.3), em % do RDO coletado – Anexo 4, Tabela 8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Recicláveis</c:v>
                </c:pt>
              </c:strCache>
            </c:strRef>
          </c:tx>
          <c:spPr>
            <a:solidFill>
              <a:srgbClr val="6B707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5 (meta 32,6%)</c:v>
                  </c:pt>
                  <c:pt idx="1">
                    <c:v>2036 (meta 41,8%)</c:v>
                  </c:pt>
                  <c:pt idx="2">
                    <c:v>2040–2055 (meta 51,0%)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9.7</c:v>
                </c:pt>
                <c:pt idx="1">
                  <c:v>11.3</c:v>
                </c:pt>
                <c:pt idx="2">
                  <c:v>12.9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Orgânicos (tratamento biológico)</c:v>
                </c:pt>
              </c:strCache>
            </c:strRef>
          </c:tx>
          <c:spPr>
            <a:solidFill>
              <a:srgbClr val="5E1D2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5 (meta 32,6%)</c:v>
                  </c:pt>
                  <c:pt idx="1">
                    <c:v>2036 (meta 41,8%)</c:v>
                  </c:pt>
                  <c:pt idx="2">
                    <c:v>2040–2055 (meta 51,0%)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10.8</c:v>
                </c:pt>
                <c:pt idx="1">
                  <c:v>14.4</c:v>
                </c:pt>
                <c:pt idx="2">
                  <c:v>18.1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Diferença para outra rota</c:v>
                </c:pt>
              </c:strCache>
            </c:strRef>
          </c:tx>
          <c:spPr>
            <a:solidFill>
              <a:srgbClr val="8C2F3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5 (meta 32,6%)</c:v>
                  </c:pt>
                  <c:pt idx="1">
                    <c:v>2036 (meta 41,8%)</c:v>
                  </c:pt>
                  <c:pt idx="2">
                    <c:v>2040–2055 (meta 51,0%)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12.1</c:v>
                </c:pt>
                <c:pt idx="1">
                  <c:v>16.1</c:v>
                </c:pt>
                <c:pt idx="2">
                  <c:v>20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3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1089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754880" y="2468880"/>
            <a:ext cx="54864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CONSAÚDE | Concessão de RSU · Pontos de atenção · minuta em consulta pública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7" Type="http://schemas.openxmlformats.org/officeDocument/2006/relationships/image" Target="../media/image-11-6.png"/><Relationship Id="rId8" Type="http://schemas.openxmlformats.org/officeDocument/2006/relationships/image" Target="../media/image-11-7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image" Target="../media/image-16-3.png"/><Relationship Id="rId5" Type="http://schemas.openxmlformats.org/officeDocument/2006/relationships/image" Target="../media/image-16-4.png"/><Relationship Id="rId6" Type="http://schemas.openxmlformats.org/officeDocument/2006/relationships/image" Target="../media/image-16-5.png"/><Relationship Id="rId7" Type="http://schemas.openxmlformats.org/officeDocument/2006/relationships/image" Target="../media/image-16-6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"/>
          <p:cNvSpPr/>
          <p:nvPr/>
        </p:nvSpPr>
        <p:spPr>
          <a:xfrm>
            <a:off x="7863840" y="548640"/>
            <a:ext cx="4754880" cy="4754880"/>
          </a:xfrm>
          <a:prstGeom prst="ellipse">
            <a:avLst/>
          </a:prstGeom>
          <a:ln w="15875">
            <a:solidFill>
              <a:schemeClr val="accent3"/>
            </a:solidFill>
            <a:prstDash val="solid"/>
          </a:ln>
        </p:spPr>
      </p:sp>
      <p:sp>
        <p:nvSpPr>
          <p:cNvPr id="3" name="motivo"/>
          <p:cNvSpPr/>
          <p:nvPr/>
        </p:nvSpPr>
        <p:spPr>
          <a:xfrm>
            <a:off x="9509760" y="3017520"/>
            <a:ext cx="3657600" cy="3657600"/>
          </a:xfrm>
          <a:prstGeom prst="ellipse">
            <a:avLst/>
          </a:prstGeom>
          <a:ln w="12700">
            <a:solidFill>
              <a:schemeClr val="accent3"/>
            </a:solidFill>
            <a:prstDash val="solid"/>
          </a:ln>
        </p:spPr>
      </p:sp>
      <p:sp>
        <p:nvSpPr>
          <p:cNvPr id="4" name="motivo"/>
          <p:cNvSpPr/>
          <p:nvPr/>
        </p:nvSpPr>
        <p:spPr>
          <a:xfrm>
            <a:off x="6949440" y="3931920"/>
            <a:ext cx="2834640" cy="2834640"/>
          </a:xfrm>
          <a:prstGeom prst="ellipse">
            <a:avLst/>
          </a:prstGeom>
          <a:ln w="9525">
            <a:solidFill>
              <a:schemeClr val="accent3"/>
            </a:solidFill>
            <a:prstDash val="solid"/>
          </a:ln>
        </p:spPr>
      </p:sp>
      <p:sp>
        <p:nvSpPr>
          <p:cNvPr id="5" name="motivo"/>
          <p:cNvSpPr/>
          <p:nvPr/>
        </p:nvSpPr>
        <p:spPr>
          <a:xfrm>
            <a:off x="10332720" y="320040"/>
            <a:ext cx="2011680" cy="2011680"/>
          </a:xfrm>
          <a:prstGeom prst="ellipse">
            <a:avLst/>
          </a:prstGeom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CONSAÚDE | CONCESSÃO DE RESÍDUOS SÓLIDOS URBANOS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Concorrência nº [•]/2026 · minuta em consulta pública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348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Pontos de atenção · outubro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"/>
          <p:cNvSpPr/>
          <p:nvPr/>
        </p:nvSpPr>
        <p:spPr>
          <a:xfrm>
            <a:off x="10332720" y="411480"/>
            <a:ext cx="3108960" cy="3108960"/>
          </a:xfrm>
          <a:prstGeom prst="ellipse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3" name="motivo"/>
          <p:cNvSpPr/>
          <p:nvPr/>
        </p:nvSpPr>
        <p:spPr>
          <a:xfrm>
            <a:off x="10881360" y="4114800"/>
            <a:ext cx="2377440" cy="2377440"/>
          </a:xfrm>
          <a:prstGeom prst="ellipse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4" name="numero"/>
          <p:cNvSpPr/>
          <p:nvPr/>
        </p:nvSpPr>
        <p:spPr>
          <a:xfrm>
            <a:off x="3108960" y="274320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0"/>
          <p:cNvSpPr/>
          <p:nvPr>
            <p:ph idx="100" type="body" hasCustomPrompt="1"/>
          </p:nvPr>
        </p:nvSpPr>
        <p:spPr>
          <a:xfrm>
            <a:off x="310896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4754880" y="246888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Informações Gerais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Informações gerais da concessão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66760"/>
              </a:tblGrid>
              <a:tr h="0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Informações gerais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2F39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jurídico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Concessão comum (Lei nº 8.987/1995), com aplicação subsidiária da Lei nº 14.133/2021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Poder Concedente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Consórcio Intermunicipal de Saúde do Vale do Ribeira e Litoral Sul (CONSAÚDE)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da Concessão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anos a partir da eficácia do Contrato (emissão da Ordem de Serviço); prorrogação de até 5 anos apenas como meio de reequilíbrio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julgamento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tarifa: menor multiplicador K (≤ 1,0000), aplicado sobre a Tarifa Base (R$ 3,1452/m³) e a Tarifa do Ente Público (R$ 118,56/t)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de disputa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Fechado, sem etapa de lances; sessão na B3; inversão de fases (só se abre a habilitação da primeira colocada)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(i) Coleta, transporte, transbordo, tratamento e disposição final dos resíduos sólidos domiciliares (RDO); e (ii) disposição final dos resíduos de limpeza urbana (RPU) dos municípios que aderirem. Varrição, capina e poda não integram o escopo.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municípios do Vale do Ribeira e do Litoral Sul; Itanhaém e Mongaguá integram também a Região Metropolitana da Baixada Santista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estimado do contrato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R$ 403.109.222,91 (corresponde ao CAPEX; data-base jan/2026)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total estimado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R$ 1.648.994.024,39 (30 anos)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Outorga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há outorga onerosa. Repasses anuais ao Poder Concedente (cl. 7.5) e, antes da assinatura, ressarcimento ao FEP (R$ 15.666.098,61) e à B3 (R$ 557.779,45)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do projeto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10,55% a.a. (real)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Proposta: R$ 4.031.092,23 (1%). Execução: R$ 20.155.461,15 (5%) nos anos 1 a 10 e R$ 10.077.730,57 (2,5%) nos anos 11 a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pública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25/09 a 24/10/2026; audiência pública em 08/10/2026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dos envelopes e sessão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0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definidas na minuta ([•])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1148" marB="4114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"/>
          <p:cNvSpPr/>
          <p:nvPr/>
        </p:nvSpPr>
        <p:spPr>
          <a:xfrm>
            <a:off x="10332720" y="411480"/>
            <a:ext cx="3108960" cy="3108960"/>
          </a:xfrm>
          <a:prstGeom prst="ellipse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3" name="motivo"/>
          <p:cNvSpPr/>
          <p:nvPr/>
        </p:nvSpPr>
        <p:spPr>
          <a:xfrm>
            <a:off x="10881360" y="4114800"/>
            <a:ext cx="2377440" cy="2377440"/>
          </a:xfrm>
          <a:prstGeom prst="ellipse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4" name="numero"/>
          <p:cNvSpPr/>
          <p:nvPr/>
        </p:nvSpPr>
        <p:spPr>
          <a:xfrm>
            <a:off x="3108960" y="274320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0"/>
          <p:cNvSpPr/>
          <p:nvPr>
            <p:ph idx="100" type="body" hasCustomPrompt="1"/>
          </p:nvPr>
        </p:nvSpPr>
        <p:spPr>
          <a:xfrm>
            <a:off x="310896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2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4754880" y="246888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Aspectos Jurídicos Estratégicos do Projeto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Aterro sanitário: bem não reversível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188720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097280"/>
            <a:ext cx="10835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 Contrato admite aterro próprio ou de terceiro (cl. 15.1) e exige, como condição da Ordem de Serviço, aterro implantado, operacional e licenciado, com vida útil de no mínimo 12 meses (cl. 5.4). As cls. 15.7 e 15.9 excluem o aterro da reversão, e a indenização na extinção alcança apenas os bens reversíveis (cls. 30.2 e 30.4).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25980"/>
            <a:ext cx="10515600" cy="170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979676"/>
            <a:ext cx="3091038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61288" y="1979676"/>
            <a:ext cx="2908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Minuta de Contrato – cls. 15.7 e 15.9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088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“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00300"/>
            <a:ext cx="9738360" cy="131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15.7. Após o término do CONTRATO, o ATERRO SANITÁRIO </a:t>
            </a:r>
            <a:pPr algn="just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não será BEM REVERSÍVEL</a:t>
            </a:r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, obrigando-se a CONCESSIONÁRIA a assegurar que, ao advento do termo contratual, a unidade de DISPOSIÇÃO FINAL utilizada, própria ou de terceiro, esteja licenciada e disponha de </a:t>
            </a:r>
            <a:pPr algn="just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vida útil remanescente não inferior a 5 (cinco) anos</a:t>
            </a:r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, podendo o PODER CONCEDENTE e a CONCESSIONÁRIA estabelecer, por meio de aditivo a este CONTRATO, a continuidade da prestação pela CONCESSIONÁRIA dos serviços de DISPOSIÇÃO FINAL dos RESÍDUOS SÓLIDOS.</a:t>
            </a:r>
            <a:endParaRPr lang="en-US" sz="1250" dirty="0"/>
          </a:p>
          <a:p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15.9. O(s) ATERRO(s) SANITÁRIO(s) privado(s), utilizado(s) de forma provisória durante a Fase 2, ou permanente durante a Fase 3 deste CONTRATO, </a:t>
            </a:r>
            <a:pPr algn="just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não serão objeto de reversão ao PODER CONCEDENTE</a:t>
            </a:r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284980"/>
            <a:ext cx="10515600" cy="10795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8676"/>
            <a:ext cx="2511674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61288" y="4138676"/>
            <a:ext cx="23287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Minuta de Contrato – cl. 30.4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4678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“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559300"/>
            <a:ext cx="9738360" cy="695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30.4. A CONCESSIONÁRIA será indenizada pelos valores pendentes de </a:t>
            </a:r>
            <a:pPr algn="just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bens, equipamentos e instalações reversíveis</a:t>
            </a:r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que não estiverem totalmente amortizados ou depreciados à data de extinção do CONTRATO, nas hipóteses do item 30.1, incisos II a VI, nos termos dos artigos 35, § 4º, 36 e 38, § 5º, da Lei Federal nº 8.987/1995.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Irreversibilidade do aterro sanitário</a:t>
            </a:r>
            <a:endParaRPr lang="en-US" sz="2600" dirty="0"/>
          </a:p>
        </p:txBody>
      </p:sp>
      <p:sp>
        <p:nvSpPr>
          <p:cNvPr id="3" name="pill"/>
          <p:cNvSpPr/>
          <p:nvPr/>
        </p:nvSpPr>
        <p:spPr>
          <a:xfrm>
            <a:off x="548640" y="1143000"/>
            <a:ext cx="51206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1872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8992" y="1143000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Aterro sanitário como bem não reversível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1828800"/>
            <a:ext cx="4892040" cy="1356360"/>
          </a:xfrm>
          <a:prstGeom prst="roundRect">
            <a:avLst>
              <a:gd name="adj" fmla="val 539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41832" y="1947672"/>
            <a:ext cx="4562856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Início da operação – cls. 5.4 e 15.1.1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Aterro próprio ou de terceiro implantado, operacional e licenciado, com vida útil de no mínimo 12 meses contados da Ordem de Serviço. O processo do aterro próprio começa “tão logo assinado” o Contrato.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3413760"/>
            <a:ext cx="4892040" cy="116586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1832" y="3532632"/>
            <a:ext cx="4562856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Término do Contrato – cl. 15.7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Unidade licenciada com vida útil remanescente de no mínimo 5 anos. A continuidade da disposição final pela Concessionária depende de aditivo.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4808220"/>
            <a:ext cx="4892040" cy="9753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1832" y="4927092"/>
            <a:ext cx="456285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Monitoramento – cl. 15.7.1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Monitoramento ambiental do aterro “durante todo o período da CONCESSÃO”.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1143000"/>
            <a:ext cx="5623560" cy="507492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6291072" y="13441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146304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03720" y="13441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Impactos da Regra Contratual</a:t>
            </a:r>
            <a:endParaRPr lang="en-US" sz="1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029968"/>
            <a:ext cx="222250" cy="22225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48272" y="2011680"/>
            <a:ext cx="466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Ausência de indenização: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em encampação, caducidade, rescisão ou anulação, a indenização da cl. 30.4 alcança só bens reversíveis; os investimentos não amortizados no aterro ficam sem cobertura expressa.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3157728"/>
            <a:ext cx="222250" cy="2222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48272" y="3139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Capacidade além do prazo: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 vida útil remanescente de 5 anos exigida no termo implica capacidade implantada e não utilizada durante a concessão, sem regra de remuneração.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4072128"/>
            <a:ext cx="222250" cy="22225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48272" y="4053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Passivo ambiental pós-contrato: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o Contrato não trata do encerramento e do monitoramento do aterro após o termo; o passivo permanece com o titular da unidade.</a:t>
            </a:r>
            <a:endParaRPr lang="en-US" sz="14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4986528"/>
            <a:ext cx="222250" cy="22225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48272" y="4968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Questionamento por órgãos de controle: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 tarifa remunera o CAPEX do aterro (R$ 30,6 milhões no Plano de Negócio Referencial), mas o bem não retorna ao Poder Público.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Irreversibilidade do aterro sanitário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051560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" y="184708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1965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47088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Providências mitigadoras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532888"/>
            <a:ext cx="254000" cy="254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36192" y="2514600"/>
            <a:ext cx="95554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Sugerimos a apresentação de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contribuição na consulta pública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(e, publicado o edital, de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pedido de esclarecimento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) para que o Contrato preveja expressamente 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indenização das parcelas não amortizadas dos investimentos no aterro sanitário próprio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em caso de extinção antecipada (encampação, caducidade, rescisão e anulação), independentemente de sua classificação como bem não reversível.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874008"/>
            <a:ext cx="254000" cy="2540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36192" y="3855720"/>
            <a:ext cx="9555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Sugerimos contribuição para esclarecer a obrigação de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vida útil remanescente de 5 anos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ao término do Contrato (cl. 15.7): forma de remuneração da capacidade excedente e condições do aditivo de continuidade da disposição final.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971288"/>
            <a:ext cx="254000" cy="2540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36192" y="4953000"/>
            <a:ext cx="9555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Sugerimos contribuição para definir a responsabilidade pelo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encerramento e pelo monitoramento pós-encerramento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do aterro após o termo contratual.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Remuneração da Concessionária</a:t>
            </a:r>
            <a:endParaRPr lang="en-US" sz="2600" dirty="0"/>
          </a:p>
        </p:txBody>
      </p:sp>
      <p:sp>
        <p:nvSpPr>
          <p:cNvPr id="3" name="pill"/>
          <p:cNvSpPr/>
          <p:nvPr/>
        </p:nvSpPr>
        <p:spPr>
          <a:xfrm>
            <a:off x="548640" y="1143000"/>
            <a:ext cx="525780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1872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8992" y="1143000"/>
            <a:ext cx="4636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Sistema tarifário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1828800"/>
            <a:ext cx="5029200" cy="1943100"/>
          </a:xfrm>
          <a:prstGeom prst="roundRect">
            <a:avLst>
              <a:gd name="adj" fmla="val 376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41832" y="1947672"/>
            <a:ext cx="4700016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Tarifas – Anexo 6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Tarifa Base (TB):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R$ 3,1452/m³ (CG 3,3570 kg/m³ × PU R$ 0,9369/kg), cobrada do usuário sobre o volume faturado de água (VA), ponderada pelo Fator de Uso da categoria.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VA: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média do consumo do ano anterior, aplicada às 12 faturas seguintes; mínimo de 10 m³/mês.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Tarifa do Ente Público (TEP):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R$ 118,56/t de RPU, paga pelos municípios que aderirem.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4000500"/>
            <a:ext cx="5029200" cy="1539240"/>
          </a:xfrm>
          <a:prstGeom prst="roundRect">
            <a:avLst>
              <a:gd name="adj" fmla="val 4752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1832" y="4119372"/>
            <a:ext cx="4700016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Modelo de cobrança – cls. 7.4.3 e 7.4.4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Fatura própria da Concessionária. A cobrança conjunta com a água é facultativa e depende de convênio com a prestadora; o Poder Concedente apenas envida “melhores esforços”.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não celebração, o descumprimento ou a extinção do convênio são risco da Concessionária (Edital, 4.4.4; Matriz, itens 59 e 79).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1143000"/>
            <a:ext cx="5577840" cy="507492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336792" y="13441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46304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49440" y="134416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Impactos da Regra Contratual</a:t>
            </a:r>
            <a:endParaRPr lang="en-US" sz="17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029968"/>
            <a:ext cx="206375" cy="20637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93992" y="20116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Dependência de terceiro: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a base de cálculo da TB (consumo por economia) está no sistema da prestadora de água (SABESP nos 16 municípios), que não é parte do Contrato.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807208"/>
            <a:ext cx="206375" cy="20637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93992" y="2788920"/>
            <a:ext cx="46177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Cofaturamento sem garantia: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a cobrança na fatura de água depende da “anuência da prestadora do serviço” (art. 35, § 1º, da Lei nº 11.445/2007); segundo o Plano de Negócio, as negociações “não resultaram no interesse necessário”.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3782568"/>
            <a:ext cx="206375" cy="20637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793992" y="37642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Base concentrada no mínimo: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Itanhaém e Mongaguá reúnem 61% das economias, com consumo médio de 8,8 e 7,9 m³/mês, abaixo do mínimo de 10 m³.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559808"/>
            <a:ext cx="206375" cy="20637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793992" y="45415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Categorias definidas por terceiro: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o enquadramento de cada economia, inclusive na tarifa social, segue o cadastro da prestadora de água (Anexo 6).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5337048"/>
            <a:ext cx="206375" cy="20637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793992" y="5318760"/>
            <a:ext cx="46177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Inadimplência: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a cobrança apartada da conta de água parte de inadimplência estimada de 18,7% no ano 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Compartilhamento de dados de consumo de água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188720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097280"/>
            <a:ext cx="10835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 Poder Concedente entrega o Cadastro Inicial como condição da Ordem de Serviço (cl. 7.4.1) e deve assegurar as informações cadastrais e de consumo (cl. 13.1, XV). A Matriz de Riscos aloca ao Poder Concedente apenas as falhas do Cadastro Inicial (item 36). Não há nos autos convênio, termo de cooperação ou anuência da prestadora de água.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25980"/>
            <a:ext cx="10515600" cy="18039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979676"/>
            <a:ext cx="345314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61288" y="1979676"/>
            <a:ext cx="3270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Minuta de Contrato – cls. 7.4.1 e 13.1, XV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088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“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00300"/>
            <a:ext cx="9738360" cy="1145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7.4.1. O PODER CONCEDENTE providenciará, como condição para a emissão da Ordem de Serviço, a entrega à CONCESSIONÁRIA do </a:t>
            </a:r>
            <a:pPr algn="just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CADASTRO INICIAL</a:t>
            </a:r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, assim entendido o conjunto de dados cadastrais dos usuários dos serviços de abastecimento de água e/ou de esgotamento sanitário nos MUNICÍPIOS, respondendo pela sua obtenção junto à prestadora desses serviços, observado o Item 39 deste CONTRATO.</a:t>
            </a:r>
            <a:endParaRPr lang="en-US" sz="1250" dirty="0"/>
          </a:p>
          <a:p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XV. Obter dos MUNICÍPIOS, na forma dos respectivos CONTRATOS DE PROGRAMA, e assegurar à CONCESSIONÁRIA: (...) (ii) o fornecimento do CADASTRO INICIAL e das </a:t>
            </a:r>
            <a:pPr algn="just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informações cadastrais e de consumo</a:t>
            </a:r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de que trata o subitem 25.2.*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600704"/>
            <a:ext cx="9738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* O subitem 25.2 trata da lista de bens reversíveis, não de dados de consumo.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4387088"/>
            <a:ext cx="10515600" cy="889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4240784"/>
            <a:ext cx="5046391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61288" y="4240784"/>
            <a:ext cx="48635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Anexo 7 – Matriz de Riscos – item 36 (risco do Poder Concedente)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56996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“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661408"/>
            <a:ext cx="9738360" cy="50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Inconsistência ou incompletude material do </a:t>
            </a:r>
            <a:pPr algn="just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Cadastro Inicial</a:t>
            </a:r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entregue pelo Poder Concedente à Concessionária que afete materialmente a identificação dos usuários dos serviços de RDO e, consequentemente, a capacidade de </a:t>
            </a:r>
            <a:pPr algn="just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faturamento inicial</a:t>
            </a:r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da Concessionária.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Fornecimento contínuo dos dados de consumo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989320" cy="507492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3441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4416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Impactos da manutenção do item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29968"/>
            <a:ext cx="206375" cy="2063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61872" y="20116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Defasagem operacional: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o VA de cada economia depende do consumo mensal por ligação durante 30 anos; o Contrato não fixa periodicidade nem formato de entrega.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807208"/>
            <a:ext cx="206375" cy="20637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61872" y="2788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Risco residual da Concessionária: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a falha no fornecimento contínuo não tem item na Matriz e recai na regra residual do Edital (item 28.2.3), embora a obrigação seja do Poder Concedente.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584448"/>
            <a:ext cx="206375" cy="20637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61872" y="35661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Convênio de cobrança: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a Matriz (item 79) trata só da quebra do acordo por fato imputável à Concessionária; a recusa ou a extinção por fato da prestadora também fica com a Concessionária (Edital, 4.4.4).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361688"/>
            <a:ext cx="206375" cy="20637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61872" y="4343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Proteção de dados: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a transferência de dados pessoais pelo Poder Público a entidade privada exige previsão legal ou contrato, convênio ou instrumento congênere (art. 26, § 1º, IV, da Lei nº 13.709/2018).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138928"/>
            <a:ext cx="206375" cy="20637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261872" y="5120640"/>
            <a:ext cx="5029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Remissão incorreta: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a cl. 13.1, XV, (ii) remete ao subitem 25.2, que trata de bens reversíveis.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6812280" y="1143000"/>
            <a:ext cx="4846320" cy="50749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18" name="Shape 10"/>
          <p:cNvSpPr/>
          <p:nvPr/>
        </p:nvSpPr>
        <p:spPr>
          <a:xfrm>
            <a:off x="7068312" y="13441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1463040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680960" y="134416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Providências mitigadoras</a:t>
            </a:r>
            <a:endParaRPr lang="en-US" sz="1700" dirty="0"/>
          </a:p>
        </p:txBody>
      </p:sp>
      <p:sp>
        <p:nvSpPr>
          <p:cNvPr id="21" name="Text 12"/>
          <p:cNvSpPr txBox="1"/>
          <p:nvPr/>
        </p:nvSpPr>
        <p:spPr>
          <a:xfrm>
            <a:off x="7086600" y="2011680"/>
            <a:ext cx="42976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Sugerimos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contribuição na consulta pública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para:</a:t>
            </a:r>
            <a:endParaRPr lang="en-US" sz="14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2371344"/>
            <a:ext cx="222250" cy="22225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525512" y="2353056"/>
            <a:ext cx="3886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obrigar o Poder Concedente a fornecer,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mensalmente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o cadastro e o consumo por economia, com instrumento firmado com a prestadora de água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antes da Ordem de Serviço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;</a:t>
            </a:r>
            <a:endParaRPr lang="en-US" sz="14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4888" y="3499104"/>
            <a:ext cx="222250" cy="22225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7525512" y="3480816"/>
            <a:ext cx="3886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incluir na Matriz item que aloque ao Poder Concedente, com reequilíbrio, 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falha ou o atraso nesse fornecimento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e 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não celebração ou extinção do convênio de cobrança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por fato não imputável à Concessionária; e</a:t>
            </a:r>
            <a:endParaRPr lang="en-US" sz="14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4888" y="4840224"/>
            <a:ext cx="222250" cy="22225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525512" y="4821936"/>
            <a:ext cx="3886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corrigir a remissão da cl. 13.1, XV, (ii).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Inadimplência e mecanismos de mitigação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653796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3441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4416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Matriz de riscos e Arranjo Tarifário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29968"/>
            <a:ext cx="166688" cy="1666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61872" y="2011680"/>
            <a:ext cx="5577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 </a:t>
            </a:r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item 47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 da Matriz aloca à Concessionária a inadimplência dos usuários </a:t>
            </a:r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dentro da banda de 3,5%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 em relação à inadimplência estimada. Fora da banda, o risco é compartilhado pelo </a:t>
            </a:r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Fator Incremental de Inadimplência (FI)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, positivo ou negativo, aplicado no reajuste (Anexo 6).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56332"/>
            <a:ext cx="166688" cy="16668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61872" y="2638044"/>
            <a:ext cx="55778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 banda é relativa: no ano 1, vai de 18,05% a 19,35%; a partir do ano 10, de 8,01% a 8,59%.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962656"/>
            <a:ext cx="166688" cy="16668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61872" y="29443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 curva estimada (18,7% → 8,3%) foi calibrada no histórico de cobrança direta de outra concessionária (Plano de Negócio, nota 20).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429000"/>
            <a:ext cx="166688" cy="16668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61872" y="34107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RPU: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 o inadimplemento do Município não autoriza suspensão; o Contrato prevê notificação, mediação, protesto, retenção de quotas no CONSAÚDE e, após 180 dias, reequilíbrio (cl. 12.2).</a:t>
            </a:r>
            <a:endParaRPr lang="en-US" sz="10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315200" y="1143000"/>
          <a:ext cx="43434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6" name="Shape 8"/>
          <p:cNvSpPr/>
          <p:nvPr/>
        </p:nvSpPr>
        <p:spPr>
          <a:xfrm>
            <a:off x="548640" y="4636008"/>
            <a:ext cx="111099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7" name="Shape 9"/>
          <p:cNvSpPr/>
          <p:nvPr/>
        </p:nvSpPr>
        <p:spPr>
          <a:xfrm>
            <a:off x="804672" y="483717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4956048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417320" y="48371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Providências mitigadoras</a:t>
            </a:r>
            <a:endParaRPr lang="en-US" sz="17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" y="5522976"/>
            <a:ext cx="190500" cy="1905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261872" y="550468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Sugerimos contribuição para (i) prever instrumentos de cobrança do usuário inadimplente, como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inscrição em cadastros de proteção ao crédito e protesto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, sem necessidade de judicialização prévia; e (ii) prever a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revisão da curva de inadimplência estimada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se a modalidade de cobrança se alterar (celebração ou extinção do convênio de cofaturamento).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Tarifa social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0" cy="2136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179576"/>
            <a:ext cx="4177345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179576"/>
            <a:ext cx="39944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Anexo 7 – Matriz de Riscos – item 46 (compartilhado)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08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“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00200"/>
            <a:ext cx="4892040" cy="1752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Variação, para mais ou para menos, do número de usuários sujeitos ao pagamento de tarifa social em mais de 5 (cinco) pontos percentuais (p.p) para mais ou para menos em relação ao percentual projetado. O percentual projetado para usuários de tarifa social, conforme estabelecido no Plano de Negócio Referencial é de </a:t>
            </a:r>
            <a:pPr algn="just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42,12%</a:t>
            </a:r>
            <a:pPr algn="just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 (...).</a:t>
            </a:r>
            <a:endParaRPr lang="en-US" sz="1150" dirty="0"/>
          </a:p>
          <a:p>
            <a:pPr algn="just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Mitigação e tratamento: (...) Variação da proporção de economias sujeitas ao pagamento de tarifa social: Dentro do intervalo de x%* a y%* da totalidade de economias ativas: </a:t>
            </a:r>
            <a:pPr algn="just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não caberá pleito de reequilíbrio</a:t>
            </a:r>
            <a:pPr algn="just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 econômico-financeiro do contrato; (...)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873500"/>
            <a:ext cx="5669280" cy="10337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727196"/>
            <a:ext cx="2077151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" y="3727196"/>
            <a:ext cx="189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Apêndice 1 – Definições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563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“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147820"/>
            <a:ext cx="4892040" cy="649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TARIFA SOCIAL: modalidade tarifária reduzida, incidente sobre as ECONOMIAS residenciais que atendam aos </a:t>
            </a:r>
            <a:pPr algn="just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critérios de elegibilidade fixados no ANEXO 6</a:t>
            </a:r>
            <a:pPr algn="just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 – ARRANJO TARIFÁRIO, instituída no </a:t>
            </a:r>
            <a:pPr algn="just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subitem 7.2.5 do CONTRATO</a:t>
            </a:r>
            <a:pPr algn="just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1143000"/>
            <a:ext cx="5166360" cy="507492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748272" y="13441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7144" y="1463040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360920" y="13441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Impactos da manutenção do item</a:t>
            </a:r>
            <a:endParaRPr lang="en-US" sz="17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029968"/>
            <a:ext cx="206375" cy="20637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205472" y="20116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Critérios não definidos: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o Anexo 6 traz a categoria “Social” (Fator de Uso 0,50), mas não os critérios de elegibilidade a que remete o Apêndice 1.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852928"/>
            <a:ext cx="206375" cy="20637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205472" y="2834640"/>
            <a:ext cx="4206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Remissões a subitens inexistentes: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o Apêndice 1 e a cl. 17.8 remetem aos subitens 7.2.5 (tarifa social) e 7.2.6 (FI), e a cl. 9.3 ao subitem 7.2.2; o item 7.2 da minuta só tem o subitem 7.2.1.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3874008"/>
            <a:ext cx="206375" cy="20637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05472" y="3855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Categoria “vulnerável”: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os 42,12% do Plano somam economias “social” (13.310) e “vulnerável” (82.533); o Anexo 6 não prevê a categoria “vulnerável”.</a:t>
            </a:r>
            <a:endParaRPr lang="en-US" sz="13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4696968"/>
            <a:ext cx="206375" cy="20637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205472" y="46786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Banda incompleta: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a coluna de tratamento do item 46 mantém “x%* a y%*”; a descrição fixa os limites em 37,12% e 47,12%.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Tarifa social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42,12%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das economias projetadas na tarifa social, com Fator de Uso 0,50 (Plano de Negócio Referencial; 95.843 economias em 2027)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00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Banda do item 46: 37,12% a 47,12%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72237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4690872" y="143560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744" y="155448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0" y="1435608"/>
            <a:ext cx="6172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Providências mitigadoras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2103120"/>
            <a:ext cx="66751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Sugerimos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contribuição na consulta pública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para: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493264"/>
            <a:ext cx="254000" cy="2540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48072" y="247497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definir no Anexo 6 os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critérios objetivos de elegibilidade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à tarifa social, 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fonte do enquadramento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(cadastro da prestadora de água, CadÚnico ou outra) e o responsável por sua verificação e atualização;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3544824"/>
            <a:ext cx="254000" cy="2540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48072" y="3526536"/>
            <a:ext cx="6263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esclarecer se a categoria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“vulnerável”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do Plano de Negócio integra a tarifa social e com qual Fator de Uso; e</a:t>
            </a:r>
            <a:endParaRPr lang="en-US" sz="1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4352544"/>
            <a:ext cx="254000" cy="2540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48072" y="4334256"/>
            <a:ext cx="6263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corrigir as remissões aos subitens 7.2.2, 7.2.5 e 7.2.6 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preencher os limites da banda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no item 46.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Coeficiente de Geração (CG)</a:t>
            </a:r>
            <a:endParaRPr lang="en-US" sz="2600" dirty="0"/>
          </a:p>
        </p:txBody>
      </p:sp>
      <p:sp>
        <p:nvSpPr>
          <p:cNvPr id="3" name="pill"/>
          <p:cNvSpPr/>
          <p:nvPr/>
        </p:nvSpPr>
        <p:spPr>
          <a:xfrm>
            <a:off x="548640" y="1143000"/>
            <a:ext cx="566928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1872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8992" y="1143000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TB = CG × PU   ·   R$ 3,1452/m³ = 3,3570 kg/m³ × R$ 0,9369/kg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669280" cy="19100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56816"/>
            <a:ext cx="2656515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86968" y="1956816"/>
            <a:ext cx="24736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Minuta de Contrato – cl. 19.2.4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860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“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377440"/>
            <a:ext cx="4892040" cy="152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19.2.4. Fica acordado que será feita a primeira revisão do COEFICIENTE DE GERAÇÃO (CG), definido e disciplinado no ANEXO 6 – ARRANJO TARIFÁRIO, excepcionalmente, </a:t>
            </a:r>
            <a:pPr algn="just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ao final do 2º (segundo) ano</a:t>
            </a:r>
            <a:pPr algn="just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 de vigência da CONCESSÃO, com base nos estudos gravimétricos realizados na forma do CADERNO DE ENCARGOS – ANEXO 5 e nos dados de consumo de água fornecidos pela prestadora dos serviços de abastecimento, sendo que as </a:t>
            </a:r>
            <a:pPr algn="just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revisões subsequentes serão efetuadas junto com as revisões ordinárias</a:t>
            </a:r>
            <a:pPr algn="just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, incluindo aquela a ser feita no 5º (quinto) ano de vigência do CONTRATO.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4424680"/>
            <a:ext cx="5669280" cy="8737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4278376"/>
            <a:ext cx="338072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86968" y="4278376"/>
            <a:ext cx="319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Anexo 6 – fórmula do reajuste anual da TB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4607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“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4699000"/>
            <a:ext cx="4892040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Tarifa Reajustada (RDO) = [(TB × Ireaj × FA) − CRA] × [1 + FI] × </a:t>
            </a:r>
            <a:pPr algn="just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[CG¹ / CG]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92240" y="1143000"/>
            <a:ext cx="5166360" cy="507492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6748272" y="13441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1463040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360920" y="13441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Impactos da manutenção do item</a:t>
            </a:r>
            <a:endParaRPr lang="en-US" sz="17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029968"/>
            <a:ext cx="206375" cy="20637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205472" y="2011680"/>
            <a:ext cx="4206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Periodicidade divergente: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o Contrato prevê revisão do CG no fim do ano 2 e depois só nas revisões ordinárias (cl. 19.2.4); o Anexo 6 inclui o fator CG¹/CG na fórmula do reajuste anual.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3051048"/>
            <a:ext cx="206375" cy="20637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05472" y="30327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Variação absorvida pela Concessionária: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entre as revisões, a variação do CG é risco privado (item 52); na revisão, o ajuste só ocorre acima de ±3% (item 53).</a:t>
            </a:r>
            <a:endParaRPr lang="en-US" sz="13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3874008"/>
            <a:ext cx="206375" cy="20637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05472" y="3855720"/>
            <a:ext cx="4206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Valor inicial sem memória de cálculo: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com os dados publicados (RDO do ano 1 ÷ volume de água faturado do ano 1), obtém-se cerca de 4,82 kg/m³, e não 3,3570 kg/m³; a base de volume “para fins de cobrança” não foi publicada.</a:t>
            </a:r>
            <a:endParaRPr lang="en-US" sz="13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4895088"/>
            <a:ext cx="206375" cy="20637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05472" y="4876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Origem dos dados: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o CG¹ pode usar o sistema da Concessionária “ou dados fornecidos pelas prestadoras de serviço de água” (Anexo 6).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Coeficiente de Geração (CG)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3,3570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kg/m³ – CG adotado no Anexo 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37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4,82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kg/m³ – razão obtida com os dados publicados (127.906 t ÷ 26,55 milhões de m³, ano 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72237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690872" y="143560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744" y="1554480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303520" y="1435608"/>
            <a:ext cx="6172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Providências mitigadoras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2103120"/>
            <a:ext cx="66751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Sugerimos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contribuição na consulta pública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para: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493264"/>
            <a:ext cx="254000" cy="2540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48072" y="2474976"/>
            <a:ext cx="6263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publicar 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memória de cálculo do CG inicial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e a base de volume faturado “para fins de cobrança” (mínimo de 10 m³ e economias rurais);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3300984"/>
            <a:ext cx="254000" cy="254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48072" y="3282696"/>
            <a:ext cx="6263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harmonizar a periodicidade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de revisão do CG entre a cl. 19.2.4 e a fórmula de reajuste do Anexo 6; e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4108704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48072" y="4090416"/>
            <a:ext cx="6263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definir 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fonte, o formato e a periodicidade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dos dados de consumo usados no cálculo do CG¹.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Metas de desvio e rota tecnológica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188720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097280"/>
            <a:ext cx="55321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tecnologia é livre: a Concessionária propõe o modelo tecnológico (Caderno, 3.3), com unidade de tratamento em até 48 meses da Ordem de Serviço e demonstração de aderência da rota e das metas ao PIGIRS vigente (cl. 38.4, iv).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51660"/>
          <a:ext cx="5760720" cy="43662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143000"/>
            <a:ext cx="5074920" cy="507492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6839712" y="13441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1463040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134416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Impactos da manutenção do item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029968"/>
            <a:ext cx="198438" cy="1984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296912" y="2011680"/>
            <a:ext cx="4114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Rota adicional necessária: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reciclagem e tratamento biológico cobrem até 31%; de 12,1 a 20,0 p.p. dependem de outra rota. No modelo de referência (não vinculante), CDR para coprocessamento em cimenteira localizada em Cajati.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2974848"/>
            <a:ext cx="198438" cy="19843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296912" y="2956560"/>
            <a:ext cx="4114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Aderência ao PIGIRS: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a minuta do PIGIRS avalia quatro tecnologias e não trata de CDR ou coprocessamento; o Contrato exige aderência ao PIGIRS vigente.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3729228"/>
            <a:ext cx="198438" cy="19843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296912" y="3710940"/>
            <a:ext cx="4114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Riscos sem reequilíbrio: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atualidade da tecnologia (item 29), composição gravimétrica que afete as metas (item 30) e receitas acessórias (item 51) são da Concessionária.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8" y="4483608"/>
            <a:ext cx="198438" cy="19843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296912" y="4465320"/>
            <a:ext cx="4114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Base temporal: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a tabela de metas mistura ano de contrato (“Ano 5”) e ano do calendário (2036, 2040), sem valores intermediários.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288" y="5237988"/>
            <a:ext cx="198438" cy="198438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296912" y="5219700"/>
            <a:ext cx="411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Balanço de massa: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o Relatório de Engenharia citado no Plano de Negócio não integra o pacote.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Metas de desvio e rota tecnológica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792224"/>
            <a:ext cx="10515600" cy="3822192"/>
          </a:xfrm>
          <a:prstGeom prst="roundRect">
            <a:avLst>
              <a:gd name="adj" fmla="val 2871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" y="199339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112264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993392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Providências mitigadoras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660904"/>
            <a:ext cx="9966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Sugerimos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contribuição na consulta pública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para: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051048"/>
            <a:ext cx="254000" cy="254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36192" y="3032760"/>
            <a:ext cx="95554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publicar 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Relatório de Engenharia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com o balanço de massa da rota de referência;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642360"/>
            <a:ext cx="254000" cy="254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36192" y="3624072"/>
            <a:ext cx="95554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expressar as metas de desvio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por ano contratual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com valores para os anos intermediários;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233672"/>
            <a:ext cx="254000" cy="2540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536192" y="4215384"/>
            <a:ext cx="9555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esclarecer se rotas de valorização não avaliadas no PIGIRS, como 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coprocessamento de CDR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atendem à exigência de aderência da cl. 38.4, iv; e</a:t>
            </a:r>
            <a:endParaRPr lang="en-US" sz="16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5068824"/>
            <a:ext cx="254000" cy="2540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536192" y="5050536"/>
            <a:ext cx="95554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juntar 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Nota Técnica Conjunta 001/2024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que define a massa considerada recuperada para fins das metas.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Aspectos tributários: Reforma tributária</a:t>
            </a:r>
            <a:endParaRPr lang="en-US" sz="2600" dirty="0"/>
          </a:p>
        </p:txBody>
      </p:sp>
      <p:sp>
        <p:nvSpPr>
          <p:cNvPr id="3" name="pill"/>
          <p:cNvSpPr/>
          <p:nvPr/>
        </p:nvSpPr>
        <p:spPr>
          <a:xfrm>
            <a:off x="548640" y="1143000"/>
            <a:ext cx="566928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1872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8992" y="1143000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Reforma tributária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2011680"/>
            <a:ext cx="5440680" cy="218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1865376"/>
            <a:ext cx="2511674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5568" y="1865376"/>
            <a:ext cx="23287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Minuta de Contrato – cl. 17.9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194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“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86000"/>
            <a:ext cx="4663440" cy="180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17.9 Constitui risco alocado ao PODER CONCEDENTE, ensejando a recomposição do equilíbrio econômico-financeiro em favor da parte impactada, para mais ou para menos, (...) a criação, extinção, alteração, regulamentação ou implementação de tributos (...) ocorrida após a data de apresentação da PROPOSTA, (...) inclusive aquelas decorrentes da efetiva implementação da Emenda Constitucional nº 132, de 20 de dezembro de 2023, e da Lei Complementar nº 214, de 16 de janeiro de 2025, </a:t>
            </a:r>
            <a:pPr algn="just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ainda não conhecidas quando da apresentação da PROPOSTA</a:t>
            </a:r>
            <a:pPr algn="just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 (...). A recomposição somente será devida quando a variação da carga tributária efetiva (...) for </a:t>
            </a:r>
            <a:pPr algn="just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superior a 0,5 (cinco décimos) de ponto percentual da receita bruta anual</a:t>
            </a:r>
            <a:pPr algn="just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 da CONCESSÃO.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" y="4424680"/>
            <a:ext cx="5440680" cy="1104900"/>
          </a:xfrm>
          <a:prstGeom prst="roundRect">
            <a:avLst>
              <a:gd name="adj" fmla="val 66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41832" y="4543552"/>
            <a:ext cx="5111496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Premissa da proposta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O Edital manda considerar a legislação tributária “existente até a data de apresentação da PROPOSTA” (item 14.8, b); o Plano de Negócio usa PIS, COFINS e ISS (item 4.5).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92240" y="1143000"/>
            <a:ext cx="5166360" cy="507492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6748272" y="13441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146304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60920" y="13441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Impactos da manutenção do item</a:t>
            </a:r>
            <a:endParaRPr lang="en-US" sz="17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029968"/>
            <a:ext cx="206375" cy="2063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05472" y="20116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Reequilíbrio expresso: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a cl. 17.9 aloca ao Poder Concedente os efeitos da EC nº 132/2023 e da LC nº 214/2025, nos dois sentidos, com apuração líquida (cl. 17.9.1).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852928"/>
            <a:ext cx="206375" cy="20637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205472" y="2834640"/>
            <a:ext cx="4206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Efeitos “ainda não conhecidos”: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a LC nº 214/2025 já disciplina a transição para CBS e IBS; o Poder Concedente pode sustentar que efeitos previstos em lei na data da proposta não ensejam recomposição.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3874008"/>
            <a:ext cx="206375" cy="20637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05472" y="3855720"/>
            <a:ext cx="42062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Franquia de 0,5 p.p.: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variações de carga até 0,5 p.p. da receita bruta anual ficam sem recomposição.</a:t>
            </a:r>
            <a:endParaRPr 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4498848"/>
            <a:ext cx="206375" cy="20637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205472" y="4480560"/>
            <a:ext cx="4206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Comparabilidade das propostas: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sem premissa tributária uniforme, propostas que projetem a transição e propostas que não a projetem deixam de ser comparáveis no critério de menor tarifa.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Aspectos tributários: Reforma tributária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2252472"/>
            <a:ext cx="10515600" cy="2901696"/>
          </a:xfrm>
          <a:prstGeom prst="roundRect">
            <a:avLst>
              <a:gd name="adj" fmla="val 378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" y="245364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5725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2453640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Providências mitigadoras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3121152"/>
            <a:ext cx="9966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Sugerimos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contribuição na consulta pública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para: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511296"/>
            <a:ext cx="254000" cy="254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36192" y="3493008"/>
            <a:ext cx="9555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fixar como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premissa obrigatória da proposta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 legislação tributária vigente na data de sua apresentação, sem projeção da transição; e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64736"/>
            <a:ext cx="254000" cy="254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36192" y="4346448"/>
            <a:ext cx="9555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explicitar que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todos os efeitos da EC nº 132/2023 e da LC nº 214/2025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sobre custos e receitas, inclusive os já previstos em lei na data da proposta, ensejam recomposição na forma da cl. 17.9.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Pontos de atenção – Matriz de riscos</a:t>
            </a:r>
            <a:endParaRPr lang="en-US" sz="2600" dirty="0"/>
          </a:p>
        </p:txBody>
      </p:sp>
      <p:sp>
        <p:nvSpPr>
          <p:cNvPr id="3" name="pill"/>
          <p:cNvSpPr/>
          <p:nvPr/>
        </p:nvSpPr>
        <p:spPr>
          <a:xfrm>
            <a:off x="548640" y="1143000"/>
            <a:ext cx="566928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1872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8992" y="1143000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Obtenção de licenças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1828800"/>
            <a:ext cx="5440680" cy="1135380"/>
          </a:xfrm>
          <a:prstGeom prst="roundRect">
            <a:avLst>
              <a:gd name="adj" fmla="val 644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41832" y="1947672"/>
            <a:ext cx="5111496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Item 17 – Concessionária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Atraso na obtenção de licenças, permissões e autorizações de responsabilidade da concessionária, em razão de fatos ou atos a ela imputáveis. Sem reequilíbrio; execução da garantia; sanções.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3165348"/>
            <a:ext cx="5440680" cy="1318260"/>
          </a:xfrm>
          <a:prstGeom prst="roundRect">
            <a:avLst>
              <a:gd name="adj" fmla="val 554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1832" y="3284220"/>
            <a:ext cx="5111496" cy="113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Item 18 – Poder Concedente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Atraso na obtenção de licenças, permissões e autorizações cuja emissão é do Poder Concedente e requeridas em tempo hábil pela Concessionária,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desde que cumpridas todas as exigências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do órgão competente, em razão de fatos ou atos não imputáveis à Concessionária.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4684776"/>
            <a:ext cx="5440680" cy="1135380"/>
          </a:xfrm>
          <a:prstGeom prst="roundRect">
            <a:avLst>
              <a:gd name="adj" fmla="val 644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1832" y="4803648"/>
            <a:ext cx="5111496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Item 66 – Poder Concedente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Demora por parte dos órgãos públicos competentes em conceder as licenças ambientais requeridas em tempo hábil pela concessionária,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desde que cumpridas todas as exigências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. Reequilíbrio; repactuação de metas e prazos.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92240" y="1143000"/>
            <a:ext cx="5166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6748272" y="13441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146304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60920" y="13441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Impactos da manutenção do item</a:t>
            </a:r>
            <a:endParaRPr lang="en-US" sz="1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029968"/>
            <a:ext cx="190500" cy="1905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05472" y="20116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Condição aberta: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“desde que cumpridas todas as exigências” pode ser lida como afastando o reequilíbrio sempre que o órgão licenciador pedir complementações, ainda que o pedido tenha sido completo e tempestivo.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907792"/>
            <a:ext cx="190500" cy="1905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05472" y="288950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Marcos contratuais: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o aterro licenciado é condição da Ordem de Serviço (cl. 5.4) e a unidade de tratamento tem prazo de 48 meses; atrasos de licenciamento afetam marcos sujeitos a sanção.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3785616"/>
            <a:ext cx="190500" cy="1905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05472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Financiabilidade: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a indefinição sobre o risco de licenciamento aumenta a percepção de risco de financiadores.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492240" y="4617720"/>
            <a:ext cx="5166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3" name="Shape 16"/>
          <p:cNvSpPr/>
          <p:nvPr/>
        </p:nvSpPr>
        <p:spPr>
          <a:xfrm>
            <a:off x="6748272" y="481888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144" y="4937760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360920" y="481888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Providências mitigadoras</a:t>
            </a:r>
            <a:endParaRPr lang="en-US" sz="17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5504688"/>
            <a:ext cx="174625" cy="17462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205472" y="5486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Sugerimos contribuição para que os itens 18 e 66 esclareçam que </a:t>
            </a:r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pedidos de complementação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do órgão licenciador, atendidos no prazo, não afastam a alocação ao Poder Concedente.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Pontos de atenção – Matriz de riscos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188720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097280"/>
            <a:ext cx="1083564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Itens da Matriz de Riscos com parâmetros que impactam a modelagem da proposta: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13560"/>
            <a:ext cx="10515600" cy="17048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667256"/>
            <a:ext cx="2077151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61288" y="1667256"/>
            <a:ext cx="189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Item 23 – Compartilhado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996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“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87880"/>
            <a:ext cx="9738360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Variação superior a 15% (quinze por cento), para mais ou para menos, da demanda projetada dos resíduos sólidos domiciliares gerados por ano, em relação à quantidade estimada por tonelada/ano no ANEXO 5.</a:t>
            </a:r>
            <a:endParaRPr lang="en-US" sz="1400" dirty="0"/>
          </a:p>
          <a:p>
            <a:pPr algn="just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Dentro do intervalo de 85%* a 115%*: </a:t>
            </a:r>
            <a:pPr algn="just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não caberá pleito de reequilíbrio</a:t>
            </a:r>
            <a:pPr algn="just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econômico-financeiro do contrato. Inferior a 85%* ou superior a 115%*: caberá pleito de reequilíbrio econômico-financeiro do contrato.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189224"/>
            <a:ext cx="9738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 cl. 17.5 do Contrato apura a variação na revisão ordinária e limita a recomposição à parcela que exceder 15%.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4021328"/>
            <a:ext cx="10515600" cy="11480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875024"/>
            <a:ext cx="2149572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61288" y="3875024"/>
            <a:ext cx="1966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Item 30 – Concessionária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20420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“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295648"/>
            <a:ext cx="9738360" cy="76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Variação na composição gravimétrica dos resíduos ao longo da Concessão que impacte a capacidade de atingimento das metas de recuperação/ tratamento de resíduos secos e orgânicos. Mitigação: </a:t>
            </a:r>
            <a:pPr algn="just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Regularização pela Concessionária, sem reequilíbrio econômico-financeiro do contrato.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Pontos de atenção – Edital e anexos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1099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566928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2F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2F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de contribuição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2F3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Edital, 15.3.1, “c”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Qualificação técnica pela “massa anual estimada” sem indicar o ano nem o fluxo (RDO ou RDO + RPU): para o aterro, de 63.953 t/ano a 84.894 t/ano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Indicar o ano e o fluxo de referência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Edital, 6.2, “e”, e 15.3.1, “a”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Atestado de consórcio anterior: proporção da participação “no CONSÓRCIO aqui licitante” × “naquele consórcio” (art. 67, § 10, da Lei nº 14.133/2021)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Uniformizar pela participação no consórcio que executou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Edital, 24.3 e 24.4; Contrato, 10.2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Vigência da garantia de execução: fiança contada da assinatura; seguro-garantia contado da eficácia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Uniformizar o marco inicial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Contrato, 9.3, 13.1, XV, e 17.8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Remissões a subitens inexistentes ou sem relação com o tema (7.2.2, 7.2.5, 7.2.6 e 25.2)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Corrigir as remissões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Caderno de Encargos, 3.1, Tabela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Eldorado consta do texto (galpão de triagem a reformar e ampliar), mas não da Tabela 1 de áreas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Incluir Eldorado na Tabela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"/>
          <p:cNvSpPr/>
          <p:nvPr/>
        </p:nvSpPr>
        <p:spPr>
          <a:xfrm>
            <a:off x="8595360" y="548640"/>
            <a:ext cx="4206240" cy="4206240"/>
          </a:xfrm>
          <a:prstGeom prst="ellipse">
            <a:avLst/>
          </a:prstGeom>
          <a:ln w="15875">
            <a:solidFill>
              <a:schemeClr val="accent3"/>
            </a:solidFill>
            <a:prstDash val="solid"/>
          </a:ln>
        </p:spPr>
      </p:sp>
      <p:sp>
        <p:nvSpPr>
          <p:cNvPr id="3" name="motivo"/>
          <p:cNvSpPr/>
          <p:nvPr/>
        </p:nvSpPr>
        <p:spPr>
          <a:xfrm>
            <a:off x="9875520" y="3291840"/>
            <a:ext cx="3291840" cy="3291840"/>
          </a:xfrm>
          <a:prstGeom prst="ellipse">
            <a:avLst/>
          </a:prstGeom>
          <a:ln w="12700">
            <a:solidFill>
              <a:schemeClr val="accent3"/>
            </a:solidFill>
            <a:prstDash val="solid"/>
          </a:ln>
        </p:spPr>
      </p:sp>
      <p:sp>
        <p:nvSpPr>
          <p:cNvPr id="4" name="motivo"/>
          <p:cNvSpPr/>
          <p:nvPr/>
        </p:nvSpPr>
        <p:spPr>
          <a:xfrm>
            <a:off x="10607040" y="320040"/>
            <a:ext cx="1828800" cy="1828800"/>
          </a:xfrm>
          <a:prstGeom prst="ellipse">
            <a:avLst/>
          </a:prstGeom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914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Próximos passos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1214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Até 24/10/2026: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contribuições à consulta pública.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004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30815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Publicado o edital: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pedidos de esclarecimento e impugnações até 3 dias úteis antes da entrega dos envelopes (Edital, 5.1 e 5.8).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4164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Documentos ainda não juntados: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Convênio de Regulação (Apêndice 6), Manual da B3 (Apêndice 5), versão final do PIGIRS, memória de cálculo do CG, Relatório de Engenharia e Nota Técnica Conjunta 001/2024.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ntos de atencao">
  <a:themeElements>
    <a:clrScheme name="Pontos de atencao">
      <a:dk1>
        <a:srgbClr val="1F2328"/>
      </a:dk1>
      <a:lt1>
        <a:srgbClr val="FFFFFF"/>
      </a:lt1>
      <a:dk2>
        <a:srgbClr val="2E3236"/>
      </a:dk2>
      <a:lt2>
        <a:srgbClr val="F1F2F3"/>
      </a:lt2>
      <a:accent1>
        <a:srgbClr val="8C2F39"/>
      </a:accent1>
      <a:accent2>
        <a:srgbClr val="5E1D25"/>
      </a:accent2>
      <a:accent3>
        <a:srgbClr val="D9B8BC"/>
      </a:accent3>
      <a:accent4>
        <a:srgbClr val="6B7076"/>
      </a:accent4>
      <a:accent5>
        <a:srgbClr val="D6D9DC"/>
      </a:accent5>
      <a:accent6>
        <a:srgbClr val="A8646C"/>
      </a:accent6>
      <a:hlink>
        <a:srgbClr val="8C2F39"/>
      </a:hlink>
      <a:folHlink>
        <a:srgbClr val="5E1D25"/>
      </a:folHlink>
    </a:clrScheme>
    <a:fontScheme name="Pontos de atenca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CONSAÚDE — Pontos de atenção</dc:title>
  <dc:subject>Concessão de RSU — minuta em consulta pública</dc:subject>
  <dc:creator>PptxGenJS</dc:creator>
  <cp:lastModifiedBy>PptxGenJS</cp:lastModifiedBy>
  <cp:revision>1</cp:revision>
  <dcterms:created xsi:type="dcterms:W3CDTF">2026-10-08T21:12:13Z</dcterms:created>
  <dcterms:modified xsi:type="dcterms:W3CDTF">2026-10-08T21:12:13Z</dcterms:modified>
</cp:coreProperties>
</file>